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313" r:id="rId6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314" r:id="rId65"/>
    <p:sldId id="315" r:id="rId66"/>
    <p:sldId id="297" r:id="rId48"/>
    <p:sldId id="298" r:id="rId49"/>
    <p:sldId id="299" r:id="rId50"/>
    <p:sldId id="300" r:id="rId51"/>
    <p:sldId id="301" r:id="rId52"/>
    <p:sldId id="316" r:id="rId67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Nội dung trình bày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Cơ sở lựa chọn bài toán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Bài toán dự báo khí quyển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Mục tiêu nghiên cứu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Các thành phần đã xây dựng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Quy trình xử lý và dự báo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Nguồn dữ liệu ERA5 / WeatherBench2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Các biến khí tượng đầu vào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Chia dữ liệu theo thời gian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Regridding và kiểm soát chất lượng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Chuẩn hóa state và tendency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Giao thức đánh giá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Biểu diễn bài toán bằng neural operator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Đặc điểm của lưới khí quyển trên mặt cầu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Biến đổi điều hòa cầu (SHT)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Cấu trúc khối SFNO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Tendency prediction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Loss function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Trọng số theo biến và diện tích ô lưới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Môi trường huấn luyện và khả năng tái lập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25: Kiến trúc Stage 1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26: Kích thước tensor trong Stage 1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27: Cấu hình huấn luyện Stage 1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28: Chiến lược tối ưu Stage 1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29: Stage 1 — training và validation loss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30: Kết quả tổng hợp Stage 1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31: RMSE vật lý — Stage 1 và Stage 2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32: Stage 1 — hội tụ ở 10 epoch cuối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33: Nút thắt phổ tần số cao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34: Giả thuyết về giới hạn của Stage 1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35: 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36: Nguyên lý thiết kế Stage 2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37: Static và analytic forcing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38: Kiến trúc spherical corrector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39: Luồng dữ liệu đầy đủ của Stage 2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40: Transfer learning và khởi tạo corrector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41: Fine-tuning theo hai giai đoạn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42: Cấu hình huấn luyện Stage 2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43: Stage 2 — training và validation loss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44: Độ ổn định gradient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45: 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46: So sánh kết quả tổng hợp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47: RMSE trên 9 biến ưu tiên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48: Phân bố cải thiện trên 71 kênh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49: Cải thiện theo nhóm biến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50: Sai số theo biến và mức áp suất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51: ACC và variance ratio không gian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52: Sai lệch trung bình theo biến khí tượng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53: Các giả thuyết giải thích mức giảm sai số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54: Giới hạn của kết quả thực nghiệm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55: Các ablation study cần bổ sung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56: Hướng nghiên cứu về loss function và lấy mẫu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57: Hướng nghiên cứu về kiến trúc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58: Bài học rút ra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59: Tài liệu và dữ liệu phục vụ tái lập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60: Kết luận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61: </a:t>
            </a:r>
          </a:p>
          <a:p>
            <a:r>
              <a:t>Nguồn phương pháp: matching stage source trong submission. Nguồn kết quả: results/stage_smoke_tests (6 giờ, 12 samples/stage); train/validation: reports/evidence/stage1_history.csv và stage2_history.csv. Hai smoke-test có persistence khác nhau do lịch sử đầu vào; chưa chứng minh khởi tạo ghép cặp. Không dùng các số liệu này để kết luận extreme-event skill hoặc hiệu quả 7 ngày. Đồ thị phổ ở phần spectral bottleneck là minh họa, không phải spectrum đo từ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3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5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4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4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0"/>
            <a:ext cx="109728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75488"/>
            <a:ext cx="939619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603504"/>
            <a:ext cx="77724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rial"/>
              </a:rPr>
              <a:t>TRƯỜNG ĐẠI HỌC SƯ PHẠM KỸ THUẬT TP. HỒ CHÍ MINH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1069848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1976D2"/>
                </a:solidFill>
                <a:latin typeface="Arial"/>
              </a:rPr>
              <a:t>NEURAL ATMOSPHERE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04288"/>
            <a:ext cx="1024128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0384F"/>
                </a:solidFill>
                <a:latin typeface="Arial"/>
              </a:rPr>
              <a:t>Dự báo khí quyển toàn cầu bằng Spherical Fourier Neural Operator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08960"/>
            <a:ext cx="4114800" cy="512064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C8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73552"/>
            <a:ext cx="3749039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1976D2"/>
                </a:solidFill>
                <a:latin typeface="Arial"/>
              </a:rPr>
              <a:t>STAGE 1 · SFNO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108960"/>
            <a:ext cx="5029200" cy="512064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93792" y="3273552"/>
            <a:ext cx="46634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2E8B57"/>
                </a:solidFill>
                <a:latin typeface="Arial"/>
              </a:rPr>
              <a:t>STAGE 2 · SPHERICAL RESIDUAL CORRECTOR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074920"/>
            <a:ext cx="77724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0384F"/>
                </a:solidFill>
                <a:latin typeface="Arial"/>
              </a:rPr>
              <a:t>Sinh viên: Lương Nguyễn Thành Hưng · MSSV: 23110111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5532120"/>
            <a:ext cx="36576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B6773"/>
                </a:solidFill>
                <a:latin typeface="Arial"/>
              </a:rPr>
              <a:t>TP. Hồ Chí Minh,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263640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F95DE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Nội dung trình bày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15568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234440"/>
            <a:ext cx="658368" cy="493776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89888"/>
            <a:ext cx="43891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261872"/>
            <a:ext cx="33375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Bài toán &amp;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280160"/>
            <a:ext cx="58521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773"/>
                </a:solidFill>
                <a:latin typeface="Arial"/>
              </a:rPr>
              <a:t>ERA5 · 71 kênh · quy trình đánh giá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75688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194560"/>
            <a:ext cx="658368" cy="493776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350008"/>
            <a:ext cx="43891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221992"/>
            <a:ext cx="33375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Cơ sở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40280"/>
            <a:ext cx="58521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773"/>
                </a:solidFill>
                <a:latin typeface="Arial"/>
              </a:rPr>
              <a:t>Neural operator · SHT · loss function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35808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154680"/>
            <a:ext cx="658368" cy="493776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310128"/>
            <a:ext cx="43891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182112"/>
            <a:ext cx="33375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Stage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200400"/>
            <a:ext cx="58521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773"/>
                </a:solidFill>
                <a:latin typeface="Arial"/>
              </a:rPr>
              <a:t>SFNO cơ sở · huấn luyện · giới hạn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95928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114800"/>
            <a:ext cx="658368" cy="493776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270248"/>
            <a:ext cx="43891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142232"/>
            <a:ext cx="33375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Stage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60520"/>
            <a:ext cx="58521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773"/>
                </a:solidFill>
                <a:latin typeface="Arial"/>
              </a:rPr>
              <a:t>Forcing · corrector · tinh chỉnh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956048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074920"/>
            <a:ext cx="658368" cy="493776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30368"/>
            <a:ext cx="43891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102352"/>
            <a:ext cx="33375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Đánh giá &amp; thảo luận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120640"/>
            <a:ext cx="58521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773"/>
                </a:solidFill>
                <a:latin typeface="Arial"/>
              </a:rPr>
              <a:t>71 kênh · kết quả · hướng nghiên cứu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Cơ sở lựa chọn 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21207"/>
            <a:ext cx="98755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773"/>
                </a:solidFill>
                <a:latin typeface="Arial"/>
              </a:rPr>
              <a:t>Dự báo khí quyển là bài toán động lực học đa thang trên mặt cầu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440680" cy="431596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5448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rial"/>
              </a:rPr>
              <a:t>Mục tiêu ứng dụng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03704"/>
            <a:ext cx="4663440" cy="3310127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Dự báo nhanh trên lưới toàn cầu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Ước lượng bước tiến thời gian từ dữ liệu ERA5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Học trực tiếp ánh xạ giữa các trường khí quyển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Chạy inference song song trên GPU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325880"/>
            <a:ext cx="5440680" cy="431596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55448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D94C4C"/>
                </a:solidFill>
                <a:latin typeface="Arial"/>
              </a:rPr>
              <a:t>Đặc điểm của dữ liệu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203704"/>
            <a:ext cx="4663440" cy="3310127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71 biến với thang đo rất khác nhau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Động lực đa thang từ hành tinh đến cục bộ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Các cực trị xuất hiện ít trong dữ liệu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Lưới lat–lon biến dạng tại hai cực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Bài toán dự báo khí quyển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eq_ope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691" y="1575511"/>
            <a:ext cx="3844137" cy="67116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283464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834640"/>
            <a:ext cx="3383280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90088"/>
            <a:ext cx="30175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Đầu vào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30175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ERA5 x(t), hoặc [x(t−6h), x(t)]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83464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2834640"/>
            <a:ext cx="3383280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990088"/>
            <a:ext cx="30175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Đầu 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611880"/>
            <a:ext cx="30175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71 trường dự báo tại t+6h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83464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2834640"/>
            <a:ext cx="3383280" cy="6400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990088"/>
            <a:ext cx="30175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28A2B"/>
                </a:solidFill>
                <a:latin typeface="Arial"/>
              </a:rPr>
              <a:t>Miền xác định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611880"/>
            <a:ext cx="30175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Mặt cầu S² và 71 biến khí tượng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63440"/>
            <a:ext cx="1097280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28616"/>
            <a:ext cx="1554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976D2"/>
                </a:solidFill>
                <a:latin typeface="Arial"/>
              </a:rPr>
              <a:t>Mục tiêu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864608"/>
            <a:ext cx="87325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Giảm sai số dự báo 6 giờ; theo dõi cấu trúc không gian và độ ổn định khi dự báo lặp.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Mục tiêu nghiên cứu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97280"/>
            <a:ext cx="5303520" cy="1225296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32588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27048"/>
            <a:ext cx="49377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1371600"/>
            <a:ext cx="388620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Huấn luyện mô hình cơ sở SFNO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5303520" cy="1225296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19088" y="132588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27048"/>
            <a:ext cx="49377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371600"/>
            <a:ext cx="388620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Chuẩn hóa tendency và trọng số diện tích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670048"/>
            <a:ext cx="5303520" cy="1225296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8" y="2898648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099815"/>
            <a:ext cx="49377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2944368"/>
            <a:ext cx="388620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Bổ sung history và forcing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70048"/>
            <a:ext cx="5303520" cy="1225296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19088" y="2898648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099815"/>
            <a:ext cx="49377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944368"/>
            <a:ext cx="388620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Residual learning bằng corrector trên mặt cầu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242816"/>
            <a:ext cx="5303520" cy="1225296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5528" y="4471416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672583"/>
            <a:ext cx="49377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19" y="4517136"/>
            <a:ext cx="388620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Đánh giá trọng số được chọn từ validation 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42816"/>
            <a:ext cx="5303520" cy="1225296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19088" y="4471416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672583"/>
            <a:ext cx="49377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517136"/>
            <a:ext cx="388620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Phân tích giới hạn tần số cao và cực trị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Các thành phần đã xây dựng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43000"/>
            <a:ext cx="3456432" cy="17830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43000"/>
            <a:ext cx="3456432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9844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Xử lý dữ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20240"/>
            <a:ext cx="3090672" cy="8961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ERA5 0,5° · 71 kênh · chia theo thời gian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143000"/>
            <a:ext cx="3456432" cy="17830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143000"/>
            <a:ext cx="3456432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29844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Mô hình cơ sở SFNO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920240"/>
            <a:ext cx="3090672" cy="8961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E192/L6 · dự báo standardized tendency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143000"/>
            <a:ext cx="3456432" cy="17830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143000"/>
            <a:ext cx="3456432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129844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1920240"/>
            <a:ext cx="3090672" cy="8961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Residual corrector trên lưới gốc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29000"/>
            <a:ext cx="3456432" cy="17830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29000"/>
            <a:ext cx="3456432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58444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Tinh chỉnh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06240"/>
            <a:ext cx="3090672" cy="8961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Giữ trọng số SFNO, sau đó mở khóa phần cuối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6" y="3429000"/>
            <a:ext cx="3456432" cy="17830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4256" y="3429000"/>
            <a:ext cx="3456432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358444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Đánh giá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206240"/>
            <a:ext cx="3090672" cy="8961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RMSE · ACC · sai lệch · variance ratio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3429000"/>
            <a:ext cx="3456432" cy="17830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01583" y="3429000"/>
            <a:ext cx="3456432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3" y="358444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Tái lập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3" y="4206240"/>
            <a:ext cx="3090672" cy="8961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Trọng số, hàm băm và mã đánh giá độc lập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Quy trình xử lý và dự báo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574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67128"/>
            <a:ext cx="1691639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WeatherBench2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24328"/>
            <a:ext cx="1691639" cy="42976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ERA5 0,25°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13432" y="2578608"/>
            <a:ext cx="384048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61488" y="20574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167128"/>
            <a:ext cx="1691639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Tiền xử lý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624328"/>
            <a:ext cx="1691639" cy="42976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Đổi lưới và thống kê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63440" y="2578608"/>
            <a:ext cx="384048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1496" y="20574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2167128"/>
            <a:ext cx="1691639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Stage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2624328"/>
            <a:ext cx="1691639" cy="42976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SFNO cơ sở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13448" y="2578608"/>
            <a:ext cx="384048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61503" y="20574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3" y="2167128"/>
            <a:ext cx="1691639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Stage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3" y="2624328"/>
            <a:ext cx="1691639" cy="42976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Residual corrector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63455" y="2578608"/>
            <a:ext cx="384048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11511" y="20574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2951" y="2167128"/>
            <a:ext cx="1691639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Đánh giá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1" y="2624328"/>
            <a:ext cx="1691639" cy="42976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Tháng 7/2020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886200"/>
            <a:ext cx="10881360" cy="13258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187952"/>
            <a:ext cx="2606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D94C4C"/>
                </a:solidFill>
                <a:latin typeface="Arial"/>
              </a:rPr>
              <a:t>Tách dữ liệu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142232"/>
            <a:ext cx="74066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0384F"/>
                </a:solidFill>
                <a:latin typeface="Arial"/>
              </a:rPr>
              <a:t>Thống kê: tập huấn luyện · Chọn trọng số: validation set · Kiểm thử: tháng 7/2020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4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786658" cy="6583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74519"/>
            <a:ext cx="1463040" cy="54864"/>
          </a:xfrm>
          <a:prstGeom prst="rect">
            <a:avLst/>
          </a:prstGeom>
          <a:solidFill>
            <a:srgbClr val="2F9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29260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95DE"/>
                </a:solidFill>
                <a:latin typeface="Arial"/>
              </a:rPr>
              <a:t>PHẦN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60704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Dữ liệu và giao thức đánh giá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90672"/>
            <a:ext cx="969264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D8E7F4"/>
                </a:solidFill>
                <a:latin typeface="Arial"/>
              </a:rPr>
              <a:t>Tách dữ liệu theo thời gian; tính thống kê chuẩn hóa trên tập huấn luyện.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126480"/>
            <a:ext cx="6858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F95DE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Nguồn dữ liệu ERA5 / WeatherBench2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4300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234440"/>
            <a:ext cx="31363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Nguồn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3639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ERA5 công khai trên WeatherBench2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1430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14300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234440"/>
            <a:ext cx="31363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Lưới nguồn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737360"/>
            <a:ext cx="313639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0,25° · 721 × 1440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1430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9016" y="114300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234440"/>
            <a:ext cx="31363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Lưới đích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737360"/>
            <a:ext cx="313639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0,5° · 361 × 720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27832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227832"/>
            <a:ext cx="64008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319272"/>
            <a:ext cx="31363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Bước thời gian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3822191"/>
            <a:ext cx="313639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rial"/>
              </a:rPr>
              <a:t>6 giờ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227832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3227832"/>
            <a:ext cx="64008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319272"/>
            <a:ext cx="31363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Trạng thái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822191"/>
            <a:ext cx="313639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rial"/>
              </a:rPr>
              <a:t>71 kênh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9016" y="3227832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9016" y="3227832"/>
            <a:ext cx="64008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3319272"/>
            <a:ext cx="31363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Thời gian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822191"/>
            <a:ext cx="313639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rial"/>
              </a:rPr>
              <a:t>1983–2020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04688"/>
            <a:ext cx="101498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D94C4C"/>
                </a:solidFill>
                <a:latin typeface="Arial"/>
              </a:rPr>
              <a:t>Tập kiểm thử không tham gia lựa chọn kiến trúc hoặc checkpoint.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Các biến khí tượng đầu vào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89888"/>
            <a:ext cx="9144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1976D2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7" y="1417319"/>
            <a:ext cx="20116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0384F"/>
                </a:solidFill>
                <a:latin typeface="Arial"/>
              </a:rPr>
              <a:t>Biến bề mặt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76272"/>
            <a:ext cx="2926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U10, V10, T2M, SP, MSLP, TCWV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09728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89888"/>
            <a:ext cx="9144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2E8B57"/>
                </a:solidFill>
                <a:latin typeface="Arial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1417319"/>
            <a:ext cx="20116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0384F"/>
                </a:solidFill>
                <a:latin typeface="Arial"/>
              </a:rPr>
              <a:t>Thành phần gió 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76272"/>
            <a:ext cx="2926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50 → 1000 hPa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09728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389888"/>
            <a:ext cx="9144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2E8B57"/>
                </a:solidFill>
                <a:latin typeface="Arial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1417319"/>
            <a:ext cx="20116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0384F"/>
                </a:solidFill>
                <a:latin typeface="Arial"/>
              </a:rPr>
              <a:t>Thành phần gió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76272"/>
            <a:ext cx="2926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50 → 1000 hPa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01568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94176"/>
            <a:ext cx="9144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E28A2B"/>
                </a:solidFill>
                <a:latin typeface="Arial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7" y="3721607"/>
            <a:ext cx="20116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0384F"/>
                </a:solidFill>
                <a:latin typeface="Arial"/>
              </a:rPr>
              <a:t>Địa thế vị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480559"/>
            <a:ext cx="2926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50 → 1000 hPa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401568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694176"/>
            <a:ext cx="9144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D94C4C"/>
                </a:solidFill>
                <a:latin typeface="Arial"/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3721607"/>
            <a:ext cx="20116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0384F"/>
                </a:solidFill>
                <a:latin typeface="Arial"/>
              </a:rPr>
              <a:t>Nhiệt độ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480559"/>
            <a:ext cx="2926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50 → 1000 hPa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401568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694176"/>
            <a:ext cx="9144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2F95DE"/>
                </a:solidFill>
                <a:latin typeface="Arial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3721607"/>
            <a:ext cx="20116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0384F"/>
                </a:solidFill>
                <a:latin typeface="Arial"/>
              </a:rPr>
              <a:t>Độ ẩm riêng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480559"/>
            <a:ext cx="2926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50 → 1000 hPa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Chia dữ liệu theo thời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6126480" cy="137160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59436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976D2"/>
                </a:solidFill>
                <a:latin typeface="Arial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5943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0384F"/>
                </a:solidFill>
                <a:latin typeface="Arial"/>
              </a:rPr>
              <a:t>1983–2018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98648"/>
            <a:ext cx="59436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B6773"/>
                </a:solidFill>
                <a:latin typeface="Arial"/>
              </a:rPr>
              <a:t>36 năm · huấn luyện và tính thống kê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874519"/>
            <a:ext cx="1691640" cy="1371600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103120"/>
            <a:ext cx="1508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Arial"/>
              </a:rPr>
              <a:t>VALID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487168"/>
            <a:ext cx="1508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0384F"/>
                </a:solidFill>
                <a:latin typeface="Arial"/>
              </a:rPr>
              <a:t>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898648"/>
            <a:ext cx="1508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B6773"/>
                </a:solidFill>
                <a:latin typeface="Arial"/>
              </a:rPr>
              <a:t>Chọn trọng số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1874519"/>
            <a:ext cx="2907792" cy="1371600"/>
          </a:xfrm>
          <a:prstGeom prst="roundRect">
            <a:avLst>
              <a:gd name="adj" fmla="val 12000"/>
            </a:avLst>
          </a:prstGeom>
          <a:solidFill>
            <a:srgbClr val="FFF0F0"/>
          </a:solidFill>
          <a:ln w="12700">
            <a:solidFill>
              <a:srgbClr val="D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05088" y="2103120"/>
            <a:ext cx="272491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D94C4C"/>
                </a:solidFill>
                <a:latin typeface="Arial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487168"/>
            <a:ext cx="27249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0384F"/>
                </a:solidFill>
                <a:latin typeface="Arial"/>
              </a:rPr>
              <a:t>07/2020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2898648"/>
            <a:ext cx="272491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B6773"/>
                </a:solidFill>
                <a:latin typeface="Arial"/>
              </a:rPr>
              <a:t>Kiểm thử độc lập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977639"/>
            <a:ext cx="10927080" cy="13258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4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70248"/>
            <a:ext cx="9966960" cy="73152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Mỗi stage giữ checkpoint có validation loss thấp nhất</a:t>
            </a:r>
          </a:p>
          <a:p>
            <a:pPr>
              <a:spcAft>
                <a:spcPts val="500"/>
              </a:spcAft>
              <a:defRPr sz="13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Tháng 7/2020 cách thời điểm cuối validation set hơn 6 tháng</a:t>
            </a:r>
          </a:p>
          <a:p>
            <a:pPr>
              <a:spcAft>
                <a:spcPts val="500"/>
              </a:spcAft>
              <a:defRPr sz="13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95 thời điểm khởi tạo hợp lệ cho cửa sổ dự báo 7 ngày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Regridding và kiểm soát chất lượng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44168"/>
            <a:ext cx="21031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Lưới ERA5 nguồn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2103120" cy="4754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0,25°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52928" y="1783080"/>
            <a:ext cx="457200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23444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344168"/>
            <a:ext cx="21031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Chồng lấp diện tích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01368"/>
            <a:ext cx="2103120" cy="4754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Nội suy bảo toàn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87568" y="1783080"/>
            <a:ext cx="457200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123444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344168"/>
            <a:ext cx="21031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Kinh độ tuần hoàn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1801368"/>
            <a:ext cx="2103120" cy="4754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0° / 360°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22208" y="1783080"/>
            <a:ext cx="457200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52560" y="123444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344168"/>
            <a:ext cx="21031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Lưới đích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801368"/>
            <a:ext cx="2103120" cy="4754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0,5°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880360"/>
            <a:ext cx="5303520" cy="23957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A9B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2880360"/>
            <a:ext cx="5303520" cy="23957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A9B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08960"/>
            <a:ext cx="457200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rial"/>
              </a:rPr>
              <a:t>Kiểm tra dữ liệu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675887"/>
            <a:ext cx="4572000" cy="128016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Giữ nguyên thứ tự các biến</a:t>
            </a:r>
          </a:p>
          <a:p>
            <a:pPr>
              <a:spcAft>
                <a:spcPts val="12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Kiểm tra tọa độ và giá trị hữu hạn</a:t>
            </a:r>
          </a:p>
          <a:p>
            <a:pPr>
              <a:spcAft>
                <a:spcPts val="12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Kiểm tra cấu hình khi tiếp tục huấn luyện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108960"/>
            <a:ext cx="457200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D94C4C"/>
                </a:solidFill>
                <a:latin typeface="Arial"/>
              </a:rPr>
              <a:t>Ảnh hưởng của độ phân giải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675887"/>
            <a:ext cx="4572000" cy="128016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Giảm bộ nhớ và chi phí</a:t>
            </a:r>
          </a:p>
          <a:p>
            <a:pPr>
              <a:spcAft>
                <a:spcPts val="12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Nyquist thấp hơn</a:t>
            </a:r>
          </a:p>
          <a:p>
            <a:pPr>
              <a:spcAft>
                <a:spcPts val="12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Mất cấu trúc nhỏ hơn ô lưới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Chuẩn hóa state và tendency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eq_tend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422" y="1372514"/>
            <a:ext cx="4030675" cy="8942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2880360"/>
            <a:ext cx="3429000" cy="138988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880360"/>
            <a:ext cx="3429000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306324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Chuẩn hóa trạng thái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3063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x̃ = (x − μx) / σ(x)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880360"/>
            <a:ext cx="3429000" cy="138988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880360"/>
            <a:ext cx="3429000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035808"/>
            <a:ext cx="306324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Tendency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657600"/>
            <a:ext cx="3063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s = σ(Δx) / σ(x)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429000" cy="138988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3429000" cy="6400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035808"/>
            <a:ext cx="306324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28A2B"/>
                </a:solidFill>
                <a:latin typeface="Arial"/>
              </a:rPr>
              <a:t>Đại lượng dự báo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57600"/>
            <a:ext cx="3063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z = Δx / σ(Δx)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36592"/>
            <a:ext cx="10789920" cy="9601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10912"/>
            <a:ext cx="1143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Arial"/>
              </a:rPr>
              <a:t>Cách áp dụng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956048"/>
            <a:ext cx="8915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20384F"/>
                </a:solidFill>
                <a:latin typeface="Arial"/>
              </a:rPr>
              <a:t>Mô hình dự báo standardized tendency. Hệ số s chuyển tendency về cùng thang với trạng thái đầu vào.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Giao thức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88720"/>
            <a:ext cx="2487168" cy="14630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88720"/>
            <a:ext cx="64008" cy="14630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280160"/>
            <a:ext cx="2194560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sai số biên độ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83080"/>
            <a:ext cx="21945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59152"/>
            <a:ext cx="21945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rial"/>
              </a:rPr>
              <a:t>Trọng số diện tích ô lưới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188720"/>
            <a:ext cx="2487168" cy="14630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0712" y="1188720"/>
            <a:ext cx="64008" cy="1463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1280160"/>
            <a:ext cx="2194560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Tương quan dị thường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1783080"/>
            <a:ext cx="21945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rial"/>
              </a:rPr>
              <a:t>ACC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2359152"/>
            <a:ext cx="21945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rial"/>
              </a:rPr>
              <a:t>Trọng số diện tích ô lưới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188720"/>
            <a:ext cx="2487168" cy="14630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188720"/>
            <a:ext cx="64008" cy="1463040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1280160"/>
            <a:ext cx="2194560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sai lệch hệ thống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1783080"/>
            <a:ext cx="21945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E28A2B"/>
                </a:solidFill>
                <a:latin typeface="Arial"/>
              </a:rPr>
              <a:t>Bias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359152"/>
            <a:ext cx="21945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rial"/>
              </a:rPr>
              <a:t>Trọng số diện tích ô lưới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3416" y="1188720"/>
            <a:ext cx="2487168" cy="14630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1188720"/>
            <a:ext cx="64008" cy="1463040"/>
          </a:xfrm>
          <a:prstGeom prst="rect">
            <a:avLst/>
          </a:prstGeom>
          <a:solidFill>
            <a:srgbClr val="D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8" y="1280160"/>
            <a:ext cx="2194560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Mức bảo toàn phương sai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1783080"/>
            <a:ext cx="21945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D94C4C"/>
                </a:solidFill>
                <a:latin typeface="Arial"/>
              </a:rPr>
              <a:t>Variance 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2359152"/>
            <a:ext cx="21945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rial"/>
              </a:rPr>
              <a:t>Trọng số diện tích ô lưới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154680"/>
            <a:ext cx="10972800" cy="235915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474720"/>
            <a:ext cx="10149840" cy="160020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Thời hạn dự báo trong phép kiểm thử: 6 giờ (K=1)</a:t>
            </a:r>
          </a:p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Tính sai số theo đơn vị vật lý của từng biến</a:t>
            </a:r>
          </a:p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Z500 dùng gpm; MSLP dùng hPa; độ ẩm riêng dùng g/kg</a:t>
            </a:r>
          </a:p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Đánh giá mô hình persistence và climatology theo cùng quy trình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4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786658" cy="6583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74519"/>
            <a:ext cx="1463040" cy="54864"/>
          </a:xfrm>
          <a:prstGeom prst="rect">
            <a:avLst/>
          </a:prstGeom>
          <a:solidFill>
            <a:srgbClr val="2F9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29260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95DE"/>
                </a:solidFill>
                <a:latin typeface="Arial"/>
              </a:rPr>
              <a:t>PHẦN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60704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Cơ sở phương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90672"/>
            <a:ext cx="969264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D8E7F4"/>
                </a:solidFill>
                <a:latin typeface="Arial"/>
              </a:rPr>
              <a:t>Biểu diễn trường khí quyển bằng điều hòa cầu và dự báo tendency.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126480"/>
            <a:ext cx="6858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F95DE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Biểu diễn bài toán bằng neural 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eq_ope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971" y="1438351"/>
            <a:ext cx="3844137" cy="67116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743200"/>
            <a:ext cx="5440680" cy="318211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97180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rial"/>
              </a:rPr>
              <a:t>Ánh xạ giữa các trường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621024"/>
            <a:ext cx="4663440" cy="2176272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Học ánh xạ giữa hai không gian hàm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Tham số dùng chung trên toàn miền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Có thể biểu diễn tương tác xa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Ứng dụng cho phương trình đạo hàm riêng và các trường vật lý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743200"/>
            <a:ext cx="5440680" cy="318211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97180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Arial"/>
              </a:rPr>
              <a:t>Cấu hình của đồ 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3621024"/>
            <a:ext cx="4663440" cy="2176272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Đầu vào và đầu ra là các trường trên mặt cầu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Toán tử dự báo một bước 6 giờ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Dùng đầu ra làm đầu vào cho bước dự báo tiếp theo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SFNO biểu diễn toán tử cần học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Đặc điểm của lưới khí quyển trên mặt cầu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3429000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89888"/>
            <a:ext cx="306324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Kinh độ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11680"/>
            <a:ext cx="3063240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Tuần hoàn tại 0°/360°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3429000" cy="64008"/>
          </a:xfrm>
          <a:prstGeom prst="rect">
            <a:avLst/>
          </a:prstGeom>
          <a:solidFill>
            <a:srgbClr val="D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389888"/>
            <a:ext cx="306324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D94C4C"/>
                </a:solidFill>
                <a:latin typeface="Arial"/>
              </a:rPr>
              <a:t>Hai cực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11680"/>
            <a:ext cx="3063240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Điểm lưới hội tụ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3444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3429000" cy="6400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389888"/>
            <a:ext cx="306324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28A2B"/>
                </a:solidFill>
                <a:latin typeface="Arial"/>
              </a:rPr>
              <a:t>Diện tích ô lưới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3063240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Ô lưới có diện tích khác nhau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063240"/>
            <a:ext cx="10972800" cy="23774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38144"/>
            <a:ext cx="22402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D94C4C"/>
                </a:solidFill>
                <a:latin typeface="Arial"/>
              </a:rPr>
              <a:t>Tích chập trên mặt phẳng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401568"/>
            <a:ext cx="80010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0384F"/>
                </a:solidFill>
                <a:latin typeface="Arial"/>
              </a:rPr>
              <a:t>Cần xử lý hai cực, biên kinh độ và sự thay đổi kích thước ô lưới.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61104"/>
            <a:ext cx="22402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Arial"/>
              </a:rPr>
              <a:t>SFNO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224528"/>
            <a:ext cx="80010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0384F"/>
                </a:solidFill>
                <a:latin typeface="Arial"/>
              </a:rPr>
              <a:t>Biến đổi điều hòa cầu cho phép học tương tác trên toàn miền.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Biến đổi điều hòa cầu (SHT)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eq_s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895" y="1128369"/>
            <a:ext cx="5151729" cy="12911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2816352"/>
            <a:ext cx="2450592" cy="129844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16352"/>
            <a:ext cx="64008" cy="12984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907792"/>
            <a:ext cx="215798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vĩ độ / kinh độ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410712"/>
            <a:ext cx="215798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θ, 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816352"/>
            <a:ext cx="2450592" cy="129844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816352"/>
            <a:ext cx="64008" cy="12984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2907792"/>
            <a:ext cx="215798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Hàm cơ sở điều hòa cầu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410712"/>
            <a:ext cx="215798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rial"/>
              </a:rPr>
              <a:t>Yℓᵐ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16352"/>
            <a:ext cx="2450592" cy="129844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816352"/>
            <a:ext cx="64008" cy="129844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907792"/>
            <a:ext cx="215798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hệ số phổ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410712"/>
            <a:ext cx="215798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E28A2B"/>
                </a:solidFill>
                <a:latin typeface="Arial"/>
              </a:rPr>
              <a:t>f̂ℓm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2816352"/>
            <a:ext cx="2450592" cy="129844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39" y="2816352"/>
            <a:ext cx="64008" cy="1298448"/>
          </a:xfrm>
          <a:prstGeom prst="rect">
            <a:avLst/>
          </a:prstGeom>
          <a:solidFill>
            <a:srgbClr val="D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1" y="2907792"/>
            <a:ext cx="215798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Ngưỡng cắt phổ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1" y="3410712"/>
            <a:ext cx="215798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D94C4C"/>
                </a:solidFill>
                <a:latin typeface="Arial"/>
              </a:rPr>
              <a:t>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90288"/>
            <a:ext cx="10881360" cy="1024128"/>
          </a:xfrm>
          <a:prstGeom prst="roundRect">
            <a:avLst>
              <a:gd name="adj" fmla="val 12000"/>
            </a:avLst>
          </a:prstGeom>
          <a:solidFill>
            <a:srgbClr val="FFF0F0"/>
          </a:solidFill>
          <a:ln w="12700">
            <a:solidFill>
              <a:srgbClr val="E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901184"/>
            <a:ext cx="16002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D94C4C"/>
                </a:solidFill>
                <a:latin typeface="Arial"/>
              </a:rPr>
              <a:t>Giới hạn biểu diễn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152" y="4855464"/>
            <a:ext cx="85039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Giảm bậc L rút ngắn thời gian tính toán và loại các thành phần có bước sóng ngắn.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Cấu trúc khối SFNO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0384F"/>
                </a:solidFill>
                <a:latin typeface="Arial"/>
              </a:rPr>
              <a:t>Khối SFNO kết hợp phép lọc phổ với nhánh cục bộ và residual connection.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4884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58568"/>
            <a:ext cx="1645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vₖ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15768"/>
            <a:ext cx="1645920" cy="4754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Đặc trưng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14884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258568"/>
            <a:ext cx="1645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SHT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715768"/>
            <a:ext cx="1645920" cy="4754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Mặt cầu → phổ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14884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2258568"/>
            <a:ext cx="1645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Bộ lọc phổ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2715768"/>
            <a:ext cx="1645920" cy="4754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Trọng số học được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214884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258568"/>
            <a:ext cx="1645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iSHT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715768"/>
            <a:ext cx="1645920" cy="4754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Phổ → mặt cầu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14884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258568"/>
            <a:ext cx="1645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Cộng và kích hoạt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715768"/>
            <a:ext cx="1645920" cy="4754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Đặc trưng đầu ra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41448" y="2697480"/>
            <a:ext cx="256032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90288" y="2697480"/>
            <a:ext cx="256032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39127" y="2697480"/>
            <a:ext cx="256033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887968" y="2697480"/>
            <a:ext cx="256032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508760" y="1691640"/>
            <a:ext cx="0" cy="411480"/>
          </a:xfrm>
          <a:prstGeom prst="line">
            <a:avLst/>
          </a:prstGeom>
          <a:ln w="25400">
            <a:solidFill>
              <a:srgbClr val="5B67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08760" y="1691640"/>
            <a:ext cx="8595360" cy="0"/>
          </a:xfrm>
          <a:prstGeom prst="line">
            <a:avLst/>
          </a:prstGeom>
          <a:ln w="25400">
            <a:solidFill>
              <a:srgbClr val="5B67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104120" y="1691640"/>
            <a:ext cx="0" cy="411480"/>
          </a:xfrm>
          <a:prstGeom prst="line">
            <a:avLst/>
          </a:prstGeom>
          <a:ln w="25400">
            <a:solidFill>
              <a:srgbClr val="5B67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0" y="1362456"/>
            <a:ext cx="3108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5B6773"/>
                </a:solidFill>
                <a:latin typeface="Arial"/>
              </a:rPr>
              <a:t>Nhánh cục bộ và residual connection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4343400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79" y="4453128"/>
            <a:ext cx="1645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MLP và residual connection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79" y="4910328"/>
            <a:ext cx="164592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Biến đổi đặc trưng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104120" y="3291840"/>
            <a:ext cx="0" cy="685799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806440" y="3977639"/>
            <a:ext cx="4297680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06440" y="3977639"/>
            <a:ext cx="0" cy="320041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" y="5779008"/>
            <a:ext cx="10698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Sơ đồ chức năng; cấu hình chuẩn hóa và residual connection theo torch-harmonics 0.7.4.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Tendency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eq_tend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702" y="1372514"/>
            <a:ext cx="4030675" cy="8942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743200"/>
            <a:ext cx="5440680" cy="318211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97180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rial"/>
              </a:rPr>
              <a:t>Cách biểu diễn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621024"/>
            <a:ext cx="4663440" cy="2176272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Dự báo tendency của trạng thái khí quyển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Identity path giữ trạng thái hiện tại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Chuẩn hóa tendency bằng σ(Δx)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Áp dụng cho bước thời gian 6 giờ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743200"/>
            <a:ext cx="5440680" cy="318211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97180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D94C4C"/>
                </a:solidFill>
                <a:latin typeface="Arial"/>
              </a:rPr>
              <a:t>Sai số khi dự báo lặp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3621024"/>
            <a:ext cx="4663440" cy="2176272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Sai số tendency tích lũy qua các bước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Sai lệch nhỏ có thể tích lũy thành drift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Tendency quá trơn làm giảm biên độ cực trị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Huấn luyện K=1 chưa tối ưu trực tiếp dự báo dài hạn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Loss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eq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76" y="1292961"/>
            <a:ext cx="4087368" cy="8705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29718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971800"/>
            <a:ext cx="3429000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27248"/>
            <a:ext cx="306324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Trọng số diện tích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3063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Bù mật độ lat–lon tại hai cực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9718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971800"/>
            <a:ext cx="3429000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127248"/>
            <a:ext cx="306324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Trọng số theo biến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749039"/>
            <a:ext cx="3063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Cân bằng biến và mức áp suất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9718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971800"/>
            <a:ext cx="3429000" cy="6400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127248"/>
            <a:ext cx="306324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28A2B"/>
                </a:solidFill>
                <a:latin typeface="Arial"/>
              </a:rPr>
              <a:t>Chuẩn hóa tendency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49039"/>
            <a:ext cx="3063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Chia sai số cho độ lệch chuẩn của tendency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0060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FFF0F0"/>
          </a:solidFill>
          <a:ln w="12700">
            <a:solidFill>
              <a:srgbClr val="E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65776"/>
            <a:ext cx="10241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D94C4C"/>
                </a:solidFill>
                <a:latin typeface="Arial"/>
              </a:rPr>
              <a:t>MSE tính sai số trung bình. Các vùng cực trị nhỏ có thể đóng góp ít vào loss function.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Trọng số theo biến và diện tích ô lưới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40680" cy="431596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5448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rial"/>
              </a:rPr>
              <a:t>Trọng số theo cấu hình GraphCast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03704"/>
            <a:ext cx="4663440" cy="3310127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Các biến bề mặt có trọng số định trước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Trọng số tại từng mức tỉ lệ với áp suất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Mỗi nhóm biến nhận tổng trọng số cân bằng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Chuẩn hóa tổng trọng số bằng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25880"/>
            <a:ext cx="5440680" cy="431596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55448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Arial"/>
              </a:rPr>
              <a:t>Trọng số diện tích theo vĩ độ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203704"/>
            <a:ext cx="4663440" cy="3310127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Tính diện tích từ biên ô lưới vĩ độ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Tính diện tích ô lưới thay cho xấp xỉ tại tâm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Gộp RMSE và sai lệch theo trọng số diện tích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ACC sử dụng dị thường so với climatology của tập huấn luyện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5257800"/>
            <a:ext cx="9509760" cy="530352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422392"/>
            <a:ext cx="90525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20384F"/>
                </a:solidFill>
                <a:latin typeface="Arial"/>
              </a:rPr>
              <a:t>Hai stage dùng cùng loss function và cùng trọng số theo biến.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Môi trường huấn luyện và khả năng tái lập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1901952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17190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PyTorch 2.8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84248"/>
            <a:ext cx="1719072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AMP + AdamW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417320"/>
            <a:ext cx="1901952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527048"/>
            <a:ext cx="17190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torch-harmonics 0.7.4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984248"/>
            <a:ext cx="1719072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Thư viện biến đổi điều hòa cầu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417320"/>
            <a:ext cx="1901952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59" y="1527048"/>
            <a:ext cx="17190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RTX PRO 4500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1984248"/>
            <a:ext cx="1719072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31,37 GiB VRAM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417320"/>
            <a:ext cx="1901952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527048"/>
            <a:ext cx="17190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Checkpoint 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984248"/>
            <a:ext cx="1719072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Trọng số, bộ tối ưu và trạng thái ngẫu nhiên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59" y="1417320"/>
            <a:ext cx="1901952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799" y="1527048"/>
            <a:ext cx="17190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SHA-256 manifest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799" y="1984248"/>
            <a:ext cx="1719072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Kiểm tra tệp bằng hàm băm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063240"/>
            <a:ext cx="10972800" cy="23774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47288"/>
            <a:ext cx="10058400" cy="150876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Giữ seed 42 và kiểm tra môi trường tính toán</a:t>
            </a:r>
          </a:p>
          <a:p>
            <a:pPr>
              <a:spcAft>
                <a:spcPts val="9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Kiểm tra dữ liệu, mã nguồn và cấu hình khi tiếp tục huấn luyện</a:t>
            </a:r>
          </a:p>
          <a:p>
            <a:pPr>
              <a:spcAft>
                <a:spcPts val="9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Chọn trọng số từ validation set</a:t>
            </a:r>
          </a:p>
          <a:p>
            <a:pPr>
              <a:spcAft>
                <a:spcPts val="9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Gói báo cáo giữ hai checkpoint; đã kiểm tra tệp và cấu hình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4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786658" cy="6583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74519"/>
            <a:ext cx="1463040" cy="54864"/>
          </a:xfrm>
          <a:prstGeom prst="rect">
            <a:avLst/>
          </a:prstGeom>
          <a:solidFill>
            <a:srgbClr val="2F9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29260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95DE"/>
                </a:solidFill>
                <a:latin typeface="Arial"/>
              </a:rPr>
              <a:t>PHẦN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60704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Stage 1 — SFNO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90672"/>
            <a:ext cx="969264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D8E7F4"/>
                </a:solidFill>
                <a:latin typeface="Arial"/>
              </a:rPr>
              <a:t>Mô hình cơ sở nhận 71 trường khí quyển tại một thời điểm và dự báo sau 6 giờ.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126480"/>
            <a:ext cx="6858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F95DE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Kiến trúc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508760"/>
            <a:ext cx="155448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18488"/>
            <a:ext cx="137160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x(t)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75688"/>
            <a:ext cx="137160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71 × 361 × 720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2020824"/>
            <a:ext cx="301752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67712" y="1508760"/>
            <a:ext cx="155448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152" y="1618488"/>
            <a:ext cx="137160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2075688"/>
            <a:ext cx="137160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71 → 192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9624" y="2020824"/>
            <a:ext cx="301752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15383" y="1508760"/>
            <a:ext cx="155448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3" y="1618488"/>
            <a:ext cx="137160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SFNO ×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3" y="2075688"/>
            <a:ext cx="137160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Giảm lưới 2 lần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97296" y="2020824"/>
            <a:ext cx="301752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5" y="1508760"/>
            <a:ext cx="155448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1618488"/>
            <a:ext cx="137160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Decoder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2075688"/>
            <a:ext cx="137160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192 → 71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44967" y="2020824"/>
            <a:ext cx="301752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10727" y="1508760"/>
            <a:ext cx="1554480" cy="1024128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2167" y="1618488"/>
            <a:ext cx="137160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Residual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7" y="2075688"/>
            <a:ext cx="137160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x + s·ẑ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92640" y="2020824"/>
            <a:ext cx="301752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058399" y="1508760"/>
            <a:ext cx="1554480" cy="1024128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39" y="1618488"/>
            <a:ext cx="137160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x(t+6h)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9" y="2075688"/>
            <a:ext cx="137160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71 kênh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200400"/>
            <a:ext cx="10972800" cy="23317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547872"/>
            <a:ext cx="10058400" cy="150876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SFNO chỉ nhận trạng thái hiện tại</a:t>
            </a:r>
          </a:p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Biến đổi phổ sử dụng lưới nội bộ có độ phân giải thấp hơn</a:t>
            </a:r>
          </a:p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Giữ toàn bộ mode trong miền phổ nội bộ; hệ số giảm lưới vẫn giới hạn mode cao</a:t>
            </a:r>
          </a:p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Chuyển standardized tendency về thang trạng thái trước khi cộng vào đầu vào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Kích thước tensor trong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078992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261872"/>
            <a:ext cx="24231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976D2"/>
                </a:solidFill>
                <a:latin typeface="Arial"/>
              </a:rPr>
              <a:t>Đầu vào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243584"/>
            <a:ext cx="7223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0384F"/>
                </a:solidFill>
                <a:latin typeface="Arial"/>
              </a:rPr>
              <a:t>B × 71 × 361 × 720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020824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203704"/>
            <a:ext cx="24231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976D2"/>
                </a:solidFill>
                <a:latin typeface="Arial"/>
              </a:rPr>
              <a:t>Sau mã hóa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185416"/>
            <a:ext cx="7223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0384F"/>
                </a:solidFill>
                <a:latin typeface="Arial"/>
              </a:rPr>
              <a:t>B × 192 × 361 × 720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962656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45536"/>
            <a:ext cx="24231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976D2"/>
                </a:solidFill>
                <a:latin typeface="Arial"/>
              </a:rPr>
              <a:t>Lưới phổ nội bộ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127248"/>
            <a:ext cx="7223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0384F"/>
                </a:solidFill>
                <a:latin typeface="Arial"/>
              </a:rPr>
              <a:t>Hệ số 2 · lưới nội bộ 181 × 360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904487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087368"/>
            <a:ext cx="24231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976D2"/>
                </a:solidFill>
                <a:latin typeface="Arial"/>
              </a:rPr>
              <a:t>Tendency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4069079"/>
            <a:ext cx="7223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0384F"/>
                </a:solidFill>
                <a:latin typeface="Arial"/>
              </a:rPr>
              <a:t>B × 71 × 361 × 720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846320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029200"/>
            <a:ext cx="24231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976D2"/>
                </a:solidFill>
                <a:latin typeface="Arial"/>
              </a:rPr>
              <a:t>Dự báo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5010912"/>
            <a:ext cx="7223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0384F"/>
                </a:solidFill>
                <a:latin typeface="Arial"/>
              </a:rPr>
              <a:t>B × 71 × 361 × 720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Cấu hình huấn luyện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0972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0972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1887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Số chiều đặc trưng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6916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192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0972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0972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1887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Số khối SFNO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6916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0972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0972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Kích thước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10972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10972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1887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Learning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16916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5 × 10⁻⁴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31546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" y="31546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2461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Weight decay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37490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1 × 10⁻⁴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31546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31546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32461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Lịch learning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2" y="37490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warmup + cosine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31546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31546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History 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7490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89136" y="31546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89136" y="31546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53728" y="32461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Rollout steps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37490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K =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321808"/>
            <a:ext cx="10881360" cy="493776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468112"/>
            <a:ext cx="104241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20384F"/>
                </a:solidFill>
                <a:latin typeface="Arial"/>
              </a:rPr>
              <a:t>Checkpoint được chọn: epoch 25 (index 24) · 187.850 bước cập nhật · validation loss 0,134443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Chiến lược tối ưu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40680" cy="431596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5448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rial"/>
              </a:rPr>
              <a:t>Ổn định số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03704"/>
            <a:ext cx="4663440" cy="3310127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AMP trên CUDA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Gradient clipping ở 1,0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Ổn định các hằng số của biến đổi SHT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Kiểm tra giá trị mất mát hữu hạn sau mỗi batch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25880"/>
            <a:ext cx="5440680" cy="431596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55448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Arial"/>
              </a:rPr>
              <a:t>Chọn mô hình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203704"/>
            <a:ext cx="4663440" cy="3310127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Xác thực trên dữ liệu được tách theo thời gian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Chọn theo loss trung bình có trọng số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Lưu riêng trọng số tốt nhất và trọng số cuối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Không dùng tập kiểm thử để quyết định dừng huấn luyện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230368"/>
            <a:ext cx="10607040" cy="640080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431536"/>
            <a:ext cx="101498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E8B57"/>
                </a:solidFill>
                <a:latin typeface="Arial"/>
              </a:rPr>
              <a:t>Stage 2 sử dụng checkpoint Stage 1 có hàm validation loss thấp nhất.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Kết quả tổng hợp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9728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0972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22219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Validation loss thấp nhất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222199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0,134443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21992"/>
            <a:ext cx="222199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rial"/>
              </a:rPr>
              <a:t>epoch 25 (index 24)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09728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0972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188720"/>
            <a:ext cx="22219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RMSE chuẩn hóa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691640"/>
            <a:ext cx="222199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0,1572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221992"/>
            <a:ext cx="222199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rial"/>
              </a:rPr>
              <a:t>persistence 0,3312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09728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097280"/>
            <a:ext cx="64008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1188720"/>
            <a:ext cx="22219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ACC chuẩn hóa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1691640"/>
            <a:ext cx="222199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rial"/>
              </a:rPr>
              <a:t>0,9836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221992"/>
            <a:ext cx="222199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rial"/>
              </a:rPr>
              <a:t>persistence 0,9233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984" y="109728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15984" y="10972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188720"/>
            <a:ext cx="22219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Objective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1691640"/>
            <a:ext cx="222199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0,1402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2221992"/>
            <a:ext cx="222199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rial"/>
              </a:rPr>
              <a:t>12 mẫu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2971800"/>
            <a:ext cx="10972800" cy="242316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438144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0384F"/>
                </a:solidFill>
                <a:latin typeface="Arial"/>
              </a:rPr>
              <a:t>Persistence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3456432"/>
            <a:ext cx="7772400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194560" y="3456432"/>
            <a:ext cx="7355215" cy="201168"/>
          </a:xfrm>
          <a:prstGeom prst="roundRect">
            <a:avLst/>
          </a:prstGeom>
          <a:solidFill>
            <a:srgbClr val="A9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3419856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A9B7C6"/>
                </a:solidFill>
                <a:latin typeface="Arial"/>
              </a:rPr>
              <a:t>0.331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206240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0384F"/>
                </a:solidFill>
                <a:latin typeface="Arial"/>
              </a:rPr>
              <a:t>Stage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4224528"/>
            <a:ext cx="7772400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194560" y="4224528"/>
            <a:ext cx="3491244" cy="201168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4187952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rial"/>
              </a:rPr>
              <a:t>0.157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892040"/>
            <a:ext cx="9692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E8B57"/>
                </a:solidFill>
                <a:latin typeface="Arial"/>
              </a:rPr>
              <a:t>RMSE chuẩn hóa của Stage 1 thấp hơn mô hình persistence khoảng 52,5%.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RMSE vật lý — Stage 1 và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rmse_phys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367" y="1005840"/>
            <a:ext cx="8782785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61888"/>
            <a:ext cx="106070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RMSE vật lý tại 6 giờ · 12 khởi tạo/stage · mỗi panel có đơn vị riêng; trục độc lập.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Stage 1 — hội tụ ở 10 epoch cuối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stage1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64460"/>
            <a:ext cx="11064240" cy="43747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61888"/>
            <a:ext cx="106070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Nguồn: stage1_history.csv, epoch 16–25. Validation loss vẫn giảm ở cuối quá trình huấn luyện.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Nút thắt phổ tần số 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21207"/>
            <a:ext cx="98755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773"/>
                </a:solidFill>
                <a:latin typeface="Arial"/>
              </a:rPr>
              <a:t>Biểu đồ mang tính minh họa cơ chế, không phải spectrum đo trực tiếp từ checkpoint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9" name="Picture 8" descr="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420"/>
            <a:ext cx="7178040" cy="388679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19872" y="1234440"/>
            <a:ext cx="3429000" cy="3886200"/>
          </a:xfrm>
          <a:prstGeom prst="roundRect">
            <a:avLst>
              <a:gd name="adj" fmla="val 12000"/>
            </a:avLst>
          </a:prstGeom>
          <a:solidFill>
            <a:srgbClr val="FFF0F0"/>
          </a:solidFill>
          <a:ln w="12700">
            <a:solidFill>
              <a:srgbClr val="E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554480"/>
            <a:ext cx="2880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D94C4C"/>
                </a:solidFill>
                <a:latin typeface="Arial"/>
              </a:rPr>
              <a:t>Cấu trúc bị ảnh hưởng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03120"/>
            <a:ext cx="2697480" cy="210312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Front khí quyển</a:t>
            </a:r>
          </a:p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Xoáy quy mô nhỏ</a:t>
            </a:r>
          </a:p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Gradient ven biển</a:t>
            </a:r>
          </a:p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Cực trị gió/nhiệt</a:t>
            </a:r>
          </a:p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Chi tiết địa hình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526280"/>
            <a:ext cx="2606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D94C4C"/>
                </a:solidFill>
                <a:latin typeface="Arial"/>
              </a:rPr>
              <a:t>Bộ lọc phổ không biểu diễn các mode nằm ngoài miền giữ lại.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Giả thuyết về giới hạn của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97280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FF0F0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097280"/>
            <a:ext cx="3456432" cy="64008"/>
          </a:xfrm>
          <a:prstGeom prst="rect">
            <a:avLst/>
          </a:prstGeom>
          <a:solidFill>
            <a:srgbClr val="D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5272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D94C4C"/>
                </a:solidFill>
                <a:latin typeface="Arial"/>
              </a:rPr>
              <a:t>Giới hạn biểu diễn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74519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Độ phân giải nội bộ giới hạn mode phổ cao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097280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097280"/>
            <a:ext cx="3456432" cy="6400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25272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28A2B"/>
                </a:solidFill>
                <a:latin typeface="Arial"/>
              </a:rPr>
              <a:t>Một trạng thái đầu vào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74519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Không quan sát xu hướng gần nhất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097280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097280"/>
            <a:ext cx="3456432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25272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Thiếu forcing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874519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Không biết địa hình và chu kỳ thời gian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10128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FF0F0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10128"/>
            <a:ext cx="3456432" cy="64008"/>
          </a:xfrm>
          <a:prstGeom prst="rect">
            <a:avLst/>
          </a:prstGeom>
          <a:solidFill>
            <a:srgbClr val="D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465576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D94C4C"/>
                </a:solidFill>
                <a:latin typeface="Arial"/>
              </a:rPr>
              <a:t>Sai số bình phương trung bình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087368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Ưu tiên nghiệm trơn và phổ biến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310128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3310128"/>
            <a:ext cx="3456432" cy="6400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465576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28A2B"/>
                </a:solidFill>
                <a:latin typeface="Arial"/>
              </a:rPr>
              <a:t>Các cực trị ít gặp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087368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Cực trị có thể đóng góp ít vào gradient trung bình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3310128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56448" y="3310128"/>
            <a:ext cx="3456432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3465576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K =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087368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Chưa tối ưu drift trong dự báo dài hạn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4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786658" cy="6583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74519"/>
            <a:ext cx="1463040" cy="54864"/>
          </a:xfrm>
          <a:prstGeom prst="rect">
            <a:avLst/>
          </a:prstGeom>
          <a:solidFill>
            <a:srgbClr val="2F9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29260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95DE"/>
                </a:solidFill>
                <a:latin typeface="Arial"/>
              </a:rPr>
              <a:t>PHẦN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60704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Stage 2 — Spherical residual corrector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90672"/>
            <a:ext cx="969264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D8E7F4"/>
                </a:solidFill>
                <a:latin typeface="Arial"/>
              </a:rPr>
              <a:t>Khởi tạo từ Stage 1. Corrector nhận thêm history và forcing.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126480"/>
            <a:ext cx="6858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F95DE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Nguyên lý thiết kế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eq_st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780" y="1402689"/>
            <a:ext cx="6067958" cy="6510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743200"/>
            <a:ext cx="5440680" cy="318211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97180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rial"/>
              </a:rPr>
              <a:t>Giữ lại từ 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621024"/>
            <a:ext cx="4663440" cy="2176272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SFNO E192/L6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Tendency scale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Cộng tendency vào trạng thái hiện tại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Loss function và trọng số theo biến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743200"/>
            <a:ext cx="5440680" cy="318211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97180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Arial"/>
              </a:rPr>
              <a:t>Bổ sung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3621024"/>
            <a:ext cx="4663440" cy="2176272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x(t−6h) và tendency gần nhất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7 kênh static và analytic forcing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Corrector SFNO trên lưới gốc</a:t>
            </a:r>
          </a:p>
          <a:p>
            <a:pPr>
              <a:spcAft>
                <a:spcPts val="1000"/>
              </a:spcAft>
              <a:defRPr sz="16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Progressive unfreezing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Static và analytic forcing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234440"/>
            <a:ext cx="199339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234440"/>
            <a:ext cx="1993392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162763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Địa hình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011680"/>
            <a:ext cx="162763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địa hình chuẩn hóa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234440"/>
            <a:ext cx="199339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234440"/>
            <a:ext cx="1993392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389888"/>
            <a:ext cx="162763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Mặt nạ đất–biển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011680"/>
            <a:ext cx="162763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khác biệt bề mặt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1234440"/>
            <a:ext cx="199339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47488" y="1234440"/>
            <a:ext cx="1993392" cy="6400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1389888"/>
            <a:ext cx="162763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28A2B"/>
                </a:solidFill>
                <a:latin typeface="Arial"/>
              </a:rPr>
              <a:t>Góc thiên đỉnh Mặt Trời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011680"/>
            <a:ext cx="162763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Cosine góc thiên đỉnh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6" y="1234440"/>
            <a:ext cx="199339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51776" y="1234440"/>
            <a:ext cx="1993392" cy="64008"/>
          </a:xfrm>
          <a:prstGeom prst="rect">
            <a:avLst/>
          </a:prstGeom>
          <a:solidFill>
            <a:srgbClr val="2F9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34656" y="1389888"/>
            <a:ext cx="162763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F95DE"/>
                </a:solidFill>
                <a:latin typeface="Arial"/>
              </a:rPr>
              <a:t>Giờ địa phương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2011680"/>
            <a:ext cx="162763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sin/cos chu kỳ ngày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56064" y="1234440"/>
            <a:ext cx="199339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56064" y="1234440"/>
            <a:ext cx="1993392" cy="64008"/>
          </a:xfrm>
          <a:prstGeom prst="rect">
            <a:avLst/>
          </a:prstGeom>
          <a:solidFill>
            <a:srgbClr val="D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38944" y="1389888"/>
            <a:ext cx="162763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D94C4C"/>
                </a:solidFill>
                <a:latin typeface="Arial"/>
              </a:rPr>
              <a:t>Pha trong năm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38944" y="2011680"/>
            <a:ext cx="162763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sin/cos mùa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246120"/>
            <a:ext cx="10881360" cy="19202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584448"/>
            <a:ext cx="10058400" cy="118872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Tạo forcing từ ba pha thời gian trên GPU</a:t>
            </a:r>
          </a:p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Kiểm tra hàm băm SHA-256 và tọa độ của các trường tĩnh</a:t>
            </a:r>
          </a:p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Forcing chỉ đi vào corrector</a:t>
            </a:r>
          </a:p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Số kênh forcing: 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Kiến trúc spherical corrector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1645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Input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164592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220 kênh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463040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E28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572768"/>
            <a:ext cx="1645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Latitude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029968"/>
            <a:ext cx="164592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sin φ, cos 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463040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572768"/>
            <a:ext cx="1645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029968"/>
            <a:ext cx="164592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222 → 84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463040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1572768"/>
            <a:ext cx="1645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SFNO ×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029968"/>
            <a:ext cx="164592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Lưới gốc 361 × 720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463040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572768"/>
            <a:ext cx="1645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Decoder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029968"/>
            <a:ext cx="164592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84 → 71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14016" y="1975104"/>
            <a:ext cx="320040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54296" y="1975104"/>
            <a:ext cx="320040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94576" y="1975104"/>
            <a:ext cx="320040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134856" y="1975104"/>
            <a:ext cx="320040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4360" y="3182112"/>
            <a:ext cx="10972800" cy="22402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538728"/>
            <a:ext cx="10058400" cy="141732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Hệ số lưới bằng 1; corrector trên lưới 361 × 720</a:t>
            </a:r>
          </a:p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Không dùng đệm phẳng, pooling hoặc bilinear interpolation để tăng lưới</a:t>
            </a:r>
          </a:p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Hai kênh latitude features biểu diễn vĩ độ trên lưới cách đều theo góc</a:t>
            </a:r>
          </a:p>
          <a:p>
            <a:pPr>
              <a:spcAft>
                <a:spcPts val="9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Khởi tạo phép chiếu cuối bằng 0; dự báo ban đầu bằng Stage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Luồng dữ liệu đầy đủ của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874519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1691639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x(t)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1691639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71 kênh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188720"/>
            <a:ext cx="246888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298448"/>
            <a:ext cx="228600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SFNO E192/L6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755648"/>
            <a:ext cx="228600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từ Stage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188720"/>
            <a:ext cx="224028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298448"/>
            <a:ext cx="205740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Stage 1 tendency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755648"/>
            <a:ext cx="205740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71 kênh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188720"/>
            <a:ext cx="233172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298448"/>
            <a:ext cx="2148839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Cộng correction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755648"/>
            <a:ext cx="2148839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Tendency 71 kênh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68880" y="1700784"/>
            <a:ext cx="457200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486400" y="1700784"/>
            <a:ext cx="411480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1700784"/>
            <a:ext cx="1005840" cy="0"/>
          </a:xfrm>
          <a:prstGeom prst="line">
            <a:avLst/>
          </a:prstGeom>
          <a:ln w="25400">
            <a:solidFill>
              <a:srgbClr val="1976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2834640"/>
            <a:ext cx="265176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944368"/>
            <a:ext cx="2468879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Recent tendency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01568"/>
            <a:ext cx="2468879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[x(t)−x(t−6h)] / 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97680"/>
            <a:ext cx="2651760" cy="102412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07408"/>
            <a:ext cx="2468879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Forcing và latitude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64608"/>
            <a:ext cx="2468879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7 + 2 kênh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3337560"/>
            <a:ext cx="2926080" cy="109728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59" y="3447288"/>
            <a:ext cx="274320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Concatenate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59" y="3904487"/>
            <a:ext cx="2743200" cy="4754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71 + 71 + 71 + 7 + 2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337560"/>
            <a:ext cx="3474720" cy="109728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447288"/>
            <a:ext cx="3291839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Corrector E84/L4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904487"/>
            <a:ext cx="3291839" cy="4754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222 → 71 kênh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46120" y="3346704"/>
            <a:ext cx="868680" cy="310896"/>
          </a:xfrm>
          <a:prstGeom prst="line">
            <a:avLst/>
          </a:prstGeom>
          <a:ln w="25400">
            <a:solidFill>
              <a:srgbClr val="2E8B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246120" y="4114800"/>
            <a:ext cx="868680" cy="694944"/>
          </a:xfrm>
          <a:prstGeom prst="line">
            <a:avLst/>
          </a:prstGeom>
          <a:ln w="25400">
            <a:solidFill>
              <a:srgbClr val="2E8B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81328" y="2267712"/>
            <a:ext cx="0" cy="292608"/>
          </a:xfrm>
          <a:prstGeom prst="line">
            <a:avLst/>
          </a:prstGeom>
          <a:ln w="25400">
            <a:solidFill>
              <a:srgbClr val="2E8B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81328" y="2560320"/>
            <a:ext cx="4142232" cy="0"/>
          </a:xfrm>
          <a:prstGeom prst="line">
            <a:avLst/>
          </a:prstGeom>
          <a:ln w="25400">
            <a:solidFill>
              <a:srgbClr val="2E8B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623560" y="2560320"/>
            <a:ext cx="0" cy="731520"/>
          </a:xfrm>
          <a:prstGeom prst="line">
            <a:avLst/>
          </a:prstGeom>
          <a:ln w="25400">
            <a:solidFill>
              <a:srgbClr val="2E8B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068312" y="2267712"/>
            <a:ext cx="0" cy="502920"/>
          </a:xfrm>
          <a:prstGeom prst="line">
            <a:avLst/>
          </a:prstGeom>
          <a:ln w="25400">
            <a:solidFill>
              <a:srgbClr val="2E8B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217920" y="2770632"/>
            <a:ext cx="850392" cy="0"/>
          </a:xfrm>
          <a:prstGeom prst="line">
            <a:avLst/>
          </a:prstGeom>
          <a:ln w="25400">
            <a:solidFill>
              <a:srgbClr val="2E8B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217920" y="2770632"/>
            <a:ext cx="0" cy="521208"/>
          </a:xfrm>
          <a:prstGeom prst="line">
            <a:avLst/>
          </a:prstGeom>
          <a:ln w="25400">
            <a:solidFill>
              <a:srgbClr val="2E8B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78040" y="2450592"/>
            <a:ext cx="17830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773"/>
                </a:solidFill>
                <a:latin typeface="Arial"/>
              </a:rPr>
              <a:t>stop-gradient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0" y="3886200"/>
            <a:ext cx="960120" cy="0"/>
          </a:xfrm>
          <a:prstGeom prst="line">
            <a:avLst/>
          </a:prstGeom>
          <a:ln w="25400">
            <a:solidFill>
              <a:srgbClr val="2E8B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332720" y="2267712"/>
            <a:ext cx="0" cy="1024128"/>
          </a:xfrm>
          <a:prstGeom prst="line">
            <a:avLst/>
          </a:prstGeom>
          <a:ln w="25400">
            <a:solidFill>
              <a:srgbClr val="2E8B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5879592"/>
            <a:ext cx="102412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0384F"/>
                </a:solidFill>
                <a:latin typeface="Arial"/>
              </a:rPr>
              <a:t>History input có 142 kênh; backbone nhận 71; corrector nhận 222.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Transfer learning và khởi tạo corrector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40680" cy="431596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5448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rial"/>
              </a:rPr>
              <a:t>Sao chép chính xác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03704"/>
            <a:ext cx="4663440" cy="3310127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Toàn bộ tensor trọng số của SFNO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Tendency scale của 71 kênh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Kiểm tra kích thước tensor và cấu hình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Khởi tạo lại trạng thái bộ tối ưu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25880"/>
            <a:ext cx="5440680" cy="431596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55448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Arial"/>
              </a:rPr>
              <a:t>Khởi tạo đầu ra bằng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203704"/>
            <a:ext cx="4663440" cy="3310127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Trọng số decoder corrector bằng 0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Cφ(·) = 0 trước bước cập nhật trọng số đầu tiên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Stage 2 bắt đầu đúng bằng Stage 1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Correction chưa tác động đến dự báo khi khởi tạo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212080"/>
            <a:ext cx="9966960" cy="603504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404104"/>
            <a:ext cx="94183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E8B57"/>
                </a:solidFill>
                <a:latin typeface="Arial"/>
              </a:rPr>
              <a:t>Corrector học residual error của dự báo Stage 1.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Fine-tuning theo hai giai đoạn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993392"/>
            <a:ext cx="9966960" cy="91440"/>
          </a:xfrm>
          <a:prstGeom prst="rect">
            <a:avLst/>
          </a:prstGeom>
          <a:solidFill>
            <a:srgbClr val="A9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719072"/>
            <a:ext cx="566928" cy="56692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487168"/>
            <a:ext cx="13258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976D2"/>
                </a:solidFill>
                <a:latin typeface="Arial"/>
              </a:rPr>
              <a:t>Khởi tạo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39" y="2816352"/>
            <a:ext cx="1600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20384F"/>
                </a:solidFill>
                <a:latin typeface="Arial"/>
              </a:rPr>
              <a:t>Sao chép từ Stage 1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1719072"/>
            <a:ext cx="566928" cy="56692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487168"/>
            <a:ext cx="13258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976D2"/>
                </a:solidFill>
                <a:latin typeface="Arial"/>
              </a:rPr>
              <a:t>Epoch 1–2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816352"/>
            <a:ext cx="1600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20384F"/>
                </a:solidFill>
                <a:latin typeface="Arial"/>
              </a:rPr>
              <a:t>Chỉ học corrector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1719072"/>
            <a:ext cx="566928" cy="56692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2487168"/>
            <a:ext cx="13258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E8B57"/>
                </a:solidFill>
                <a:latin typeface="Arial"/>
              </a:rPr>
              <a:t>Epoch 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816352"/>
            <a:ext cx="1600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20384F"/>
                </a:solidFill>
                <a:latin typeface="Arial"/>
              </a:rPr>
              <a:t>Corrector + backbone tail</a:t>
            </a:r>
          </a:p>
        </p:txBody>
      </p:sp>
      <p:sp>
        <p:nvSpPr>
          <p:cNvPr id="18" name="Oval 17"/>
          <p:cNvSpPr/>
          <p:nvPr/>
        </p:nvSpPr>
        <p:spPr>
          <a:xfrm>
            <a:off x="10469880" y="1719072"/>
            <a:ext cx="566928" cy="56692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2487168"/>
            <a:ext cx="13258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E8B57"/>
                </a:solidFill>
                <a:latin typeface="Arial"/>
              </a:rPr>
              <a:t>Được chọn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9" y="2816352"/>
            <a:ext cx="1600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20384F"/>
                </a:solidFill>
                <a:latin typeface="Arial"/>
              </a:rPr>
              <a:t>epoch 4 (index 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794760"/>
            <a:ext cx="3154680" cy="12070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794760"/>
            <a:ext cx="3154680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950208"/>
            <a:ext cx="2788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Corrector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72000"/>
            <a:ext cx="2788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LR = 1×10⁻⁴ · WD = 1×10⁻⁴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8848" y="3794760"/>
            <a:ext cx="3154680" cy="12070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98848" y="3794760"/>
            <a:ext cx="3154680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3950208"/>
            <a:ext cx="2788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Backbone tail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572000"/>
            <a:ext cx="2788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LR = 1×10⁻⁵ · WD =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4152" y="3794760"/>
            <a:ext cx="3154680" cy="12070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74152" y="3794760"/>
            <a:ext cx="3154680" cy="6400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3950208"/>
            <a:ext cx="27889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28A2B"/>
                </a:solidFill>
                <a:latin typeface="Arial"/>
              </a:rPr>
              <a:t>Phần được mở khóa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4572000"/>
            <a:ext cx="2788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Khối cuối và decoder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394960"/>
            <a:ext cx="987552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Backbone tail dùng learning rate bằng 1/10 corrector để hạn chế thay đổi trọng số đã học.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Cấu hình huấn luyện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0972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0972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1887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History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6916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1 trạng thái trước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0972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097280"/>
            <a:ext cx="64008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1887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Corrector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6916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rial"/>
              </a:rPr>
              <a:t>E84 / L4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0972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0972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Kích thước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10972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10972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1887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Corrector learning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16916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1 × 10⁻⁴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31546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" y="3154680"/>
            <a:ext cx="64008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2461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Backbone learning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37490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rial"/>
              </a:rPr>
              <a:t>1 × 10⁻⁵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31546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3154680"/>
            <a:ext cx="64008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32461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Chỉ học corrector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2" y="37490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rial"/>
              </a:rPr>
              <a:t>2 epoch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31546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3154680"/>
            <a:ext cx="64008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Số khối mở khóa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7490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rial"/>
              </a:rPr>
              <a:t>1 + decoder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89136" y="315468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89136" y="3154680"/>
            <a:ext cx="64008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53728" y="3246120"/>
            <a:ext cx="224942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Rollout steps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3749040"/>
            <a:ext cx="2249424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K =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321808"/>
            <a:ext cx="10881360" cy="493776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468112"/>
            <a:ext cx="104241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2E8B57"/>
                </a:solidFill>
                <a:latin typeface="Arial"/>
              </a:rPr>
              <a:t>Checkpoint được chọn: epoch 4 (index 3) · 78.892 bước cập nhật · validation loss 0,125384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4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786658" cy="6583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74519"/>
            <a:ext cx="1463040" cy="54864"/>
          </a:xfrm>
          <a:prstGeom prst="rect">
            <a:avLst/>
          </a:prstGeom>
          <a:solidFill>
            <a:srgbClr val="2F9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29260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95DE"/>
                </a:solidFill>
                <a:latin typeface="Arial"/>
              </a:rPr>
              <a:t>PHẦN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60704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Kết quả và thảo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90672"/>
            <a:ext cx="969264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D8E7F4"/>
                </a:solidFill>
                <a:latin typeface="Arial"/>
              </a:rPr>
              <a:t>Đối chiếu loss, sai số của 9 biến ưu tiên và kết quả trên cả 71 kênh.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126480"/>
            <a:ext cx="6858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F95DE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So sánh kết quả tổng hợp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aggre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31744"/>
            <a:ext cx="7498079" cy="40915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024128"/>
            <a:ext cx="3063240" cy="9601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5320" y="1024128"/>
            <a:ext cx="64008" cy="9601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1115568"/>
            <a:ext cx="277063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Validation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499616"/>
            <a:ext cx="277063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Arial"/>
              </a:rPr>
              <a:t>−6,74%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212848"/>
            <a:ext cx="3063240" cy="9601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2212848"/>
            <a:ext cx="64008" cy="9601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2304288"/>
            <a:ext cx="277063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Objective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688336"/>
            <a:ext cx="277063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Arial"/>
              </a:rPr>
              <a:t>−3,49%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401568"/>
            <a:ext cx="3063240" cy="9601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3401568"/>
            <a:ext cx="64008" cy="9601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3493008"/>
            <a:ext cx="277063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RMSE chuẩn hóa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3877056"/>
            <a:ext cx="277063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Arial"/>
              </a:rPr>
              <a:t>−1,48%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590288"/>
            <a:ext cx="3063240" cy="96012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4590288"/>
            <a:ext cx="64008" cy="9601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681728"/>
            <a:ext cx="277063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ACC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5065776"/>
            <a:ext cx="277063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rial"/>
              </a:rPr>
              <a:t>+0,000536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05272"/>
            <a:ext cx="105156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Validation loss giảm 6,74%. Mức cải thiện RMSE khác nhau giữa các kênh.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82512"/>
            <a:ext cx="106070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B6773"/>
                </a:solidFill>
                <a:latin typeface="Arial"/>
              </a:rPr>
              <a:t>Nguồn: stage_smoke_tests · lead 6 h · 12 mẫu/stage · chưa xác minh khởi tạo ghép cặp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RMSE trên 9 biến ưu tiên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prio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84333"/>
            <a:ext cx="7726679" cy="433271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22792" y="1188720"/>
            <a:ext cx="2852928" cy="4069080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517904"/>
            <a:ext cx="22402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Arial"/>
              </a:rPr>
              <a:t>Quan sát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057400"/>
            <a:ext cx="2148840" cy="237744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9/9 biến đều giảm RMSE</a:t>
            </a:r>
          </a:p>
          <a:p>
            <a:pPr>
              <a:spcAft>
                <a:spcPts val="900"/>
              </a:spcAft>
              <a:defRPr sz="13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Q850 cải thiện ≈ 4,1%</a:t>
            </a:r>
          </a:p>
          <a:p>
            <a:pPr>
              <a:spcAft>
                <a:spcPts val="900"/>
              </a:spcAft>
              <a:defRPr sz="13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T2M cải thiện ≈ 3,7%</a:t>
            </a:r>
          </a:p>
          <a:p>
            <a:pPr>
              <a:spcAft>
                <a:spcPts val="900"/>
              </a:spcAft>
              <a:defRPr sz="13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RMSE của các biến gió giảm khoảng 2–3%</a:t>
            </a:r>
          </a:p>
          <a:p>
            <a:pPr>
              <a:spcAft>
                <a:spcPts val="900"/>
              </a:spcAft>
              <a:defRPr sz="13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RMSE của MSLP giảm khoảng 0,2%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106070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B6773"/>
                </a:solidFill>
                <a:latin typeface="Arial"/>
              </a:rPr>
              <a:t>Nguồn: stage_smoke_tests · lead 6 h · 12 mẫu/stage · chưa xác minh khởi tạo ghép cặp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Phân bố cải thiện trên 71 kênh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all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2533"/>
            <a:ext cx="7818120" cy="40323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13648" y="1325880"/>
            <a:ext cx="2834640" cy="128016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13648" y="1325880"/>
            <a:ext cx="64008" cy="1280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417320"/>
            <a:ext cx="254203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Kênh có RMSE giảm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920240"/>
            <a:ext cx="254203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rial"/>
              </a:rPr>
              <a:t>46 / 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13432"/>
            <a:ext cx="2542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rial"/>
              </a:rPr>
              <a:t>RMSE Stage 2 thấp hơn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13648" y="2788920"/>
            <a:ext cx="2834640" cy="128016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13648" y="2788920"/>
            <a:ext cx="64008" cy="1280160"/>
          </a:xfrm>
          <a:prstGeom prst="rect">
            <a:avLst/>
          </a:prstGeom>
          <a:solidFill>
            <a:srgbClr val="D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880360"/>
            <a:ext cx="254203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Kênh có RMSE tăng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383279"/>
            <a:ext cx="254203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D94C4C"/>
                </a:solidFill>
                <a:latin typeface="Arial"/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776471"/>
            <a:ext cx="2542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rial"/>
              </a:rPr>
              <a:t>Đối chiếu theo biến và mức áp suất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3648" y="4251960"/>
            <a:ext cx="2834640" cy="128016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13648" y="4251960"/>
            <a:ext cx="64008" cy="12801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4343400"/>
            <a:ext cx="254203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rial"/>
              </a:rPr>
              <a:t>Mức giảm trung vị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846320"/>
            <a:ext cx="254203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rial"/>
              </a:rPr>
              <a:t>0.69%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239512"/>
            <a:ext cx="2542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rial"/>
              </a:rPr>
              <a:t>Mức giảm RMSE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82512"/>
            <a:ext cx="106070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B6773"/>
                </a:solidFill>
                <a:latin typeface="Arial"/>
              </a:rPr>
              <a:t>Nguồn: stage_smoke_tests · lead 6 h · 12 mẫu/stage · chưa xác minh khởi tạo ghép cặp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Cải thiện theo nhóm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42305"/>
            <a:ext cx="7909560" cy="41984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96528" y="1234440"/>
            <a:ext cx="2651760" cy="406908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9992" y="1554480"/>
            <a:ext cx="2057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976D2"/>
                </a:solidFill>
                <a:latin typeface="Arial"/>
              </a:rPr>
              <a:t>Theo nhóm biến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5984" y="1965960"/>
            <a:ext cx="2084831" cy="283464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2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Biến bề mặt: +1,72%</a:t>
            </a:r>
          </a:p>
          <a:p>
            <a:pPr>
              <a:spcAft>
                <a:spcPts val="12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Độ ẩm riêng: +2,49%</a:t>
            </a:r>
          </a:p>
          <a:p>
            <a:pPr>
              <a:spcAft>
                <a:spcPts val="12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U/V và T: trung vị âm</a:t>
            </a:r>
          </a:p>
          <a:p>
            <a:pPr>
              <a:spcAft>
                <a:spcPts val="12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Mức cải thiện thay đổi theo áp suất</a:t>
            </a:r>
          </a:p>
          <a:p>
            <a:pPr>
              <a:spcAft>
                <a:spcPts val="1200"/>
              </a:spcAft>
              <a:defRPr sz="145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Chưa tách riêng ảnh hưởng của từng thành phần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106070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B6773"/>
                </a:solidFill>
                <a:latin typeface="Arial"/>
              </a:rPr>
              <a:t>Nguồn: stage_smoke_tests · lead 6 h · 12 mẫu/stage · chưa xác minh khởi tạo ghép cặp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ACC và variance ratio không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acc_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19" y="987552"/>
            <a:ext cx="9378137" cy="4343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5486400"/>
            <a:ext cx="10789920" cy="475488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32704"/>
            <a:ext cx="10287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20384F"/>
                </a:solidFill>
                <a:latin typeface="Arial"/>
              </a:rPr>
              <a:t>Variance ratio không tiến gần 1 ở mọi biến. RMSE giảm chưa đủ để kết luận biên độ không gian được phục hồi.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82512"/>
            <a:ext cx="106070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B6773"/>
                </a:solidFill>
                <a:latin typeface="Arial"/>
              </a:rPr>
              <a:t>Nguồn: stage_smoke_tests · lead 6 h · 12 mẫu/stage · chưa xác minh khởi tạo ghép cặp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Sai lệch trung bình theo biến khí tượng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bias_phys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367" y="1005840"/>
            <a:ext cx="8782785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61888"/>
            <a:ext cx="106070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Bias vật lý tại 6 giờ · dấu biểu thị lệch hệ thống; mỗi panel có đơn vị riêng.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106070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B6773"/>
                </a:solidFill>
                <a:latin typeface="Arial"/>
              </a:rPr>
              <a:t>Nguồn: stage_smoke_tests · lead 6 h · 12 mẫu/stage · chưa xác minh khởi tạo ghép cặp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Các giả thuyết giải thích mức giảm sai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51560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280160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472184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252728"/>
            <a:ext cx="3840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Residual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73352"/>
            <a:ext cx="3840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773"/>
                </a:solidFill>
                <a:latin typeface="Arial"/>
              </a:rPr>
              <a:t>Học phần lỗi còn lại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051560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3368" y="1280160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472184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252728"/>
            <a:ext cx="3840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Khởi tạo từ Stage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673352"/>
            <a:ext cx="3840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773"/>
                </a:solidFill>
                <a:latin typeface="Arial"/>
              </a:rPr>
              <a:t>Bắt đầu từ nghiệm tốt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624328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2852928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E28A2B"/>
          </a:solidFill>
          <a:ln w="12700">
            <a:solidFill>
              <a:srgbClr val="E28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04495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825496"/>
            <a:ext cx="3840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History và tendency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246120"/>
            <a:ext cx="3840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773"/>
                </a:solidFill>
                <a:latin typeface="Arial"/>
              </a:rPr>
              <a:t>Quan sát hướng chuyển động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2624328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73368" y="2852928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304495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825496"/>
            <a:ext cx="3840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Corrector trên lưới gốc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246120"/>
            <a:ext cx="3840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773"/>
                </a:solidFill>
                <a:latin typeface="Arial"/>
              </a:rPr>
              <a:t>Bổ sung khả năng biểu diễn trên lưới gốc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197096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8" y="4425696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617720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398264"/>
            <a:ext cx="3840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Forcing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818888"/>
            <a:ext cx="3840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773"/>
                </a:solidFill>
                <a:latin typeface="Arial"/>
              </a:rPr>
              <a:t>Địa hình + thời gian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4197096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73368" y="4425696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E28A2B"/>
          </a:solidFill>
          <a:ln w="12700">
            <a:solidFill>
              <a:srgbClr val="E28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3096" y="4617720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398264"/>
            <a:ext cx="3840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Progressive unfreezing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818888"/>
            <a:ext cx="3840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B6773"/>
                </a:solidFill>
                <a:latin typeface="Arial"/>
              </a:rPr>
              <a:t>Thích nghi có kiểm soát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870448"/>
            <a:ext cx="102412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D94C4C"/>
                </a:solidFill>
                <a:latin typeface="Arial"/>
              </a:rPr>
              <a:t>Chưa có ablation study để định lượng đóng góp của từng cơ chế.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Giới hạn của kết quả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97280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097280"/>
            <a:ext cx="3456432" cy="6400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5272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28A2B"/>
                </a:solidFill>
                <a:latin typeface="Arial"/>
              </a:rPr>
              <a:t>Đóng góp thành phần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74519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Chưa có ablation study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097280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097280"/>
            <a:ext cx="3456432" cy="6400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25272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28A2B"/>
                </a:solidFill>
                <a:latin typeface="Arial"/>
              </a:rPr>
              <a:t>Quy mô đánh giá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74519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12 mẫu/stage; chưa xác minh khởi tạo ghép cặp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097280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097280"/>
            <a:ext cx="3456432" cy="6400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25272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28A2B"/>
                </a:solidFill>
                <a:latin typeface="Arial"/>
              </a:rPr>
              <a:t>Thời hạn dự báo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874519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K=1 chưa phản ánh dự báo 3–7 ngày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10128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FF0F0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10128"/>
            <a:ext cx="3456432" cy="64008"/>
          </a:xfrm>
          <a:prstGeom prst="rect">
            <a:avLst/>
          </a:prstGeom>
          <a:solidFill>
            <a:srgbClr val="D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465576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D94C4C"/>
                </a:solidFill>
                <a:latin typeface="Arial"/>
              </a:rPr>
              <a:t>Phân bố mẫu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087368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Số mẫu cực trị ít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310128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FF0F0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3310128"/>
            <a:ext cx="3456432" cy="64008"/>
          </a:xfrm>
          <a:prstGeom prst="rect">
            <a:avLst/>
          </a:prstGeom>
          <a:solidFill>
            <a:srgbClr val="D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465576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D94C4C"/>
                </a:solidFill>
                <a:latin typeface="Arial"/>
              </a:rPr>
              <a:t>Độ phân giải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087368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Lưới 0,5° và ngưỡng cắt phổ làm mất chi tiết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3310128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FF0F0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56448" y="3310128"/>
            <a:ext cx="3456432" cy="64008"/>
          </a:xfrm>
          <a:prstGeom prst="rect">
            <a:avLst/>
          </a:prstGeom>
          <a:solidFill>
            <a:srgbClr val="D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3465576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D94C4C"/>
                </a:solidFill>
                <a:latin typeface="Arial"/>
              </a:rPr>
              <a:t>Thước đo sai số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087368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MSE trung bình có thể che sai số ở cực trị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Các ablation study cần bổ 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24128"/>
            <a:ext cx="10744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115568"/>
            <a:ext cx="566928" cy="438912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252728"/>
            <a:ext cx="420624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179576"/>
            <a:ext cx="3246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0384F"/>
                </a:solidFill>
                <a:latin typeface="Arial"/>
              </a:rPr>
              <a:t>Bỏ forcing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179576"/>
            <a:ext cx="5715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773"/>
                </a:solidFill>
                <a:latin typeface="Arial"/>
              </a:rPr>
              <a:t>Đánh giá ảnh hưởng của forcing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56232"/>
            <a:ext cx="10744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1947672"/>
            <a:ext cx="566928" cy="438912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084832"/>
            <a:ext cx="420624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011680"/>
            <a:ext cx="3246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0384F"/>
                </a:solidFill>
                <a:latin typeface="Arial"/>
              </a:rPr>
              <a:t>Bỏ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011680"/>
            <a:ext cx="5715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773"/>
                </a:solidFill>
                <a:latin typeface="Arial"/>
              </a:rPr>
              <a:t>Đánh giá ảnh hưởng của tendency gần nhất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688336"/>
            <a:ext cx="10744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2779776"/>
            <a:ext cx="566928" cy="438912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2916936"/>
            <a:ext cx="420624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843784"/>
            <a:ext cx="3246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0384F"/>
                </a:solidFill>
                <a:latin typeface="Arial"/>
              </a:rPr>
              <a:t>Corrector với scale_factor=2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843784"/>
            <a:ext cx="5715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773"/>
                </a:solidFill>
                <a:latin typeface="Arial"/>
              </a:rPr>
              <a:t>Đánh giá ảnh hưởng của lưới gốc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20440"/>
            <a:ext cx="10744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3611880"/>
            <a:ext cx="566928" cy="438912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749039"/>
            <a:ext cx="420624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675888"/>
            <a:ext cx="3246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0384F"/>
                </a:solidFill>
                <a:latin typeface="Arial"/>
              </a:rPr>
              <a:t>Giữ nguyên toàn bộ SFNO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675888"/>
            <a:ext cx="5715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773"/>
                </a:solidFill>
                <a:latin typeface="Arial"/>
              </a:rPr>
              <a:t>Đánh giá ảnh hưởng của việc mở khóa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52544"/>
            <a:ext cx="10744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4443983"/>
            <a:ext cx="566928" cy="438912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4581144"/>
            <a:ext cx="420624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507992"/>
            <a:ext cx="3246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0384F"/>
                </a:solidFill>
                <a:latin typeface="Arial"/>
              </a:rPr>
              <a:t>Thay đổi số mode phổ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507992"/>
            <a:ext cx="5715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773"/>
                </a:solidFill>
                <a:latin typeface="Arial"/>
              </a:rPr>
              <a:t>Đối chiếu chi phí tính toán và sai số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184648"/>
            <a:ext cx="10744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8680" y="5276088"/>
            <a:ext cx="566928" cy="438912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5413248"/>
            <a:ext cx="420624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340096"/>
            <a:ext cx="3246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0384F"/>
                </a:solidFill>
                <a:latin typeface="Arial"/>
              </a:rPr>
              <a:t>Extreme-aware loss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5340096"/>
            <a:ext cx="5715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773"/>
                </a:solidFill>
                <a:latin typeface="Arial"/>
              </a:rPr>
              <a:t>Đánh giá sai số tại các cực trị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Hướng nghiên cứu về loss function và lấy mẫu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40680" cy="431596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5448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rial"/>
              </a:rPr>
              <a:t>Loss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03704"/>
            <a:ext cx="4663440" cy="3310127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MSE kết hợp spectral loss theo dải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Gradient loss và loss cho front khí quyển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Quantile loss hoặc tăng trọng số cực trị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Multi-scale wavelet loss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Probabilistic loss và calibration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25880"/>
            <a:ext cx="5440680" cy="431596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554480"/>
            <a:ext cx="482803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Arial"/>
              </a:rPr>
              <a:t>Sampling và curriculum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203704"/>
            <a:ext cx="4663440" cy="3310127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Tăng số cửa sổ chứa xoáy, front và cực trị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Tăng dần rollout steps khi huấn luyện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Lấy mẫu lại các trường hợp sai số cao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Cân bằng các dạng thời tiết và mùa</a:t>
            </a:r>
          </a:p>
          <a:p>
            <a:pPr>
              <a:spcAft>
                <a:spcPts val="1500"/>
              </a:spcAft>
              <a:defRPr sz="18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Bổ sung đánh giá theo sự kiện thời tiết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13248"/>
            <a:ext cx="10241280" cy="493776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559552"/>
            <a:ext cx="97840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2E8B57"/>
                </a:solidFill>
                <a:latin typeface="Arial"/>
              </a:rPr>
              <a:t>Các loss term bổ sung cần được đánh giá trên cực trị và dải tần cao.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Hướng nghiên cứu về 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97280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097280"/>
            <a:ext cx="3456432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5272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Multi-resolution neural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74519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SFNO phổ thấp kết hợp nhánh tần số cao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097280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097280"/>
            <a:ext cx="3456432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25272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Wavelet neural operator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74519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Biểu diễn đồng thời vị trí và thang không gian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097280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097280"/>
            <a:ext cx="3456432" cy="64008"/>
          </a:xfrm>
          <a:prstGeom prst="rect">
            <a:avLst/>
          </a:prstGeom>
          <a:solidFill>
            <a:srgbClr val="E2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252728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28A2B"/>
                </a:solidFill>
                <a:latin typeface="Arial"/>
              </a:rPr>
              <a:t>Local–global hybrid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874519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SFNO kết hợp convolution hoặc local attention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10128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10128"/>
            <a:ext cx="3456432" cy="64008"/>
          </a:xfrm>
          <a:prstGeom prst="rect">
            <a:avLst/>
          </a:prstGeom>
          <a:solidFill>
            <a:srgbClr val="2F9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465576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F95DE"/>
                </a:solidFill>
                <a:latin typeface="Arial"/>
              </a:rPr>
              <a:t>Adaptive spectral gating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087368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Học mode cần giữ cho từng biến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310128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3310128"/>
            <a:ext cx="3456432" cy="64008"/>
          </a:xfrm>
          <a:prstGeom prst="rect">
            <a:avLst/>
          </a:prstGeom>
          <a:solidFill>
            <a:srgbClr val="D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465576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D94C4C"/>
                </a:solidFill>
                <a:latin typeface="Arial"/>
              </a:rPr>
              <a:t>Event-conditioned expert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087368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Kết hợp các mô hình cho từng dạng thời tiết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3310128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56448" y="3310128"/>
            <a:ext cx="3456432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3465576"/>
            <a:ext cx="3090672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Probabilistic decoder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087368"/>
            <a:ext cx="3090672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Dự báo tổ hợp và độ bất định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Bài học rút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51560"/>
            <a:ext cx="5303520" cy="1225296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307592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976D2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325880"/>
            <a:ext cx="3886200" cy="51206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Cần phân biệt dao động tần số cao với nhiễu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051560"/>
            <a:ext cx="5303520" cy="1225296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1307592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976D2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1325880"/>
            <a:ext cx="3886200" cy="51206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Đánh giá cực trị cần thước đo riêng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24328"/>
            <a:ext cx="5303520" cy="1225296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880360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976D2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2898648"/>
            <a:ext cx="3886200" cy="51206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Ablation study giúp kiểm tra giả thuyết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624328"/>
            <a:ext cx="5303520" cy="1225296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2880360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2E8B57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2898648"/>
            <a:ext cx="3886200" cy="51206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Cấu hình dữ liệu phải nhất quán giữa các lần chạy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197096"/>
            <a:ext cx="5303520" cy="1225296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453128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2E8B57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471416"/>
            <a:ext cx="3886200" cy="51206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Transfer learning giảm chi phí huấn luyện lại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4197096"/>
            <a:ext cx="5303520" cy="1225296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4453128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2E8B57"/>
                </a:solidFill>
                <a:latin typeface="Arial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4471416"/>
            <a:ext cx="3886200" cy="51206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rial"/>
              </a:rPr>
              <a:t>Chọn thước đo theo mục tiêu dự báo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Tài liệu và dữ liệu phục vụ tái lập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51560"/>
            <a:ext cx="5212080" cy="117043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051560"/>
            <a:ext cx="5212080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07007"/>
            <a:ext cx="48463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checkpoints/stage1/best.pt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4846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Stage 1 validation-best checkpoint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051560"/>
            <a:ext cx="5212080" cy="117043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3912" y="1051560"/>
            <a:ext cx="5212080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207007"/>
            <a:ext cx="48463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checkpoints/stage2/best.pt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828800"/>
            <a:ext cx="4846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Checkpoint cuối được chọn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560320"/>
            <a:ext cx="5212080" cy="117043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560320"/>
            <a:ext cx="5212080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15768"/>
            <a:ext cx="48463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data/stats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37560"/>
            <a:ext cx="4846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Thống kê chuẩn hóa từ tập huấn luyện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2560320"/>
            <a:ext cx="5212080" cy="117043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912" y="2560320"/>
            <a:ext cx="5212080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2715768"/>
            <a:ext cx="48463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eval/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337560"/>
            <a:ext cx="4846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Mã đánh giá tháng 7/2020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069079"/>
            <a:ext cx="5212080" cy="117043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069079"/>
            <a:ext cx="5212080" cy="640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24527"/>
            <a:ext cx="48463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Arial"/>
              </a:rPr>
              <a:t>results/stage_smoke_tests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46319"/>
            <a:ext cx="4846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Bảng kết quả của 71 kênh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3912" y="4069079"/>
            <a:ext cx="5212080" cy="117043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3912" y="4069079"/>
            <a:ext cx="5212080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4224527"/>
            <a:ext cx="484632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Arial"/>
              </a:rPr>
              <a:t>MANIFEST.sha256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4846319"/>
            <a:ext cx="4846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rial"/>
              </a:rPr>
              <a:t>Hàm băm kiểm tra các tệp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733288"/>
            <a:ext cx="100584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E8B57"/>
                </a:solidFill>
                <a:latin typeface="Arial"/>
              </a:rPr>
              <a:t>Submission audit: passed · Pyright: 0 errors / 0 warnings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024128"/>
            <a:ext cx="5440680" cy="5166360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12700"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53312"/>
            <a:ext cx="22860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976D2"/>
                </a:solidFill>
                <a:latin typeface="Arial"/>
              </a:rPr>
              <a:t>Kết quả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4572000" cy="278892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Stage 1 cung cấp mô hình cơ sở SFNO</a:t>
            </a:r>
          </a:p>
          <a:p>
            <a:pPr>
              <a:spcAft>
                <a:spcPts val="11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Stage 2 giảm validation loss 6,74%</a:t>
            </a:r>
          </a:p>
          <a:p>
            <a:pPr>
              <a:spcAft>
                <a:spcPts val="11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9/9 biến ưu tiên giảm RMSE</a:t>
            </a:r>
          </a:p>
          <a:p>
            <a:pPr>
              <a:spcAft>
                <a:spcPts val="11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Objective loss tổng hợp giảm ở Stage 2</a:t>
            </a:r>
          </a:p>
          <a:p>
            <a:pPr>
              <a:spcAft>
                <a:spcPts val="11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Lưu trọng số và mã đánh giá để tái lập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024128"/>
            <a:ext cx="5440680" cy="5166360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353312"/>
            <a:ext cx="28346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2E8B57"/>
                </a:solidFill>
                <a:latin typeface="Arial"/>
              </a:rPr>
              <a:t>Phạm vi kết luận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901952"/>
            <a:ext cx="4572000" cy="278892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RMSE chuẩn hóa giảm 1,48% trong phép kiểm thử</a:t>
            </a:r>
          </a:p>
          <a:p>
            <a:pPr>
              <a:spcAft>
                <a:spcPts val="11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Chưa đánh giá riêng các sự kiện cực đoan</a:t>
            </a:r>
          </a:p>
          <a:p>
            <a:pPr>
              <a:spcAft>
                <a:spcPts val="11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Ngưỡng cắt phổ giới hạn cấu trúc được biểu diễn</a:t>
            </a:r>
          </a:p>
          <a:p>
            <a:pPr>
              <a:spcAft>
                <a:spcPts val="11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K=1 chưa xác nhận độ chính xác dài hạn</a:t>
            </a:r>
          </a:p>
          <a:p>
            <a:pPr>
              <a:spcAft>
                <a:spcPts val="1100"/>
              </a:spcAft>
              <a:defRPr sz="1500">
                <a:solidFill>
                  <a:srgbClr val="20384F"/>
                </a:solidFill>
                <a:latin typeface="Arial"/>
              </a:defRPr>
            </a:pPr>
            <a:r>
              <a:rPr>
                <a:latin typeface="Arial"/>
              </a:rPr>
              <a:t>•  Cần bổ sung đánh giá dải tần cao và sai số cực trị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806440"/>
            <a:ext cx="100584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rial"/>
              </a:rPr>
              <a:t>Checkpoint Stage 2 được chọn cho báo cáo. Đánh giá dài hạn và các ablation study còn cần bổ sung.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4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928694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00600" y="2011680"/>
            <a:ext cx="2560320" cy="54864"/>
          </a:xfrm>
          <a:prstGeom prst="rect">
            <a:avLst/>
          </a:prstGeom>
          <a:solidFill>
            <a:srgbClr val="2F9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423160"/>
            <a:ext cx="101498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CẢM ƠN THẦY/CÔ VÀ CÁC BẠN ĐÃ THEO DÕI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3429000"/>
            <a:ext cx="32004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2F95DE"/>
                </a:solidFill>
                <a:latin typeface="Arial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4754880"/>
            <a:ext cx="6492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D8E7F4"/>
                </a:solidFill>
                <a:latin typeface="Arial"/>
              </a:rPr>
              <a:t>NeuralAtmosphereOperator · Stage 1 &amp; Stage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179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F95DE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Stage 1 — training và validation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stage1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80" y="1005840"/>
            <a:ext cx="10387559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61888"/>
            <a:ext cx="106070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25 epoch; chọn epoch 25 (chỉ số lưu: 24). Training loss: 0,465965 → 0,124181; xác thực: 0,315914 → 0,134443.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Stage 2 — training và validation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stage2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80" y="1005840"/>
            <a:ext cx="10387559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61888"/>
            <a:ext cx="106070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4 epoch. Epoch 1–2 học corrector; epoch 3–4 mở backbone tail. Validation loss thấp nhất: 0,125384.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Độ ổn định gradient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gradient_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64460"/>
            <a:ext cx="11064240" cy="43747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61888"/>
            <a:ext cx="106070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Nguồn: history.csv. Chuẩn gradient trước giới hạn; ngưỡng 1,0. Không ghi nhận chuẩn gradient vô hạn hoặc NaN.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24439" cy="438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713232"/>
            <a:ext cx="11594592" cy="411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82880"/>
            <a:ext cx="9646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0384F"/>
                </a:solidFill>
                <a:latin typeface="Arial"/>
              </a:rPr>
              <a:t>Sai số theo biến và mức áp suất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25603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rial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754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20" b="0">
                <a:solidFill>
                  <a:srgbClr val="8794A1"/>
                </a:solidFill>
                <a:latin typeface="Arial"/>
              </a:rPr>
              <a:t>Lương Nguyễn Thành Hưng · NeuralAtmosphereOperator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2588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>
                <a:solidFill>
                  <a:srgbClr val="8794A1"/>
                </a:solidFill>
                <a:latin typeface="Arial"/>
              </a:rPr>
              <a:t>Stage 1 → Stage 2</a:t>
            </a:r>
          </a:p>
        </p:txBody>
      </p:sp>
      <p:pic>
        <p:nvPicPr>
          <p:cNvPr id="8" name="Picture 7" descr="pressure_level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9023"/>
            <a:ext cx="11064240" cy="42856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61888"/>
            <a:ext cx="106070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6773"/>
                </a:solidFill>
                <a:latin typeface="Arial"/>
              </a:rPr>
              <a:t>65 kênh theo mức áp suất; 6 kênh bề mặt được đánh giá riêng. Giá trị dương biểu thị RMSE giảm ở Stage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106070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B6773"/>
                </a:solidFill>
                <a:latin typeface="Arial"/>
              </a:rPr>
              <a:t>Nguồn: stage_smoke_tests · lead 6 h · 12 mẫu/stage · chưa xác minh khởi tạo ghép cặp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Nhận dạng hoạt động thường nhật từ PPG và gia tốc kế cổ tay</dc:title>
  <dc:subject>Trí tuệ nhân tạo cho IoT</dc:subject>
  <dc:creator>Lương Nguyễn Thành Hưng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