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56032" y="0"/>
            <a:ext cx="100584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78638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773"/>
                </a:solidFill>
                <a:latin typeface="Aptos"/>
              </a:rPr>
              <a:t>TRƯỜNG ĐẠI HỌC SƯ PHẠM KỸ THUẬT TP. HỒ CHÍ MINH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10332720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3100" b="1">
                <a:solidFill>
                  <a:srgbClr val="1976D2"/>
                </a:solidFill>
                <a:latin typeface="Aptos"/>
              </a:rPr>
              <a:t>NEURAL ATMOSPHERE OPERATOR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57400"/>
            <a:ext cx="10058400" cy="5029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0384F"/>
                </a:solidFill>
                <a:latin typeface="Aptos"/>
              </a:rPr>
              <a:t>Dự báo khí quyển toàn cầu bằng Spherical Fourier Neural Operator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852928"/>
            <a:ext cx="4160520" cy="475488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C9D9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990088"/>
            <a:ext cx="38404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1976D2"/>
                </a:solidFill>
                <a:latin typeface="Aptos"/>
              </a:rPr>
              <a:t>STAGE 1  ·  BASELINE SFNO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10912" y="2852928"/>
            <a:ext cx="4892040" cy="47548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8072" y="2990088"/>
            <a:ext cx="46177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2E8B57"/>
                </a:solidFill>
                <a:latin typeface="Aptos"/>
              </a:rPr>
              <a:t>STAGE 2  ·  SPHERICAL RESIDUAL CORRECTOR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5074920"/>
            <a:ext cx="7772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0384F"/>
                </a:solidFill>
                <a:latin typeface="Aptos"/>
              </a:rPr>
              <a:t>Sinh viên: Lương Nguyễn Thành Hưng  ·  MSSV: 23110111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513832"/>
            <a:ext cx="3657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TP. Hồ Chí Minh,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19104" y="6236208"/>
            <a:ext cx="475488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1976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Bài toán và 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1042415"/>
            <a:ext cx="3657600" cy="50749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CBD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25880"/>
            <a:ext cx="310896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ptos"/>
              </a:rPr>
              <a:t>Bài toán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3063240" cy="320040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3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Dự báo trạng thái khí quyển toàn cầu sau 6 giờ</a:t>
            </a:r>
          </a:p>
          <a:p>
            <a:pPr>
              <a:spcAft>
                <a:spcPts val="13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71 kênh ERA5 trên lưới 0,5° (361 × 720)</a:t>
            </a:r>
          </a:p>
          <a:p>
            <a:pPr>
              <a:spcAft>
                <a:spcPts val="13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Học toán tử tiến hóa thay vì mô hình tại từng điểm</a:t>
            </a:r>
          </a:p>
          <a:p>
            <a:pPr>
              <a:spcAft>
                <a:spcPts val="13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Giới hạn thực tế: bộ nhớ, thời gian và ngân sách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124712"/>
            <a:ext cx="3840480" cy="34747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0384F"/>
                </a:solidFill>
                <a:latin typeface="Aptos"/>
              </a:rPr>
              <a:t>Câu hỏi nghiên cứu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73352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90872" y="1856232"/>
            <a:ext cx="658368" cy="566928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2011680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1883664"/>
            <a:ext cx="553212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ptos"/>
              </a:rPr>
              <a:t>SFNO baseline học được bao nhiêu từ một trạng thái hiện tại?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2907792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90872" y="3090672"/>
            <a:ext cx="658368" cy="566928"/>
          </a:xfrm>
          <a:prstGeom prst="roundRect">
            <a:avLst/>
          </a:prstGeom>
          <a:solidFill>
            <a:srgbClr val="1976D2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36592" y="3246120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59552" y="3118104"/>
            <a:ext cx="553212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0">
                <a:solidFill>
                  <a:srgbClr val="20384F"/>
                </a:solidFill>
                <a:latin typeface="Aptos"/>
              </a:rPr>
              <a:t>History + forcing + residual corrector có giảm sai số không?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142232"/>
            <a:ext cx="6903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690872" y="4325112"/>
            <a:ext cx="658368" cy="566928"/>
          </a:xfrm>
          <a:prstGeom prst="roundRect">
            <a:avLst/>
          </a:prstGeom>
          <a:solidFill>
            <a:srgbClr val="D94C4C"/>
          </a:solidFill>
          <a:ln w="12700">
            <a:solidFill>
              <a:srgbClr val="D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36592" y="4480560"/>
            <a:ext cx="566928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59552" y="4352544"/>
            <a:ext cx="5532120" cy="53035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l"/>
            <a:r>
              <a:rPr sz="1500" b="1">
                <a:solidFill>
                  <a:srgbClr val="20384F"/>
                </a:solidFill>
                <a:latin typeface="Aptos"/>
              </a:rPr>
              <a:t>Đổi lại, mô hình mất gì khi cắt mạnh dao động tần số cao?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5504688"/>
            <a:ext cx="6903720" cy="59436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2" y="5687568"/>
            <a:ext cx="644652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2E8B57"/>
                </a:solidFill>
                <a:latin typeface="Aptos"/>
              </a:rPr>
              <a:t>Phạm vi báo cáo: chỉ Stage 1 và Stage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Dữ liệu và giao thức đánh giá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Tách thời gian tuyệt đối; thống kê chỉ được tính trên tập train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069848"/>
            <a:ext cx="28346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1976D2"/>
                </a:solidFill>
                <a:latin typeface="Aptos"/>
              </a:rPr>
              <a:t>ERA5 / WeatherBench2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3154680" cy="12344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55648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1976D2"/>
                </a:solidFill>
                <a:latin typeface="Aptos"/>
              </a:rP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20384F"/>
                </a:solidFill>
                <a:latin typeface="Aptos"/>
              </a:rPr>
              <a:t>1983–2018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50592"/>
            <a:ext cx="2880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36 năm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33087" y="1572768"/>
            <a:ext cx="3154680" cy="12344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8" y="1755648"/>
            <a:ext cx="28803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Aptos"/>
              </a:rPr>
              <a:t>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057400"/>
            <a:ext cx="28803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20384F"/>
                </a:solidFill>
                <a:latin typeface="Aptos"/>
              </a:rPr>
              <a:t>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0248" y="2450592"/>
            <a:ext cx="28803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Chọn checkpoint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63256" y="1572768"/>
            <a:ext cx="3611880" cy="123444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D9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0416" y="1755648"/>
            <a:ext cx="333756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D94C4C"/>
                </a:solidFill>
                <a:latin typeface="Aptos"/>
              </a:rP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0416" y="2057400"/>
            <a:ext cx="3337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20384F"/>
                </a:solidFill>
                <a:latin typeface="Aptos"/>
              </a:rPr>
              <a:t>07/2020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0416" y="2450592"/>
            <a:ext cx="333756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Held-out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694176" y="2194560"/>
            <a:ext cx="374904" cy="0"/>
          </a:xfrm>
          <a:prstGeom prst="line">
            <a:avLst/>
          </a:prstGeom>
          <a:ln w="19050">
            <a:solidFill>
              <a:srgbClr val="A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324344" y="2194560"/>
            <a:ext cx="374904" cy="0"/>
          </a:xfrm>
          <a:prstGeom prst="line">
            <a:avLst/>
          </a:prstGeom>
          <a:ln w="19050">
            <a:solidFill>
              <a:srgbClr val="A9B7C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3273552"/>
            <a:ext cx="2514600" cy="1371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273552"/>
            <a:ext cx="64008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4290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kênh khí quyển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712464"/>
            <a:ext cx="21945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261104"/>
            <a:ext cx="2194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6 surface + 5 biến × 13 mức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3273552"/>
            <a:ext cx="2514600" cy="1371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37560" y="3273552"/>
            <a:ext cx="64008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20440" y="34290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cadence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712464"/>
            <a:ext cx="21945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6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40" y="4261104"/>
            <a:ext cx="2194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dự báo one-step K=1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273552"/>
            <a:ext cx="2514600" cy="1371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273552"/>
            <a:ext cx="64008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34290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độ phân giải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3712464"/>
            <a:ext cx="21945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0,5°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261104"/>
            <a:ext cx="2194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regrid bảo toàn từ 0,25°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840" y="3273552"/>
            <a:ext cx="2514600" cy="13716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3273552"/>
            <a:ext cx="64008" cy="13716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429000"/>
            <a:ext cx="21945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khởi tạo tối đa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712464"/>
            <a:ext cx="21945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ptos"/>
              </a:rPr>
              <a:t>95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89720" y="4261104"/>
            <a:ext cx="21945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cửa sổ 7 ngày trong 07/2020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010912"/>
            <a:ext cx="10972800" cy="98755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6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5230368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976D2"/>
                </a:solidFill>
                <a:latin typeface="Aptos"/>
              </a:rPr>
              <a:t>Tiền xử lý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74519" y="5193792"/>
            <a:ext cx="90525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Chuẩn hóa theo σ(x)  →  dự báo standardized tendency  →  hoàn nguyên về đơn vị vật lý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5541264"/>
            <a:ext cx="90525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773"/>
                </a:solidFill>
                <a:latin typeface="Aptos"/>
              </a:rPr>
              <a:t>Latitude-cell-area weighting giảm thiên lệch do mật độ điểm lưới tại hai cực.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Phương pháp tổng thể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Cùng một objective để so sánh công bằng giữa hai 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25880"/>
            <a:ext cx="1828800" cy="9601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53895"/>
            <a:ext cx="16093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Trạng thái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92224"/>
            <a:ext cx="1609344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x(t)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325880"/>
            <a:ext cx="1828800" cy="9601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453895"/>
            <a:ext cx="16093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SFNO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792224"/>
            <a:ext cx="1609344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không gian phổ cầu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64608" y="1325880"/>
            <a:ext cx="1828800" cy="9601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74336" y="1453895"/>
            <a:ext cx="16093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Tendency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1792224"/>
            <a:ext cx="1609344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Δx / σ(Δx)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325880"/>
            <a:ext cx="1828800" cy="9601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79208" y="1453895"/>
            <a:ext cx="16093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Residual 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79208" y="1792224"/>
            <a:ext cx="1609344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x(t)+s·Δx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38360" y="1325880"/>
            <a:ext cx="1828800" cy="9601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088" y="1453895"/>
            <a:ext cx="16093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Dự báo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792224"/>
            <a:ext cx="1609344" cy="40233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x(t+6h)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76856" y="1810512"/>
            <a:ext cx="1828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352544" y="1810512"/>
            <a:ext cx="45720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711696" y="1810512"/>
            <a:ext cx="5029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107424" y="1810512"/>
            <a:ext cx="576072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8912" y="2788920"/>
            <a:ext cx="7059168" cy="32004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1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054096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ptos"/>
              </a:rPr>
              <a:t>Loss huấn luyện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675887"/>
            <a:ext cx="6400800" cy="50292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2500" b="1">
                <a:solidFill>
                  <a:srgbClr val="20384F"/>
                </a:solidFill>
                <a:latin typeface="Aptos"/>
              </a:rPr>
              <a:t>L = Σc wc · Earea [ ((ŷc − yc) / sc)² 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434840"/>
            <a:ext cx="6309360" cy="11887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20384F"/>
                </a:solidFill>
                <a:latin typeface="Aptos"/>
              </a:defRPr>
            </a:pPr>
            <a:r>
              <a:t>•  sc = σ(Δxc) / σ(xc): cân bằng độ khó giữa các biến</a:t>
            </a:r>
          </a:p>
          <a:p>
            <a:pPr>
              <a:spcAft>
                <a:spcPts val="600"/>
              </a:spcAft>
              <a:defRPr sz="1350">
                <a:solidFill>
                  <a:srgbClr val="20384F"/>
                </a:solidFill>
                <a:latin typeface="Aptos"/>
              </a:defRPr>
            </a:pPr>
            <a:r>
              <a:t>•  wc: trọng số biến và mức áp suất kiểu GraphCast</a:t>
            </a:r>
          </a:p>
          <a:p>
            <a:pPr>
              <a:spcAft>
                <a:spcPts val="600"/>
              </a:spcAft>
              <a:defRPr sz="1350">
                <a:solidFill>
                  <a:srgbClr val="20384F"/>
                </a:solidFill>
                <a:latin typeface="Aptos"/>
              </a:defRPr>
            </a:pPr>
            <a:r>
              <a:t>•  Earea: trọng số diện tích ô lưới theo vĩ độ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788920"/>
            <a:ext cx="3657600" cy="320040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19872" y="3072384"/>
            <a:ext cx="3063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D94C4C"/>
                </a:solidFill>
                <a:latin typeface="Aptos"/>
              </a:rPr>
              <a:t>Trade-off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657600"/>
            <a:ext cx="2880360" cy="155448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MSE ổn định và dễ tối ưu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Nhưng ưu tiên sai số trung bình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Cực trị hiếm dễ bị làm trơn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Cắt phổ cao tạo sàn sai số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5458968"/>
            <a:ext cx="290779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D94C4C"/>
                </a:solidFill>
                <a:latin typeface="Aptos"/>
              </a:rPr>
              <a:t>Loss giảm ≠ cực trị tốt hơn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Stage 1 — SFNO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Một trạng thái hiện tại → standardized tendency sau 6 giờ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417320"/>
            <a:ext cx="1417320" cy="9144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545336"/>
            <a:ext cx="119786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x(t)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883664"/>
            <a:ext cx="1197864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71 kênh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417320"/>
            <a:ext cx="1600200" cy="9144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545336"/>
            <a:ext cx="13807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Encoder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883664"/>
            <a:ext cx="1380744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71 → 192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298448"/>
            <a:ext cx="2788920" cy="117043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1426464"/>
            <a:ext cx="256946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6 SFNO blocks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764792"/>
            <a:ext cx="2569463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SHT → spectral mixing → iSHT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1417320"/>
            <a:ext cx="1600200" cy="91440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1545336"/>
            <a:ext cx="138074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Decoder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1883664"/>
            <a:ext cx="1380744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192 → 71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76688" y="1417320"/>
            <a:ext cx="1508760" cy="91440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186415" y="1545336"/>
            <a:ext cx="128930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x(t+6h)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86415" y="1883664"/>
            <a:ext cx="1289304" cy="35661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residual output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011680" y="1874519"/>
            <a:ext cx="448056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42232" y="1874519"/>
            <a:ext cx="448056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461504" y="1874519"/>
            <a:ext cx="45720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601200" y="1874519"/>
            <a:ext cx="420624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66928" y="2971800"/>
            <a:ext cx="2450592" cy="126187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971800"/>
            <a:ext cx="64008" cy="12618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27248"/>
            <a:ext cx="21305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Embedding / blocks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410712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E192 / L6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849624"/>
            <a:ext cx="213055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/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37560" y="2971800"/>
            <a:ext cx="2450592" cy="126187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37560" y="2971800"/>
            <a:ext cx="64008" cy="12618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3127248"/>
            <a:ext cx="21305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Giảm resolution nội bộ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3410712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Scale ×2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0440" y="3849624"/>
            <a:ext cx="213055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/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08192" y="2971800"/>
            <a:ext cx="2450592" cy="126187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08192" y="2971800"/>
            <a:ext cx="64008" cy="12618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127248"/>
            <a:ext cx="21305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Lead 6 giờ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3410712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K =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91072" y="3849624"/>
            <a:ext cx="213055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/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878824" y="2971800"/>
            <a:ext cx="2450592" cy="126187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78824" y="2971800"/>
            <a:ext cx="64008" cy="126187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3" y="3127248"/>
            <a:ext cx="21305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Best tại epoch 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3" y="3410712"/>
            <a:ext cx="2130552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~25 epochs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3" y="3849624"/>
            <a:ext cx="2130552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/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66928" y="4617720"/>
            <a:ext cx="11018520" cy="129844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4892040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Aptos"/>
              </a:rPr>
              <a:t>Điểm mạnh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65960" y="4855464"/>
            <a:ext cx="38404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20384F"/>
                </a:solidFill>
                <a:latin typeface="Aptos"/>
              </a:rPr>
              <a:t>Ổn định · học động lực quy mô lớn · vượt persistence rõ rệt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80760" y="4892040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D94C4C"/>
                </a:solidFill>
                <a:latin typeface="Aptos"/>
              </a:rPr>
              <a:t>Nút thắt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59752" y="4855464"/>
            <a:ext cx="40690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20384F"/>
                </a:solidFill>
                <a:latin typeface="Aptos"/>
              </a:rPr>
              <a:t>Thiếu history/forcing · phổ cao bị suy giảm · cực trị bị làm trơn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Kết quả Stage 1 và điểm bão hòa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Smoke test: 12 khởi tạo ERA5, lead 6 giờ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743200" cy="135331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64008" cy="13533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98448"/>
            <a:ext cx="242316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Best validation loss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242316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0,13444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12264"/>
            <a:ext cx="24231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epoch 24 · 187.850 updates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93008" y="1143000"/>
            <a:ext cx="2606040" cy="135331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93008" y="1143000"/>
            <a:ext cx="64008" cy="13533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1298448"/>
            <a:ext cx="2286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Normalized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1581912"/>
            <a:ext cx="22860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0,1572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112264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persistence: 0,3312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143000"/>
            <a:ext cx="2606040" cy="135331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5080" y="1143000"/>
            <a:ext cx="64008" cy="1353312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298448"/>
            <a:ext cx="228600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Normalized ACC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581912"/>
            <a:ext cx="228600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2E8B57"/>
                </a:solidFill>
                <a:latin typeface="Aptos"/>
              </a:rPr>
              <a:t>0,9836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112264"/>
            <a:ext cx="22860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persistence: 0,9233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143000"/>
            <a:ext cx="2240280" cy="1353312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17152" y="1143000"/>
            <a:ext cx="64008" cy="135331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00032" y="1298448"/>
            <a:ext cx="192024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5B6773"/>
                </a:solidFill>
                <a:latin typeface="Aptos"/>
              </a:rPr>
              <a:t>Objective loss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1581912"/>
            <a:ext cx="192024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976D2"/>
                </a:solidFill>
                <a:latin typeface="Aptos"/>
              </a:rPr>
              <a:t>0,1402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0032" y="2112264"/>
            <a:ext cx="19202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900" b="0">
                <a:solidFill>
                  <a:srgbClr val="5B6773"/>
                </a:solidFill>
                <a:latin typeface="Aptos"/>
              </a:rPr>
              <a:t>standardized tendency MSE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2852928"/>
            <a:ext cx="6601968" cy="312724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3108960"/>
            <a:ext cx="310896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0384F"/>
                </a:solidFill>
                <a:latin typeface="Aptos"/>
              </a:rPr>
              <a:t>Model so với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685032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Persistence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03120" y="3703320"/>
            <a:ext cx="475488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103120" y="3703320"/>
            <a:ext cx="4499661" cy="201168"/>
          </a:xfrm>
          <a:prstGeom prst="round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3666744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9B7C6"/>
                </a:solidFill>
                <a:latin typeface="Aptos"/>
              </a:rPr>
              <a:t>0.331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4325112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4343400"/>
            <a:ext cx="475488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03120" y="4343400"/>
            <a:ext cx="2135820" cy="201168"/>
          </a:xfrm>
          <a:prstGeom prst="round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4306824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0.157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83480"/>
            <a:ext cx="53949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2E8B57"/>
                </a:solidFill>
                <a:latin typeface="Aptos"/>
              </a:rPr>
              <a:t>RMSE giảm 52,5% so với persistence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88352" y="2852928"/>
            <a:ext cx="4069080" cy="3127248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99248" y="3127248"/>
            <a:ext cx="34747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D94C4C"/>
                </a:solidFill>
                <a:latin typeface="Aptos"/>
              </a:rPr>
              <a:t>Vì sao loss bão hòa?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53527" y="3703320"/>
            <a:ext cx="3246120" cy="16459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Input chỉ có một thời điểm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Không có forcing địa hình/thời gian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Scale factor làm nghèo dải tần cao</a:t>
            </a:r>
          </a:p>
          <a:p>
            <a:pPr>
              <a:spcAft>
                <a:spcPts val="800"/>
              </a:spcAft>
              <a:defRPr sz="1450">
                <a:solidFill>
                  <a:srgbClr val="20384F"/>
                </a:solidFill>
                <a:latin typeface="Aptos"/>
              </a:defRPr>
            </a:pPr>
            <a:r>
              <a:t>•  MSE khuyến khích dự báo trơn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26679" y="5422392"/>
            <a:ext cx="3310128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50" b="1">
                <a:solidFill>
                  <a:srgbClr val="D94C4C"/>
                </a:solidFill>
                <a:latin typeface="Aptos"/>
              </a:rPr>
              <a:t>Capacity tăng thêm không phục hồi được thông tin đã mất.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Stage 2 — Spherical residual corrector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Giữ nguyên backbone Stage 1; chỉ học phần sai số còn lại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788920" cy="117043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9616"/>
            <a:ext cx="256946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Stage 1 backbone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37943"/>
            <a:ext cx="2569463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SFNO E192/L6
khởi tạo từ best checkpoint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22191" y="1371600"/>
            <a:ext cx="2148840" cy="117043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499616"/>
            <a:ext cx="1929384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Baseline tendency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837943"/>
            <a:ext cx="1929384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71 kênh · detach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371600"/>
            <a:ext cx="2057400" cy="1170432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82328" y="1499616"/>
            <a:ext cx="1837943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0384F"/>
                </a:solidFill>
                <a:latin typeface="Aptos"/>
              </a:rPr>
              <a:t>Cộng residual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82328" y="1837943"/>
            <a:ext cx="1837943" cy="6126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950" b="0">
                <a:solidFill>
                  <a:srgbClr val="5B6773"/>
                </a:solidFill>
                <a:latin typeface="Aptos"/>
              </a:rPr>
              <a:t>baseline + correction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37560" y="1956816"/>
            <a:ext cx="429768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16752" y="1956816"/>
            <a:ext cx="329184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02920" y="3063240"/>
            <a:ext cx="5715000" cy="267004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4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46704"/>
            <a:ext cx="2926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900" b="1">
                <a:solidFill>
                  <a:srgbClr val="20384F"/>
                </a:solidFill>
                <a:latin typeface="Aptos"/>
              </a:rPr>
              <a:t>Covariates cho corrector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86200"/>
            <a:ext cx="14813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3" y="3986784"/>
            <a:ext cx="960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x(t)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46504" y="3977639"/>
            <a:ext cx="365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71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96312" y="3886200"/>
            <a:ext cx="14813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51176" y="3986784"/>
            <a:ext cx="960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Δx gần nhất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65576" y="3977639"/>
            <a:ext cx="365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71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15383" y="3886200"/>
            <a:ext cx="14813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70247" y="3986784"/>
            <a:ext cx="960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baseline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4648" y="3977639"/>
            <a:ext cx="365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71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636008"/>
            <a:ext cx="14813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3" y="4736592"/>
            <a:ext cx="960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forcing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46504" y="4727448"/>
            <a:ext cx="365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96312" y="4636008"/>
            <a:ext cx="148132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51176" y="4736592"/>
            <a:ext cx="960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latitude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65576" y="4727448"/>
            <a:ext cx="3657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1976D2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60520" y="4919472"/>
            <a:ext cx="169164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976D2"/>
                </a:solidFill>
                <a:latin typeface="Aptos"/>
              </a:rPr>
              <a:t>Tổng: 222 kênh đầu vào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3063240"/>
            <a:ext cx="4892040" cy="267004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9712" y="3364992"/>
            <a:ext cx="228600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E8B57"/>
                </a:solidFill>
                <a:latin typeface="Aptos"/>
              </a:rPr>
              <a:t>Corrector SFNO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9712" y="3840480"/>
            <a:ext cx="3977639" cy="146304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0384F"/>
                </a:solidFill>
                <a:latin typeface="Aptos"/>
              </a:defRPr>
            </a:pPr>
            <a:r>
              <a:t>•  Embedding 84 · 4 spectral blocks</a:t>
            </a:r>
          </a:p>
          <a:p>
            <a:pPr>
              <a:spcAft>
                <a:spcPts val="700"/>
              </a:spcAft>
              <a:defRPr sz="1400">
                <a:solidFill>
                  <a:srgbClr val="20384F"/>
                </a:solidFill>
                <a:latin typeface="Aptos"/>
              </a:defRPr>
            </a:pPr>
            <a:r>
              <a:t>•  Native grid 361 × 720 · scale factor 1</a:t>
            </a:r>
          </a:p>
          <a:p>
            <a:pPr>
              <a:spcAft>
                <a:spcPts val="700"/>
              </a:spcAft>
              <a:defRPr sz="1400">
                <a:solidFill>
                  <a:srgbClr val="20384F"/>
                </a:solidFill>
                <a:latin typeface="Aptos"/>
              </a:defRPr>
            </a:pPr>
            <a:r>
              <a:t>•  Không pooling / bilinear upsampling</a:t>
            </a:r>
          </a:p>
          <a:p>
            <a:pPr>
              <a:spcAft>
                <a:spcPts val="700"/>
              </a:spcAft>
              <a:defRPr sz="1400">
                <a:solidFill>
                  <a:srgbClr val="20384F"/>
                </a:solidFill>
                <a:latin typeface="Aptos"/>
              </a:defRPr>
            </a:pPr>
            <a:r>
              <a:t>•  Projection cuối khởi tạo bằng zero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236208" y="4416552"/>
            <a:ext cx="237744" cy="0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979408" y="2596896"/>
            <a:ext cx="1033272" cy="420624"/>
          </a:xfrm>
          <a:prstGeom prst="line">
            <a:avLst/>
          </a:prstGeom>
          <a:ln w="25400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Conditioning và progressive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042415"/>
            <a:ext cx="4617720" cy="507492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CB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353312"/>
            <a:ext cx="274320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1976D2"/>
                </a:solidFill>
                <a:latin typeface="Aptos"/>
              </a:rPr>
              <a:t>7 forcing channels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3703320" cy="210312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Orography chuẩn hóa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Land–sea mask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Cosine solar zenith angle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Sin / cos local time</a:t>
            </a:r>
          </a:p>
          <a:p>
            <a:pPr>
              <a:spcAft>
                <a:spcPts val="9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Sin / cos annual progress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343400"/>
            <a:ext cx="3886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572000"/>
            <a:ext cx="9144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E8B57"/>
                </a:solidFill>
                <a:latin typeface="Aptos"/>
              </a:rPr>
              <a:t>Mục đích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7088" y="4498848"/>
            <a:ext cx="2542032" cy="59436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/>
            <a:r>
              <a:rPr sz="1250" b="1">
                <a:solidFill>
                  <a:srgbClr val="20384F"/>
                </a:solidFill>
                <a:latin typeface="Aptos"/>
              </a:rPr>
              <a:t>Cho model biết địa hình, mùa và chu kỳ ngày–đêm mà state tức thời không biểu diễn trực tiếp.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216152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0384F"/>
                </a:solidFill>
                <a:latin typeface="Aptos"/>
              </a:rPr>
              <a:t>Lịch fine-tune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5272" y="2084831"/>
            <a:ext cx="5358384" cy="91440"/>
          </a:xfrm>
          <a:prstGeom prst="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669280" y="1856231"/>
            <a:ext cx="502920" cy="50292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13248" y="2523744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976D2"/>
                </a:solidFill>
                <a:latin typeface="Aptos"/>
              </a:rPr>
              <a:t>Epoch 0–1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6" y="2843784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0384F"/>
                </a:solidFill>
                <a:latin typeface="Aptos"/>
              </a:rPr>
              <a:t>Corrector only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1856231"/>
            <a:ext cx="502920" cy="502920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0728" y="2523744"/>
            <a:ext cx="1143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ptos"/>
              </a:rPr>
              <a:t>Epoch 2+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46136" y="2843784"/>
            <a:ext cx="150876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0384F"/>
                </a:solidFill>
                <a:latin typeface="Aptos"/>
              </a:rPr>
              <a:t>Corrector + tail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3383280"/>
            <a:ext cx="5870448" cy="23317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4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3675887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ptos"/>
              </a:rPr>
              <a:t>Corrector LR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675887"/>
            <a:ext cx="2880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1976D2"/>
                </a:solidFill>
                <a:latin typeface="Aptos"/>
              </a:rPr>
              <a:t>1 × 10⁻⁴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114800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ptos"/>
              </a:rPr>
              <a:t>Backbone tail LR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4114800"/>
            <a:ext cx="2880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E8B57"/>
                </a:solidFill>
                <a:latin typeface="Aptos"/>
              </a:rPr>
              <a:t>1 × 10⁻⁵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4553712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ptos"/>
              </a:rPr>
              <a:t>Unfreeze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553712"/>
            <a:ext cx="2880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0384F"/>
                </a:solidFill>
                <a:latin typeface="Aptos"/>
              </a:rPr>
              <a:t>block cuối + decoder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992623"/>
            <a:ext cx="22402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5B6773"/>
                </a:solidFill>
                <a:latin typeface="Aptos"/>
              </a:rPr>
              <a:t>Gradient clip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992623"/>
            <a:ext cx="288036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300" b="1">
                <a:solidFill>
                  <a:srgbClr val="20384F"/>
                </a:solidFill>
                <a:latin typeface="Aptos"/>
              </a:rPr>
              <a:t>1,0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340096"/>
            <a:ext cx="512064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50" b="0">
                <a:solidFill>
                  <a:srgbClr val="5B6773"/>
                </a:solidFill>
                <a:latin typeface="Aptos"/>
              </a:rPr>
              <a:t>Backbone LR nhỏ hơn 10× để hạn chế catastrophic forgetting.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Stage 1 vs 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Checkpoint được chọn bằng validation; bảng dưới là smoke test 6 giờ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754380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08176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0384F"/>
                </a:solidFill>
                <a:latin typeface="Aptos"/>
              </a:rPr>
              <a:t>Best validation loss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417320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1435608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23360" y="1435608"/>
            <a:ext cx="2868476" cy="201168"/>
          </a:xfrm>
          <a:prstGeom prst="round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399032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9B7C6"/>
                </a:solidFill>
                <a:latin typeface="Aptos"/>
              </a:rPr>
              <a:t>0.1344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3794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23360" y="1856232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3360" y="1856232"/>
            <a:ext cx="2675202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181965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0.1254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1572768"/>
            <a:ext cx="841248" cy="47548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0" y="1719072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ptos"/>
              </a:rPr>
              <a:t>−6,74%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651760"/>
            <a:ext cx="754380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2825496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0384F"/>
                </a:solidFill>
                <a:latin typeface="Aptos"/>
              </a:rPr>
              <a:t>Objective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834640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2852928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023360" y="2852928"/>
            <a:ext cx="2804784" cy="201168"/>
          </a:xfrm>
          <a:prstGeom prst="round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2816352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9B7C6"/>
                </a:solidFill>
                <a:latin typeface="Aptos"/>
              </a:rPr>
              <a:t>0.1402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25526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3273552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023360" y="3273552"/>
            <a:ext cx="2706838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69480" y="323697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0.1353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67728" y="2990088"/>
            <a:ext cx="841248" cy="47548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0" y="3136392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ptos"/>
              </a:rPr>
              <a:t>−3,49%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69080"/>
            <a:ext cx="7543800" cy="114300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7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4242816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0384F"/>
                </a:solidFill>
                <a:latin typeface="Aptos"/>
              </a:rPr>
              <a:t>Normalized RMSE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4251960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1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023360" y="4270248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023360" y="4270248"/>
            <a:ext cx="2795277" cy="201168"/>
          </a:xfrm>
          <a:prstGeom prst="roundRect">
            <a:avLst/>
          </a:prstGeom>
          <a:solidFill>
            <a:srgbClr val="A9B7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9480" y="4233672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A9B7C6"/>
                </a:solidFill>
                <a:latin typeface="Aptos"/>
              </a:rPr>
              <a:t>0.1572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7258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Stage 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023360" y="4690872"/>
            <a:ext cx="3200400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23360" y="4690872"/>
            <a:ext cx="2753850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46542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0.1549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67728" y="4407408"/>
            <a:ext cx="841248" cy="475488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0880" y="4553712"/>
            <a:ext cx="685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E8B57"/>
                </a:solidFill>
                <a:latin typeface="Aptos"/>
              </a:rPr>
              <a:t>−1,48%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9327" y="1234440"/>
            <a:ext cx="3108960" cy="3977639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2" y="1609344"/>
            <a:ext cx="246888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E8B57"/>
                </a:solidFill>
                <a:latin typeface="Aptos"/>
              </a:rPr>
              <a:t>ACC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68512" y="2075688"/>
            <a:ext cx="24688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5B6773"/>
                </a:solidFill>
                <a:latin typeface="Aptos"/>
              </a:rPr>
              <a:t>0,983585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68512" y="2487168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B6773"/>
                </a:solidFill>
                <a:latin typeface="Aptos"/>
              </a:rPr>
              <a:t>↓ Stage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68512" y="3035808"/>
            <a:ext cx="246888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2500" b="1">
                <a:solidFill>
                  <a:srgbClr val="2E8B57"/>
                </a:solidFill>
                <a:latin typeface="Aptos"/>
              </a:rPr>
              <a:t>0,984121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68512" y="3465576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Aptos"/>
              </a:rPr>
              <a:t>Stage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68512" y="4087368"/>
            <a:ext cx="246888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2E8B57"/>
                </a:solidFill>
                <a:latin typeface="Aptos"/>
              </a:rPr>
              <a:t>+0,000536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68512" y="4480560"/>
            <a:ext cx="2468880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5B6773"/>
                </a:solidFill>
                <a:latin typeface="Aptos"/>
              </a:rPr>
              <a:t>tăng tuyệt đối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623560"/>
            <a:ext cx="10945368" cy="438912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CA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" y="5751576"/>
            <a:ext cx="105156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20384F"/>
                </a:solidFill>
                <a:latin typeface="Aptos"/>
              </a:rPr>
              <a:t>Kết luận: Stage 2 cải thiện nhất quán nhưng biên lợi ích nhỏ — phù hợp với một residual corrector, không phải bước nhảy kiến trúc.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Cải thiện theo biến vật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069848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0">
                <a:solidFill>
                  <a:srgbClr val="5B6773"/>
                </a:solidFill>
                <a:latin typeface="Aptos"/>
              </a:rPr>
              <a:t>Phần trăm giảm RMSE của Stage 2 so với Stage 1 tại lead 6 giờ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16152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Z500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47088" y="1234440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47088" y="1234440"/>
            <a:ext cx="1272619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197864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1.7%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29968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T850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47088" y="2048256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847088" y="2048256"/>
            <a:ext cx="762195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94376" y="2011680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1.0%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84378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T2M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47088" y="2862072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847088" y="2862072"/>
            <a:ext cx="2725356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8254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3.7%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57599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U10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3675887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847088" y="3675887"/>
            <a:ext cx="2130036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94376" y="3639311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2.9%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4471416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V10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47088" y="4489704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847088" y="4489704"/>
            <a:ext cx="2286166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94376" y="4453128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3.1%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1216152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MSLP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62088" y="1234440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62088" y="1234440"/>
            <a:ext cx="137330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009376" y="1197864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0.2%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2029968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Q850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62088" y="2048256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562088" y="2048256"/>
            <a:ext cx="3037114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009376" y="2011680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4.1%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843784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U850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62088" y="2862072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62088" y="2862072"/>
            <a:ext cx="1615132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09376" y="2825496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2.2%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3657599"/>
            <a:ext cx="12344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0384F"/>
                </a:solidFill>
                <a:latin typeface="Aptos"/>
              </a:rPr>
              <a:t>V850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62088" y="3675887"/>
            <a:ext cx="3401568" cy="201168"/>
          </a:xfrm>
          <a:prstGeom prst="roundRect">
            <a:avLst/>
          </a:prstGeom>
          <a:solidFill>
            <a:srgbClr val="E2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62088" y="3675887"/>
            <a:ext cx="1643876" cy="201168"/>
          </a:xfrm>
          <a:prstGeom prst="round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009376" y="3639311"/>
            <a:ext cx="73152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2E8B57"/>
                </a:solidFill>
                <a:latin typeface="Aptos"/>
              </a:rPr>
              <a:t>2.2%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422392"/>
            <a:ext cx="10972800" cy="658368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D5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623560"/>
            <a:ext cx="1261872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5B6773"/>
                </a:solidFill>
                <a:latin typeface="Aptos"/>
              </a:rPr>
              <a:t>Giảm mạnh nhất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93392" y="5568696"/>
            <a:ext cx="32004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E8B57"/>
                </a:solidFill>
                <a:latin typeface="Aptos"/>
              </a:rPr>
              <a:t>Q850  0.6033 → 0.5784 g kg^-1  (4.1%)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5596128"/>
            <a:ext cx="443484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976D2"/>
                </a:solidFill>
                <a:latin typeface="Aptos"/>
              </a:rPr>
              <a:t>Tất cả 9 biến ưu tiên đều giảm RMSE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Diễn giải kết quả và giới hạn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051560"/>
            <a:ext cx="5394960" cy="50749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2" y="1371600"/>
            <a:ext cx="43891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2E8B57"/>
                </a:solidFill>
                <a:latin typeface="Aptos"/>
              </a:rPr>
              <a:t>Vì sao Stage 2 tốt hơn?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74519"/>
            <a:ext cx="4526280" cy="246888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Học residual nhỏ thay vì học lại toàn bộ dự báo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History cung cấp hướng chuyển động gần nhất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Forcing bổ sung địa hình và chu kỳ thời gian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Corrector full-resolution giữ thêm chi tiết phổ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Progressive unfreezing bảo vệ backbone đã học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80"/>
            <a:ext cx="468172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D9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4937760"/>
            <a:ext cx="42976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B6773"/>
                </a:solidFill>
                <a:latin typeface="Aptos"/>
              </a:rPr>
              <a:t>Yếu tố có khả năng đóng góp lớn nhất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5230368"/>
            <a:ext cx="4297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E8B57"/>
                </a:solidFill>
                <a:latin typeface="Aptos"/>
              </a:rPr>
              <a:t>Residual corrector + transfer learning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1051560"/>
            <a:ext cx="5394960" cy="507492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EDBD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371600"/>
            <a:ext cx="448056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100" b="1">
                <a:solidFill>
                  <a:srgbClr val="D94C4C"/>
                </a:solidFill>
                <a:latin typeface="Aptos"/>
              </a:rPr>
              <a:t>Những gì chưa được giải quyết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74519"/>
            <a:ext cx="4526280" cy="246888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Mới huấn luyện và kiểm tra chính ở K=1 / 6 giờ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Smoke test chỉ có 12 mẫu; chưa đủ kiểm định thống kê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Chưa có ablation để tách đóng góp từng thành phần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MSE vẫn làm nhẹ ảnh hưởng của sự kiện cực đoan</a:t>
            </a:r>
          </a:p>
          <a:p>
            <a:pPr>
              <a:spcAft>
                <a:spcPts val="1000"/>
              </a:spcAft>
              <a:defRPr sz="1500">
                <a:solidFill>
                  <a:srgbClr val="20384F"/>
                </a:solidFill>
                <a:latin typeface="Aptos"/>
              </a:defRPr>
            </a:pPr>
            <a:r>
              <a:t>•  Thông tin phổ cao đã mất không thể tái tạo hoàn toàn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754880"/>
            <a:ext cx="4681728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C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56832" y="4937760"/>
            <a:ext cx="42976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5B6773"/>
                </a:solidFill>
                <a:latin typeface="Aptos"/>
              </a:rPr>
              <a:t>Thông điệp quan trọng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6832" y="5230368"/>
            <a:ext cx="42976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D94C4C"/>
                </a:solidFill>
                <a:latin typeface="Aptos"/>
              </a:rPr>
              <a:t>Loss giảm không đảm bảo cực trị tốt hơn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155448"/>
            <a:ext cx="11539728" cy="5029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256032"/>
            <a:ext cx="978408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500" b="1">
                <a:solidFill>
                  <a:srgbClr val="20384F"/>
                </a:solidFill>
                <a:latin typeface="Aptos"/>
              </a:rPr>
              <a:t>Kết luận và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283464"/>
            <a:ext cx="4114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1000" b="1">
                <a:solidFill>
                  <a:srgbClr val="1976D2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5440680" cy="4434840"/>
          </a:xfrm>
          <a:prstGeom prst="roundRect">
            <a:avLst/>
          </a:prstGeom>
          <a:solidFill>
            <a:srgbClr val="EEF5FB"/>
          </a:solidFill>
          <a:ln w="12700">
            <a:solidFill>
              <a:srgbClr val="CB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26464"/>
            <a:ext cx="192024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1976D2"/>
                </a:solidFill>
                <a:latin typeface="Aptos"/>
              </a:rPr>
              <a:t>Kết luận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4572000" cy="24231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2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Stage 1 tạo baseline SFNO ổn định cho dự báo toàn cầu.</a:t>
            </a:r>
          </a:p>
          <a:p>
            <a:pPr>
              <a:spcAft>
                <a:spcPts val="12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Stage 2 giảm validation loss 6,74% bằng residual correction.</a:t>
            </a:r>
          </a:p>
          <a:p>
            <a:pPr>
              <a:spcAft>
                <a:spcPts val="12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History, forcing và fine-tuning có kiểm soát tạo cải thiện nhất quán.</a:t>
            </a:r>
          </a:p>
          <a:p>
            <a:pPr>
              <a:spcAft>
                <a:spcPts val="12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Giới hạn lớn nhất là loss trung bình và suy giảm dải tần cao.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709160"/>
            <a:ext cx="452628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350" b="1">
                <a:solidFill>
                  <a:srgbClr val="20384F"/>
                </a:solidFill>
                <a:latin typeface="Aptos"/>
              </a:rPr>
              <a:t>Đóng góp chính: một pipeline hai stage có checkpoint, evaluator và giao thức tái lập rõ ràng.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303520" cy="443484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8D8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26464"/>
            <a:ext cx="25603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E8B57"/>
                </a:solidFill>
                <a:latin typeface="Aptos"/>
              </a:rPr>
              <a:t>Hướng phát triển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343400" cy="2423160"/>
          </a:xfrm>
          <a:prstGeom prst="rect">
            <a:avLst/>
          </a:prstGeom>
          <a:noFill/>
        </p:spPr>
        <p:txBody>
          <a:bodyPr wrap="none" lIns="73152" rIns="36576" tIns="27432">
            <a:spAutoFit/>
          </a:bodyPr>
          <a:lstStyle/>
          <a:p>
            <a:pPr>
              <a:spcAft>
                <a:spcPts val="11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Ablation theo số mode và resolution</a:t>
            </a:r>
          </a:p>
          <a:p>
            <a:pPr>
              <a:spcAft>
                <a:spcPts val="11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Loss phổ / gradient / extreme-aware</a:t>
            </a:r>
          </a:p>
          <a:p>
            <a:pPr>
              <a:spcAft>
                <a:spcPts val="11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Sampling ưu tiên bão, front và cực trị</a:t>
            </a:r>
          </a:p>
          <a:p>
            <a:pPr>
              <a:spcAft>
                <a:spcPts val="11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Multi-step curriculum và đánh giá 3–7 ngày</a:t>
            </a:r>
          </a:p>
          <a:p>
            <a:pPr>
              <a:spcAft>
                <a:spcPts val="1100"/>
              </a:spcAft>
              <a:defRPr sz="1550">
                <a:solidFill>
                  <a:srgbClr val="20384F"/>
                </a:solidFill>
                <a:latin typeface="Aptos"/>
              </a:defRPr>
            </a:pPr>
            <a:r>
              <a:t>•  Nhánh đa phân giải để giữ cấu trúc tần số cao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4681728"/>
            <a:ext cx="45262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5DB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4828032"/>
            <a:ext cx="4160520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250" b="1">
                <a:solidFill>
                  <a:srgbClr val="2E8B57"/>
                </a:solidFill>
                <a:latin typeface="Aptos"/>
              </a:rPr>
              <a:t>Mục tiêu tiếp theo: tối ưu chất lượng cực trị, không chỉ tối ưu average MSE.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879592"/>
            <a:ext cx="1014984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0384F"/>
                </a:solidFill>
                <a:latin typeface="Aptos"/>
              </a:rPr>
              <a:t>CẢM ƠN THẦY/CÔ VÀ CÁC BẠN ĐÃ THEO DÕI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6565392"/>
            <a:ext cx="493776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/>
            <a:r>
              <a:rPr sz="650" b="0">
                <a:solidFill>
                  <a:srgbClr val="8A96A3"/>
                </a:solidFill>
                <a:latin typeface="Aptos"/>
              </a:rPr>
              <a:t>Lương Nguyễn Thành Hưng · NeuralAtmosphereOperator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78440" y="6565392"/>
            <a:ext cx="132588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/>
            <a:r>
              <a:rPr sz="650" b="0">
                <a:solidFill>
                  <a:srgbClr val="8A96A3"/>
                </a:solidFill>
                <a:latin typeface="Aptos"/>
              </a:rPr>
              <a:t>Stage 1 → Stage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Nhận dạng hoạt động thường nhật từ PPG và gia tốc kế cổ tay</dc:title>
  <dc:subject>Trí tuệ nhân tạo cho IoT</dc:subject>
  <dc:creator>Lương Nguyễn Thành Hưng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