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1.xml" ContentType="application/vnd.openxmlformats-officedocument.presentationml.notesSlide+xml"/>
  <Override PartName="/ppt/notesSlides/notesSlide43.xml" ContentType="application/vnd.openxmlformats-officedocument.presentationml.notesSlide+xml"/>
  <Override PartName="/ppt/notesSlides/notesSlide61.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3.xml" ContentType="application/vnd.openxmlformats-officedocument.presentationml.slide+xml"/>
  <Override PartName="/ppt/slides/slide17.xml" ContentType="application/vnd.openxmlformats-officedocument.presentationml.slide+xml"/>
  <Override PartName="/ppt/slides/slide19.xml" ContentType="application/vnd.openxmlformats-officedocument.presentationml.slide+xml"/>
  <Override PartName="/ppt/slides/slide21.xml" ContentType="application/vnd.openxmlformats-officedocument.presentationml.slide+xml"/>
  <Override PartName="/ppt/slides/slide25.xml" ContentType="application/vnd.openxmlformats-officedocument.presentationml.slide+xml"/>
  <Override PartName="/ppt/slides/slide27.xml" ContentType="application/vnd.openxmlformats-officedocument.presentationml.slide+xml"/>
  <Override PartName="/ppt/slides/slide29.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1.xml" ContentType="application/vnd.openxmlformats-officedocument.presentationml.slide+xml"/>
  <Override PartName="/ppt/slides/slide43.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9" r:id="rId10"/>
    <p:sldId id="264" r:id="rId15"/>
    <p:sldId id="265" r:id="rId16"/>
    <p:sldId id="1005" r:id="rId69"/>
    <p:sldId id="268" r:id="rId19"/>
    <p:sldId id="1007" r:id="rId70"/>
    <p:sldId id="272" r:id="rId23"/>
    <p:sldId id="274" r:id="rId25"/>
    <p:sldId id="276" r:id="rId27"/>
    <p:sldId id="280" r:id="rId31"/>
    <p:sldId id="282" r:id="rId33"/>
    <p:sldId id="313" r:id="rId64"/>
    <p:sldId id="290" r:id="rId41"/>
    <p:sldId id="291" r:id="rId42"/>
    <p:sldId id="293" r:id="rId44"/>
    <p:sldId id="295" r:id="rId46"/>
    <p:sldId id="314" r:id="rId65"/>
    <p:sldId id="1019" r:id="rId71"/>
    <p:sldId id="1020" r:id="rId72"/>
    <p:sldId id="1021" r:id="rId73"/>
    <p:sldId id="1022" r:id="rId74"/>
    <p:sldId id="1023" r:id="rId75"/>
    <p:sldId id="1024" r:id="rId76"/>
    <p:sldId id="1025" r:id="rId77"/>
    <p:sldId id="1026" r:id="rId78"/>
    <p:sldId id="1027" r:id="rId79"/>
    <p:sldId id="1028" r:id="rId80"/>
    <p:sldId id="1029" r:id="rId81"/>
    <p:sldId id="312" r:id="rId6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10" Type="http://schemas.openxmlformats.org/officeDocument/2006/relationships/slide" Target="slides/slide4.xml"/><Relationship Id="rId15" Type="http://schemas.openxmlformats.org/officeDocument/2006/relationships/slide" Target="slides/slide9.xml"/><Relationship Id="rId16" Type="http://schemas.openxmlformats.org/officeDocument/2006/relationships/slide" Target="slides/slide10.xml"/><Relationship Id="rId19" Type="http://schemas.openxmlformats.org/officeDocument/2006/relationships/slide" Target="slides/slide13.xml"/><Relationship Id="rId23" Type="http://schemas.openxmlformats.org/officeDocument/2006/relationships/slide" Target="slides/slide17.xml"/><Relationship Id="rId25" Type="http://schemas.openxmlformats.org/officeDocument/2006/relationships/slide" Target="slides/slide19.xml"/><Relationship Id="rId27" Type="http://schemas.openxmlformats.org/officeDocument/2006/relationships/slide" Target="slides/slide21.xml"/><Relationship Id="rId31" Type="http://schemas.openxmlformats.org/officeDocument/2006/relationships/slide" Target="slides/slide25.xml"/><Relationship Id="rId33" Type="http://schemas.openxmlformats.org/officeDocument/2006/relationships/slide" Target="slides/slide27.xml"/><Relationship Id="rId41" Type="http://schemas.openxmlformats.org/officeDocument/2006/relationships/slide" Target="slides/slide36.xml"/><Relationship Id="rId42" Type="http://schemas.openxmlformats.org/officeDocument/2006/relationships/slide" Target="slides/slide37.xml"/><Relationship Id="rId44" Type="http://schemas.openxmlformats.org/officeDocument/2006/relationships/slide" Target="slides/slide39.xml"/><Relationship Id="rId46" Type="http://schemas.openxmlformats.org/officeDocument/2006/relationships/slide" Target="slides/slide41.xml"/><Relationship Id="rId63" Type="http://schemas.openxmlformats.org/officeDocument/2006/relationships/slide" Target="slides/slide61.xml"/><Relationship Id="rId64" Type="http://schemas.openxmlformats.org/officeDocument/2006/relationships/slide" Target="slides/slide29.xml"/><Relationship Id="rId65" Type="http://schemas.openxmlformats.org/officeDocument/2006/relationships/slide" Target="slides/slide43.xml"/><Relationship Id="rId68" Type="http://schemas.openxmlformats.org/officeDocument/2006/relationships/notesMaster" Target="notesMasters/notesMaster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dự kiến: 20 giây</a:t>
            </a:r>
          </a:p>
          <a:p/>
          <a:p>
            <a:r>
              <a:t>Em xin chào thầy cô và các bạn. Em là Lương Nguyễn Thành Hưng. Đề tài của em sử dụng Spherical Fourier Neural Operator, gọi tắt là SFNO, để dự báo khí quyển toàn cầu. Báo cáo tập trung vào mô hình cơ sở ở Stage 1 và residual corrector ở Stage 2.</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dự kiến: 20 giây</a:t>
            </a:r>
          </a:p>
          <a:p/>
          <a:p>
            <a:r>
              <a:t>Đầu vào là state hiện tại; Stage 2 sử dụng thêm state trước đó sáu giờ. Đầu ra gồm 71 trường tại thời điểm sau sáu giờ. Khi rollout, model dùng dự báo của chính nó cho bước tiếp theo. Báo cáo có cả đường loss khi train và benchmark đến bảy ngày.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dự kiến: 20 giây</a:t>
            </a:r>
          </a:p>
          <a:p/>
          <a:p>
            <a:r>
              <a:t>Dữ liệu ERA5 được lấy từ WeatherBench2. Lưới nguồn có độ phân giải 0,25 độ và được chuyển về 0,5 độ, tương ứng 361 nhân 720 điểm. Mỗi trạng thái có 71 kênh, cách nhau sáu giờ. Việc giảm độ phân giải giúp giảm chi phí nhưng cũng mất chi tiết không gian.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dự kiến: 20 giây</a:t>
            </a:r>
          </a:p>
          <a:p/>
          <a:p>
            <a:r>
              <a:t>71 kênh gồm sáu biến bề mặt và năm nhóm biến trên 13 mức áp suất. Năm nhóm là hai thành phần gió, nhiệt độ, độ ẩm riêng và geopotential. Geopotential là thế năng trọng trường trên mỗi kilogram. Các biến có đơn vị khác nhau, nên cần chuẩn hóa trước khi train.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dự kiến: 20 giây</a:t>
            </a:r>
          </a:p>
          <a:p/>
          <a:p>
            <a:r>
              <a:t>Em ưu tiên chạy lại benchmark với metadata đầy đủ, rồi bỏ từng thành phần để làm ablation. Sau đó thử multi-step training, spectral loss hoặc tăng trọng số cực trị. Mỗi thay đổi cần đánh giá theo thời hạn và sự kiện, đồng thời theo dõi chi phí. Đây là đề xuất, chưa phải kết quả đã đạt được.</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dự kiến: 30 giây</a:t>
            </a:r>
          </a:p>
          <a:p/>
          <a:p>
            <a:r>
              <a:t>Trong benchmark 60 khởi tạo, Stage 2 giảm RMSE ở 68 trên 71 kênh tại sáu giờ và 65 kênh tại bảy ngày. Như vậy vẫn có các kênh không cải thiện. Biểu đồ bên phải là mức giảm trung vị, giúp tránh chỉ nhìn vài biến ưu tiên. Những số này thuộc benchmark gốc; chúng khác bảng smoke test 12 khởi tạo vì hai phép kiểm thử dùng tập mẫu khác nhau.</a:t>
            </a:r>
          </a:p>
          <a:p/>
          <a:p>
            <a:r>
              <a:t>Thao tác: Chỉ số kênh tại 6 giờ và 7 ngày, sau đó mức giảm trung vị.</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dự kiến: 20 giây</a:t>
            </a:r>
          </a:p>
          <a:p/>
          <a:p>
            <a:r>
              <a:t>State được chuẩn hóa bằng trung bình và độ lệch chuẩn từ tập train. Tendency ở đây là chênh lệch trạng thái trong sáu giờ, không phải đạo hàm theo thời gian. Mô hình dự báo tendency đã chuẩn hóa; hệ số s chuyển nó về cùng thang với state trước khi cộng.</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dự kiến: 30 giây</a:t>
            </a:r>
          </a:p>
          <a:p/>
          <a:p>
            <a:r>
              <a:t>Bias gần không nghĩa là sai lệch trung bình nhỏ, không phải mọi điểm đều chính xác. Sai số dương và âm có thể triệt tiêu nhau. Các đường trên slide cho biết bias thay đổi theo thời hạn và theo biến. Cần đọc cùng RMSE và ACC để phân biệt sai lệch hệ thống với sai số không gian; không thể dùng riêng bias để kết luận rollout ổn định.</a:t>
            </a:r>
          </a:p>
          <a:p/>
          <a:p>
            <a:r>
              <a:t>Thao tác: Chỉ đường 0 và một biến có bias đổi theo thời hạn.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dự kiến: 35 giây</a:t>
            </a:r>
          </a:p>
          <a:p/>
          <a:p>
            <a:r>
              <a:t>Mỗi ô là một biến với đơn vị và trục riêng. Đường xanh dương là Stage 1, xanh lá là Stage 2; dải tô là khoảng tin cậy RMSE đã lưu. Sai số tăng theo thời hạn. Với Z500, Stage 2 tăng từ 3,39 gpm ở sáu giờ lên 72,67 gpm ở bảy ngày, nhưng vẫn thấp hơn Stage 1. Dải tin cậy của từng model không phải khoảng tin cậy cho chênh lệch giữa hai model.</a:t>
            </a:r>
          </a:p>
          <a:p/>
          <a:p>
            <a:r>
              <a:t>Thao tác: Theo dõi Z500 từ 6 giờ đến 7 ngày; chỉ thêm ô T2M.</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dự kiến: 20 giây</a:t>
            </a:r>
          </a:p>
          <a:p/>
          <a:p>
            <a:r>
              <a:t>RMSE đo độ lớn sai số, ACC đo mức tương đồng của dị thường so với climatology. Bias cho biết lệch trung bình theo hướng nào. MSE skill so với baseline dương là tốt hơn; còn tỷ số năng lượng phổ gần một nghĩa là năng lượng gần ERA5 hơn, nhưng chưa chứng minh dự báo đúng vị trí.</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dự kiến: 20 giây</a:t>
            </a:r>
          </a:p>
          <a:p/>
          <a:p>
            <a:r>
              <a:t>Lưới kinh độ–vĩ độ không giống một ảnh phẳng thông thường. Kinh độ có biên tuần hoàn, các điểm hội tụ ở hai cực, và diện tích ô lưới thay đổi theo vĩ độ. SFNO dùng biến đổi điều hòa cầu để xử lý tương tác trên miền này; loss cũng cần trọng số diện tích.</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dự kiến: 20 giây</a:t>
            </a:r>
          </a:p>
          <a:p/>
          <a:p>
            <a:r>
              <a:t>Train dùng dữ liệu 1983 đến 2018; validation dùng năm 2019 để chọn checkpoint. Benchmark gốc ghi 60 khởi tạo trong tập test năm 2020, rollout đến bảy ngày. Một phép kiểm thử riêng dùng 12 khởi tạo trong tháng bảy năm 2020 ở sáu giờ. Hai phép đánh giá này không được gộp số liệu.</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dự kiến: 20 giây</a:t>
            </a:r>
          </a:p>
          <a:p/>
          <a:p>
            <a:r>
              <a:t>Theo nhánh chính, đặc trưng đi qua SHT, bộ lọc có trọng số học được, rồi iSHT để trở về lưới không gian. Khối còn có nhánh cục bộ, MLP và residual connection. Nhánh phổ xử lý tương tác toàn miền, còn các nhánh còn lại biến đổi và kết hợp đặc trưng.</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dự kiến: 20 giây</a:t>
            </a:r>
          </a:p>
          <a:p/>
          <a:p>
            <a:r>
              <a:t>Benchmark lưu trữ đánh giá 60 khởi tạo trong tập test năm 2020. Model tiến từng bước sáu giờ, không nhận state thực tế giữa chừng, và được chấm tại sáu thời hạn đến 168 giờ. Stage 1, Stage 2, persistence và climatology dùng chung tập khởi tạo trong runner của benchmark.</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dự kiến: 20 giây</a:t>
            </a:r>
          </a:p>
          <a:p/>
          <a:p>
            <a:r>
              <a:t>Loss là MSE trên standardized tendency, có trọng số theo kênh và diện tích ô lưới. Hai stage dùng cùng công thức. Hạn chế là sai số ở các vùng cực trị nhỏ có thể đóng góp ít vào giá trị trung bình. Vì vậy, loss giảm chưa đủ để kết luận dự báo cực trị tốt hơn.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dự kiến: 35 giây</a:t>
            </a:r>
          </a:p>
          <a:p/>
          <a:p>
            <a:r>
              <a:t>ACC giảm theo thời hạn, nhưng mức giảm khác nhau giữa các biến. Sau bảy ngày, Stage 2 có ACC Z500 khoảng 0,769 và T2M khoảng 0,877, trong khi U10 chỉ còn 0,465. Model giữ cấu trúc dị thường tốt hơn ở một số biến so với gió bề mặt. ACC cao ở nhiệt độ không đủ để kết luận mọi trường khí quyển đều dự báo tốt.</a:t>
            </a:r>
          </a:p>
          <a:p/>
          <a:p>
            <a:r>
              <a:t>Thao tác: Chỉ Z500, T2M và U10; đường xám là persistence.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dự kiến: 40 giây</a:t>
            </a:r>
          </a:p>
          <a:p/>
          <a:p>
            <a:r>
              <a:t>Tại bảy ngày, RMSE của Z500 giảm từ 75,01 xuống 72,67 gpm, tương ứng 3,12%. T2M giảm từ 2,753 xuống 2,663 kelvin; U10 giảm từ 4,364 xuống 4,232 mét trên giây. Cả chín biến trong bảng có RMSE thấp hơn ở Stage 2. Cột cuối là ACC của Stage 2, không phải phần trăm cải thiện. Các mức giảm này mô tả benchmark lưu trữ, chưa phải kiểm định chênh lệch ghép cặp.</a:t>
            </a:r>
          </a:p>
          <a:p/>
          <a:p>
            <a:r>
              <a:t>Thao tác: Chỉ ba hàng Z500, T2M, U10; không đọc cả bảng.</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dự kiến: 30 giây</a:t>
            </a:r>
          </a:p>
          <a:p/>
          <a:p>
            <a:r>
              <a:t>Skill dương nghĩa là MSE thấp hơn baseline; 50% là giảm MSE một nửa, không phải giảm RMSE một nửa. Nét liền so với persistence, nét đứt so với climatology. Với U10 ở ngày bảy, cả hai stage tốt hơn persistence nhưng kém climatology; Stage 2 có skill khoảng âm 4,7% so với climatology. Vì vậy, chất lượng cần được đối chiếu với nhiều baseline, không chỉ persistence.</a:t>
            </a:r>
          </a:p>
          <a:p/>
          <a:p>
            <a:r>
              <a:t>Thao tác: Chỉ chú giải nét liền/nét đứt và U10 ở ngày 7.</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dự kiến: 20 giây</a:t>
            </a:r>
          </a:p>
          <a:p/>
          <a:p>
            <a:r>
              <a:t>Encoder chuyển 71 kênh thành 192 kênh đặc trưng, đi qua sáu khối SFNO, rồi decoder trả về 71 kênh tendency. Tendency được đổi thang và cộng vào state. Stage 1 dùng lưới phổ nội bộ nhỏ hơn; giữ toàn bộ mode nội bộ không có nghĩa là giữ toàn bộ tần số của đầu vào.</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dự kiến: 40 giây</a:t>
            </a:r>
          </a:p>
          <a:p/>
          <a:p>
            <a:r>
              <a:t>Đây là phổ Z500 đo trong benchmark, không phải hình minh họa. Tỷ số bằng một nghĩa là năng lượng model bằng ERA5 tại bậc đó. Ở ngày bảy có vùng thiếu năng lượng và vùng dư năng lượng; tại bậc 179, tỷ số khoảng 13,8 ở Stage 1 và 11,8 ở Stage 2. Vì năng lượng tham chiếu có thể nhỏ, cần xem thêm phổ tuyệt đối. Dữ liệu phổ chỉ tới bậc 179, chưa kiểm tra toàn bộ dải tần của lưới gốc.</a:t>
            </a:r>
          </a:p>
          <a:p/>
          <a:p>
            <a:r>
              <a:t>Thao tác: Chỉ đường R=1, vùng dưới 1 và phần tăng ở bậc cao; trục dọc là log.</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dự kiến: 20 giây</a:t>
            </a:r>
          </a:p>
          <a:p/>
          <a:p>
            <a:r>
              <a:t>Stage 1 được train với batch size bảy, AdamW và learning rate ban đầu năm nhân mười mũ trừ bốn. Mô hình chỉ nhận state hiện tại và được train một bước. Sau 25 epoch, checkpoint ở epoch 25 có validation loss thấp nhất, khoảng 0,13444.</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dự kiến: 20 giây</a:t>
            </a:r>
          </a:p>
          <a:p/>
          <a:p>
            <a:r>
              <a:t>Model đã được test đến bảy ngày, dù train một bước. Benchmark có 60 khởi tạo, chưa đánh giá riêng cực trị và chưa có ablation. Metadata lưu chỉ số mẫu nhưng thiếu timestamp khởi tạo và hash checkpoint. Phổ chỉ có Z500 tới bậc 179. Những giới hạn này cần được nêu khi giải thích kết quả.</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dự kiến: 35 giây</a:t>
            </a:r>
          </a:p>
          <a:p/>
          <a:p>
            <a:r>
              <a:t>Đường xanh dương là training loss, đường xanh lá là validation loss trong 25 epoch. Training loss giảm từ khoảng 0,466 xuống 0,124; validation loss giảm từ 0,316 xuống 0,134. Cả hai đường đều đi xuống và checkpoint tốt nhất nằm ở epoch cuối. Kết quả này ghi nhận mô hình vẫn học được từ dữ liệu. Tuy nhiên, đường loss chưa cho biết sai số tập trung ở biến nào, cũng chưa đánh giá riêng các sự kiện cực đoan.</a:t>
            </a:r>
          </a:p>
          <a:p/>
          <a:p>
            <a:r>
              <a:t>Thao tác: Chỉ đường xanh dương (train), xanh lá (validation) và điểm epoch 25.</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dự kiến: 30 giây</a:t>
            </a:r>
          </a:p>
          <a:p/>
          <a:p>
            <a:r>
              <a:t>Em đã xây dựng SFNO baseline và spherical residual corrector. Stage 2 giảm validation loss 6,74%. Trong benchmark bảy ngày, RMSE Z500 giảm 3,12% và 65 trên 71 kênh có RMSE thấp hơn Stage 1. Cải thiện không đồng đều; phổ Z500 vẫn có sai lệch năng lượng. Hướng tiếp theo là kiểm chứng benchmark, làm ablation và đánh giá cực trị, không chỉ tiếp tục giảm loss trung bình.</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dự kiến: 20 giây</a:t>
            </a:r>
          </a:p>
          <a:p/>
          <a:p>
            <a:r>
              <a:t>Dự báo của Stage 2 gồm tendency từ Stage 1 cộng với correction. Backbone, tendency scale và loss function được giữ lại. Corrector nhận thêm tendency gần nhất và forcing, đồng thời chạy trên lưới gốc. Em train corrector trước, rồi mới mở một phần backbone để fine-tune.</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dự kiến: 20 giây</a:t>
            </a:r>
          </a:p>
          <a:p/>
          <a:p>
            <a:r>
              <a:t>Bảy kênh gồm địa hình, mặt nạ đất–biển, cosine góc thiên đỉnh Mặt Trời, sin–cos giờ địa phương và pha trong năm. Chúng được concatenate vào đầu vào corrector, trước encoder. Backbone vẫn chỉ nhận state hiện tại. Cosine góc thiên đỉnh là thông tin hình học, không phải bức xạ đo được.</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dự kiến: 20 giây</a:t>
            </a:r>
          </a:p>
          <a:p/>
          <a:p>
            <a:r>
              <a:t>Backbone nhận 71 kênh hiện tại. Corrector ghép state, tendency gần nhất và tendency từ backbone, mỗi nhóm 71 kênh, thêm bảy forcing và hai latitude features: tổng cộng 222. Encoder chuyển thành 84 kênh, qua bốn khối SFNO trên lưới gốc, rồi trả về correction 71 kênh.</a:t>
            </a:r>
          </a:p>
          <a:p/>
          <a:p>
            <a:r>
              <a:t>Thao tác: Chỉ nhánh backbone, rồi phép concatenate và corrector.</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dự kiến: 20 giây</a:t>
            </a:r>
          </a:p>
          <a:p/>
          <a:p>
            <a:r>
              <a:t>Trong hai epoch đầu, backbone được giữ cố định và chỉ corrector được train. Từ epoch ba, em mở khối SFNO cuối và decoder của backbone. Phần này dùng learning rate bằng một phần mười corrector để hạn chế thay đổi trọng số đã học. Checkpoint được chọn ở epoch bốn.</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dự kiến: 35 giây</a:t>
            </a:r>
          </a:p>
          <a:p/>
          <a:p>
            <a:r>
              <a:t>Validation loss giảm qua cả bốn epoch, từ khoảng 0,12793 xuống 0,12538. Hai epoch đầu chỉ train corrector; hai epoch sau train thêm backbone tail. Đường loss tiếp tục giảm sau khi mở backbone tail, nhưng chưa có thí nghiệm giữ backbone cố định trong cùng thời lượng để tách riêng tác dụng của việc mở khóa. So với checkpoint Stage 1, validation loss thấp hơn 6,74%. Đây không phải mức giảm RMSE trên test.</a:t>
            </a:r>
          </a:p>
          <a:p/>
          <a:p>
            <a:r>
              <a:t>Thao tác: Chỉ hai pha train; phân biệt validation loss với RMSE trên test.</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dự kiến: 10 giây</a:t>
            </a:r>
          </a:p>
          <a:p/>
          <a:p>
            <a:r>
              <a:t>Em xin kết thúc phần trình bày. Em cảm ơn thầy cô và các bạn đã theo dõi, và xin nhận câu hỏi cùng góp ý.</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png"/><Relationship Id="rId4" Type="http://schemas.openxmlformats.org/officeDocument/2006/relationships/notesSlide" Target="../notesSlides/notesSlide2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7.png"/><Relationship Id="rId4" Type="http://schemas.openxmlformats.org/officeDocument/2006/relationships/notesSlide" Target="../notesSlides/notesSlide29.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8.png"/><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9.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8.png"/><Relationship Id="rId4" Type="http://schemas.openxmlformats.org/officeDocument/2006/relationships/notesSlide" Target="../notesSlides/notesSlide43.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8.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0.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1.png"/><Relationship Id="rId4" Type="http://schemas.openxmlformats.org/officeDocument/2006/relationships/notesSlide" Target="../notesSlides/notesSlide1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2.png"/><Relationship Id="rId4" Type="http://schemas.openxmlformats.org/officeDocument/2006/relationships/notesSlide" Target="../notesSlides/notesSlide2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3.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3.png"/><Relationship Id="rId4" Type="http://schemas.openxmlformats.org/officeDocument/2006/relationships/notesSlide" Target="../notesSlides/notesSlide24.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4.png"/><Relationship Id="rId4" Type="http://schemas.openxmlformats.org/officeDocument/2006/relationships/notesSlide" Target="../notesSlides/notesSlide14.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5.png"/><Relationship Id="rId4" Type="http://schemas.openxmlformats.org/officeDocument/2006/relationships/notesSlide" Target="../notesSlides/notesSlide26.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6.png"/><Relationship Id="rId4" Type="http://schemas.openxmlformats.org/officeDocument/2006/relationships/notesSlide" Target="../notesSlides/notesSlide1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8.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228600" y="0"/>
            <a:ext cx="109728" cy="6858000"/>
          </a:xfrm>
          <a:prstGeom prst="rect">
            <a:avLst/>
          </a:prstGeom>
          <a:solidFill>
            <a:srgbClr val="1976D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3" name="Picture 2" descr="hcmute.png"/>
          <p:cNvPicPr>
            <a:picLocks noChangeAspect="1"/>
          </p:cNvPicPr>
          <p:nvPr/>
        </p:nvPicPr>
        <p:blipFill>
          <a:blip r:embed="rId2"/>
          <a:stretch>
            <a:fillRect/>
          </a:stretch>
        </p:blipFill>
        <p:spPr>
          <a:xfrm>
            <a:off x="658368" y="475488"/>
            <a:ext cx="939619" cy="786384"/>
          </a:xfrm>
          <a:prstGeom prst="rect">
            <a:avLst/>
          </a:prstGeom>
        </p:spPr>
      </p:pic>
      <p:sp>
        <p:nvSpPr>
          <p:cNvPr id="4" name="TextBox 3"/>
          <p:cNvSpPr txBox="1"/>
          <p:nvPr/>
        </p:nvSpPr>
        <p:spPr>
          <a:xfrm>
            <a:off x="1572768" y="603504"/>
            <a:ext cx="7772400" cy="219456"/>
          </a:xfrm>
          <a:prstGeom prst="rect">
            <a:avLst/>
          </a:prstGeom>
          <a:noFill/>
        </p:spPr>
        <p:txBody>
          <a:bodyPr wrap="none" lIns="36576" rIns="36576" tIns="36576" bIns="36576" anchor="t">
            <a:spAutoFit/>
          </a:bodyPr>
          <a:lstStyle/>
          <a:p>
            <a:pPr algn="l"/>
            <a:r>
              <a:rPr sz="1050" b="1">
                <a:solidFill>
                  <a:srgbClr val="5B6773"/>
                </a:solidFill>
                <a:latin typeface="Arial"/>
              </a:rPr>
              <a:t>TRƯỜNG ĐẠI HỌC SƯ PHẠM KỸ THUẬT TP. HỒ CHÍ MINH</a:t>
            </a:r>
          </a:p>
        </p:txBody>
      </p:sp>
      <p:sp>
        <p:nvSpPr>
          <p:cNvPr id="5" name="TextBox 4"/>
          <p:cNvSpPr txBox="1"/>
          <p:nvPr/>
        </p:nvSpPr>
        <p:spPr>
          <a:xfrm>
            <a:off x="658368" y="1645920"/>
            <a:ext cx="10698480" cy="530352"/>
          </a:xfrm>
          <a:prstGeom prst="rect">
            <a:avLst/>
          </a:prstGeom>
          <a:noFill/>
        </p:spPr>
        <p:txBody>
          <a:bodyPr wrap="none" lIns="36576" rIns="36576" tIns="36576" bIns="36576" anchor="t">
            <a:spAutoFit/>
          </a:bodyPr>
          <a:lstStyle/>
          <a:p>
            <a:pPr algn="l"/>
            <a:r>
              <a:rPr sz="3100" b="1">
                <a:solidFill>
                  <a:srgbClr val="1976D2"/>
                </a:solidFill>
                <a:latin typeface="Arial"/>
              </a:rPr>
              <a:t>NEURAL ATMOSPHERE OPERATOR</a:t>
            </a:r>
          </a:p>
        </p:txBody>
      </p:sp>
      <p:sp>
        <p:nvSpPr>
          <p:cNvPr id="6" name="TextBox 5"/>
          <p:cNvSpPr txBox="1"/>
          <p:nvPr/>
        </p:nvSpPr>
        <p:spPr>
          <a:xfrm>
            <a:off x="658368" y="2304288"/>
            <a:ext cx="10241280" cy="457200"/>
          </a:xfrm>
          <a:prstGeom prst="rect">
            <a:avLst/>
          </a:prstGeom>
          <a:noFill/>
        </p:spPr>
        <p:txBody>
          <a:bodyPr wrap="none" lIns="36576" rIns="36576" tIns="36576" bIns="36576" anchor="t">
            <a:spAutoFit/>
          </a:bodyPr>
          <a:lstStyle/>
          <a:p>
            <a:pPr algn="l"/>
            <a:r>
              <a:rPr sz="2000" b="1">
                <a:solidFill>
                  <a:srgbClr val="20384F"/>
                </a:solidFill>
                <a:latin typeface="Arial"/>
              </a:rPr>
              <a:t>Dự báo khí quyển toàn cầu bằng Spherical Fourier Neural Operator</a:t>
            </a:r>
          </a:p>
        </p:txBody>
      </p:sp>
      <p:sp>
        <p:nvSpPr>
          <p:cNvPr id="7" name="Rounded Rectangle 6"/>
          <p:cNvSpPr/>
          <p:nvPr/>
        </p:nvSpPr>
        <p:spPr>
          <a:xfrm>
            <a:off x="658368" y="3108960"/>
            <a:ext cx="4114800" cy="512064"/>
          </a:xfrm>
          <a:prstGeom prst="roundRect">
            <a:avLst>
              <a:gd name="adj" fmla="val 12000"/>
            </a:avLst>
          </a:prstGeom>
          <a:solidFill>
            <a:srgbClr val="EEF5FB"/>
          </a:solidFill>
          <a:ln w="12700">
            <a:solidFill>
              <a:srgbClr val="C8D7E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822960" y="3273552"/>
            <a:ext cx="3749039" cy="182880"/>
          </a:xfrm>
          <a:prstGeom prst="rect">
            <a:avLst/>
          </a:prstGeom>
          <a:noFill/>
        </p:spPr>
        <p:txBody>
          <a:bodyPr wrap="none" lIns="36576" rIns="36576" tIns="36576" bIns="36576" anchor="t">
            <a:spAutoFit/>
          </a:bodyPr>
          <a:lstStyle/>
          <a:p>
            <a:pPr algn="ctr"/>
            <a:r>
              <a:rPr sz="1250" b="1">
                <a:solidFill>
                  <a:srgbClr val="1976D2"/>
                </a:solidFill>
                <a:latin typeface="Arial"/>
              </a:rPr>
              <a:t>STAGE 1 · SFNO BASELINE</a:t>
            </a:r>
          </a:p>
        </p:txBody>
      </p:sp>
      <p:sp>
        <p:nvSpPr>
          <p:cNvPr id="9" name="Rounded Rectangle 8"/>
          <p:cNvSpPr/>
          <p:nvPr/>
        </p:nvSpPr>
        <p:spPr>
          <a:xfrm>
            <a:off x="5029200" y="3108960"/>
            <a:ext cx="5029200" cy="512064"/>
          </a:xfrm>
          <a:prstGeom prst="roundRect">
            <a:avLst>
              <a:gd name="adj" fmla="val 12000"/>
            </a:avLst>
          </a:prstGeom>
          <a:solidFill>
            <a:srgbClr val="EAF6EF"/>
          </a:solidFill>
          <a:ln w="12700">
            <a:solidFill>
              <a:srgbClr val="B8D8C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5193792" y="3273552"/>
            <a:ext cx="4663440" cy="182880"/>
          </a:xfrm>
          <a:prstGeom prst="rect">
            <a:avLst/>
          </a:prstGeom>
          <a:noFill/>
        </p:spPr>
        <p:txBody>
          <a:bodyPr wrap="none" lIns="36576" rIns="36576" tIns="36576" bIns="36576" anchor="t">
            <a:spAutoFit/>
          </a:bodyPr>
          <a:lstStyle/>
          <a:p>
            <a:pPr algn="ctr"/>
            <a:r>
              <a:rPr sz="1250" b="1">
                <a:solidFill>
                  <a:srgbClr val="2E8B57"/>
                </a:solidFill>
                <a:latin typeface="Arial"/>
              </a:rPr>
              <a:t>STAGE 2 · SPHERICAL RESIDUAL CORRECTOR</a:t>
            </a:r>
          </a:p>
        </p:txBody>
      </p:sp>
      <p:sp>
        <p:nvSpPr>
          <p:cNvPr id="11" name="TextBox 10"/>
          <p:cNvSpPr txBox="1"/>
          <p:nvPr/>
        </p:nvSpPr>
        <p:spPr>
          <a:xfrm>
            <a:off x="694944" y="5074920"/>
            <a:ext cx="7772400" cy="256032"/>
          </a:xfrm>
          <a:prstGeom prst="rect">
            <a:avLst/>
          </a:prstGeom>
          <a:noFill/>
        </p:spPr>
        <p:txBody>
          <a:bodyPr wrap="none" lIns="36576" rIns="36576" tIns="36576" bIns="36576" anchor="t">
            <a:spAutoFit/>
          </a:bodyPr>
          <a:lstStyle/>
          <a:p>
            <a:pPr algn="l"/>
            <a:r>
              <a:rPr sz="1300" b="0">
                <a:solidFill>
                  <a:srgbClr val="20384F"/>
                </a:solidFill>
                <a:latin typeface="Arial"/>
              </a:rPr>
              <a:t>Sinh viên: Lương Nguyễn Thành Hưng · MSSV: 23110111</a:t>
            </a:r>
          </a:p>
        </p:txBody>
      </p:sp>
      <p:sp>
        <p:nvSpPr>
          <p:cNvPr id="12" name="TextBox 11"/>
          <p:cNvSpPr txBox="1"/>
          <p:nvPr/>
        </p:nvSpPr>
        <p:spPr>
          <a:xfrm>
            <a:off x="694944" y="5532120"/>
            <a:ext cx="3657600" cy="182880"/>
          </a:xfrm>
          <a:prstGeom prst="rect">
            <a:avLst/>
          </a:prstGeom>
          <a:noFill/>
        </p:spPr>
        <p:txBody>
          <a:bodyPr wrap="none" lIns="36576" rIns="36576" tIns="36576" bIns="36576" anchor="t">
            <a:spAutoFit/>
          </a:bodyPr>
          <a:lstStyle/>
          <a:p>
            <a:pPr algn="l"/>
            <a:r>
              <a:rPr sz="1000" b="0">
                <a:solidFill>
                  <a:srgbClr val="5B6773"/>
                </a:solidFill>
                <a:latin typeface="Arial"/>
              </a:rPr>
              <a:t>TP. Hồ Chí Minh, 2026</a:t>
            </a:r>
          </a:p>
        </p:txBody>
      </p:sp>
      <p:sp>
        <p:nvSpPr>
          <p:cNvPr id="13" name="TextBox 12"/>
          <p:cNvSpPr txBox="1"/>
          <p:nvPr/>
        </p:nvSpPr>
        <p:spPr>
          <a:xfrm>
            <a:off x="11109960" y="6263640"/>
            <a:ext cx="438912" cy="182880"/>
          </a:xfrm>
          <a:prstGeom prst="rect">
            <a:avLst/>
          </a:prstGeom>
          <a:noFill/>
        </p:spPr>
        <p:txBody>
          <a:bodyPr wrap="none" lIns="36576" rIns="36576" tIns="36576" bIns="36576" anchor="t">
            <a:spAutoFit/>
          </a:bodyPr>
          <a:lstStyle/>
          <a:p>
            <a:pPr algn="r"/>
            <a:r>
              <a:rPr sz="1000" b="1">
                <a:solidFill>
                  <a:srgbClr val="2F95DE"/>
                </a:solidFill>
                <a:latin typeface="Arial"/>
              </a:rPr>
              <a:t>01</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hcmute.png"/>
          <p:cNvPicPr>
            <a:picLocks noChangeAspect="1"/>
          </p:cNvPicPr>
          <p:nvPr/>
        </p:nvPicPr>
        <p:blipFill>
          <a:blip r:embed="rId2"/>
          <a:stretch>
            <a:fillRect/>
          </a:stretch>
        </p:blipFill>
        <p:spPr>
          <a:xfrm>
            <a:off x="320040" y="182880"/>
            <a:ext cx="524439" cy="438912"/>
          </a:xfrm>
          <a:prstGeom prst="rect">
            <a:avLst/>
          </a:prstGeom>
        </p:spPr>
      </p:pic>
      <p:sp>
        <p:nvSpPr>
          <p:cNvPr id="3" name="Rectangle 2"/>
          <p:cNvSpPr/>
          <p:nvPr/>
        </p:nvSpPr>
        <p:spPr>
          <a:xfrm>
            <a:off x="292608" y="713232"/>
            <a:ext cx="11594592" cy="41148"/>
          </a:xfrm>
          <a:prstGeom prst="rect">
            <a:avLst/>
          </a:prstGeom>
          <a:solidFill>
            <a:srgbClr val="1976D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 name="TextBox 3"/>
          <p:cNvSpPr txBox="1"/>
          <p:nvPr/>
        </p:nvSpPr>
        <p:spPr>
          <a:xfrm>
            <a:off x="941832" y="182880"/>
            <a:ext cx="9646920" cy="365760"/>
          </a:xfrm>
          <a:prstGeom prst="rect">
            <a:avLst/>
          </a:prstGeom>
          <a:noFill/>
        </p:spPr>
        <p:txBody>
          <a:bodyPr wrap="none" lIns="36576" rIns="36576" tIns="36576" bIns="36576" anchor="t">
            <a:spAutoFit/>
          </a:bodyPr>
          <a:lstStyle/>
          <a:p>
            <a:pPr algn="l"/>
            <a:r>
              <a:rPr sz="2300" b="1">
                <a:solidFill>
                  <a:srgbClr val="20384F"/>
                </a:solidFill>
                <a:latin typeface="Arial"/>
              </a:rPr>
              <a:t>Bài toán dự báo khí quyển</a:t>
            </a:r>
          </a:p>
        </p:txBody>
      </p:sp>
      <p:sp>
        <p:nvSpPr>
          <p:cNvPr id="5" name="TextBox 4"/>
          <p:cNvSpPr txBox="1"/>
          <p:nvPr/>
        </p:nvSpPr>
        <p:spPr>
          <a:xfrm>
            <a:off x="11228832" y="256032"/>
            <a:ext cx="384048" cy="182880"/>
          </a:xfrm>
          <a:prstGeom prst="rect">
            <a:avLst/>
          </a:prstGeom>
          <a:noFill/>
        </p:spPr>
        <p:txBody>
          <a:bodyPr wrap="none" lIns="36576" rIns="36576" tIns="36576" bIns="36576" anchor="t">
            <a:spAutoFit/>
          </a:bodyPr>
          <a:lstStyle/>
          <a:p>
            <a:pPr algn="r"/>
            <a:r>
              <a:rPr sz="1000" b="1">
                <a:solidFill>
                  <a:srgbClr val="1976D2"/>
                </a:solidFill>
                <a:latin typeface="Arial"/>
              </a:rPr>
              <a:t>02</a:t>
            </a:r>
          </a:p>
        </p:txBody>
      </p:sp>
      <p:sp>
        <p:nvSpPr>
          <p:cNvPr id="6" name="TextBox 5"/>
          <p:cNvSpPr txBox="1"/>
          <p:nvPr/>
        </p:nvSpPr>
        <p:spPr>
          <a:xfrm>
            <a:off x="365760" y="6583680"/>
            <a:ext cx="4754880" cy="146304"/>
          </a:xfrm>
          <a:prstGeom prst="rect">
            <a:avLst/>
          </a:prstGeom>
          <a:noFill/>
        </p:spPr>
        <p:txBody>
          <a:bodyPr wrap="none" lIns="36576" rIns="36576" tIns="36576" bIns="36576" anchor="t">
            <a:spAutoFit/>
          </a:bodyPr>
          <a:lstStyle/>
          <a:p>
            <a:pPr algn="l"/>
            <a:r>
              <a:rPr sz="620" b="0">
                <a:solidFill>
                  <a:srgbClr val="8794A1"/>
                </a:solidFill>
                <a:latin typeface="Arial"/>
              </a:rPr>
              <a:t>Lương Nguyễn Thành Hưng · NeuralAtmosphereOperator</a:t>
            </a:r>
          </a:p>
        </p:txBody>
      </p:sp>
      <p:sp>
        <p:nvSpPr>
          <p:cNvPr id="7" name="TextBox 6"/>
          <p:cNvSpPr txBox="1"/>
          <p:nvPr/>
        </p:nvSpPr>
        <p:spPr>
          <a:xfrm>
            <a:off x="10332720" y="6583680"/>
            <a:ext cx="1325880" cy="146304"/>
          </a:xfrm>
          <a:prstGeom prst="rect">
            <a:avLst/>
          </a:prstGeom>
          <a:noFill/>
        </p:spPr>
        <p:txBody>
          <a:bodyPr wrap="none" lIns="36576" rIns="36576" tIns="36576" bIns="36576" anchor="t">
            <a:spAutoFit/>
          </a:bodyPr>
          <a:lstStyle/>
          <a:p>
            <a:pPr algn="r"/>
            <a:r>
              <a:rPr sz="620" b="0">
                <a:solidFill>
                  <a:srgbClr val="8794A1"/>
                </a:solidFill>
                <a:latin typeface="Arial"/>
              </a:rPr>
              <a:t>Stage 1 → Stage 2</a:t>
            </a:r>
          </a:p>
        </p:txBody>
      </p:sp>
      <p:pic>
        <p:nvPicPr>
          <p:cNvPr id="8" name="Picture 7" descr="eq_operator.png"/>
          <p:cNvPicPr>
            <a:picLocks noChangeAspect="1"/>
          </p:cNvPicPr>
          <p:nvPr/>
        </p:nvPicPr>
        <p:blipFill>
          <a:blip r:embed="rId3"/>
          <a:stretch>
            <a:fillRect/>
          </a:stretch>
        </p:blipFill>
        <p:spPr>
          <a:xfrm>
            <a:off x="4158691" y="1575511"/>
            <a:ext cx="3844137" cy="671169"/>
          </a:xfrm>
          <a:prstGeom prst="rect">
            <a:avLst/>
          </a:prstGeom>
        </p:spPr>
      </p:pic>
      <p:sp>
        <p:nvSpPr>
          <p:cNvPr id="9" name="Rounded Rectangle 8"/>
          <p:cNvSpPr/>
          <p:nvPr/>
        </p:nvSpPr>
        <p:spPr>
          <a:xfrm>
            <a:off x="685800" y="2834640"/>
            <a:ext cx="3383280" cy="1325880"/>
          </a:xfrm>
          <a:prstGeom prst="roundRect">
            <a:avLst>
              <a:gd name="adj" fmla="val 12000"/>
            </a:avLst>
          </a:prstGeom>
          <a:solidFill>
            <a:srgbClr val="F7FAFD"/>
          </a:solidFill>
          <a:ln w="12700">
            <a:solidFill>
              <a:srgbClr val="D3DE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Rectangle 9"/>
          <p:cNvSpPr/>
          <p:nvPr/>
        </p:nvSpPr>
        <p:spPr>
          <a:xfrm>
            <a:off x="685800" y="2834640"/>
            <a:ext cx="3383280" cy="64008"/>
          </a:xfrm>
          <a:prstGeom prst="rect">
            <a:avLst/>
          </a:prstGeom>
          <a:solidFill>
            <a:srgbClr val="1976D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868680" y="2990088"/>
            <a:ext cx="3017520" cy="429768"/>
          </a:xfrm>
          <a:prstGeom prst="rect">
            <a:avLst/>
          </a:prstGeom>
          <a:noFill/>
        </p:spPr>
        <p:txBody>
          <a:bodyPr wrap="none" lIns="36576" rIns="36576" tIns="36576" bIns="36576" anchor="t">
            <a:spAutoFit/>
          </a:bodyPr>
          <a:lstStyle/>
          <a:p>
            <a:pPr algn="l"/>
            <a:r>
              <a:rPr sz="1600" b="1">
                <a:solidFill>
                  <a:srgbClr val="1976D2"/>
                </a:solidFill>
                <a:latin typeface="Arial"/>
              </a:rPr>
              <a:t>Đầu vào</a:t>
            </a:r>
          </a:p>
        </p:txBody>
      </p:sp>
      <p:sp>
        <p:nvSpPr>
          <p:cNvPr id="12" name="TextBox 11"/>
          <p:cNvSpPr txBox="1"/>
          <p:nvPr/>
        </p:nvSpPr>
        <p:spPr>
          <a:xfrm>
            <a:off x="868680" y="3611880"/>
            <a:ext cx="3017520" cy="438912"/>
          </a:xfrm>
          <a:prstGeom prst="rect">
            <a:avLst/>
          </a:prstGeom>
          <a:noFill/>
        </p:spPr>
        <p:txBody>
          <a:bodyPr wrap="none" lIns="36576" rIns="36576" tIns="36576" bIns="36576" anchor="t">
            <a:spAutoFit/>
          </a:bodyPr>
          <a:lstStyle/>
          <a:p>
            <a:pPr algn="l"/>
            <a:r>
              <a:rPr sz="1500" b="0">
                <a:solidFill>
                  <a:srgbClr val="20384F"/>
                </a:solidFill>
                <a:latin typeface="Arial"/>
              </a:rPr>
              <a:t>ERA5 x(t), hoặc [x(t−6h), x(t)]</a:t>
            </a:r>
          </a:p>
        </p:txBody>
      </p:sp>
      <p:sp>
        <p:nvSpPr>
          <p:cNvPr id="13" name="Rounded Rectangle 12"/>
          <p:cNvSpPr/>
          <p:nvPr/>
        </p:nvSpPr>
        <p:spPr>
          <a:xfrm>
            <a:off x="4480560" y="2834640"/>
            <a:ext cx="3383280" cy="1325880"/>
          </a:xfrm>
          <a:prstGeom prst="roundRect">
            <a:avLst>
              <a:gd name="adj" fmla="val 12000"/>
            </a:avLst>
          </a:prstGeom>
          <a:solidFill>
            <a:srgbClr val="F7FAFD"/>
          </a:solidFill>
          <a:ln w="12700">
            <a:solidFill>
              <a:srgbClr val="D3DE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Rectangle 13"/>
          <p:cNvSpPr/>
          <p:nvPr/>
        </p:nvSpPr>
        <p:spPr>
          <a:xfrm>
            <a:off x="4480560" y="2834640"/>
            <a:ext cx="3383280" cy="64008"/>
          </a:xfrm>
          <a:prstGeom prst="rect">
            <a:avLst/>
          </a:prstGeom>
          <a:solidFill>
            <a:srgbClr val="2E8B5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4663440" y="2990088"/>
            <a:ext cx="3017520" cy="429768"/>
          </a:xfrm>
          <a:prstGeom prst="rect">
            <a:avLst/>
          </a:prstGeom>
          <a:noFill/>
        </p:spPr>
        <p:txBody>
          <a:bodyPr wrap="none" lIns="36576" rIns="36576" tIns="36576" bIns="36576" anchor="t">
            <a:spAutoFit/>
          </a:bodyPr>
          <a:lstStyle/>
          <a:p>
            <a:pPr algn="l"/>
            <a:r>
              <a:rPr sz="1600" b="1">
                <a:solidFill>
                  <a:srgbClr val="2E8B57"/>
                </a:solidFill>
                <a:latin typeface="Arial"/>
              </a:rPr>
              <a:t>Đầu ra</a:t>
            </a:r>
          </a:p>
        </p:txBody>
      </p:sp>
      <p:sp>
        <p:nvSpPr>
          <p:cNvPr id="16" name="TextBox 15"/>
          <p:cNvSpPr txBox="1"/>
          <p:nvPr/>
        </p:nvSpPr>
        <p:spPr>
          <a:xfrm>
            <a:off x="4663440" y="3611880"/>
            <a:ext cx="3017520" cy="438912"/>
          </a:xfrm>
          <a:prstGeom prst="rect">
            <a:avLst/>
          </a:prstGeom>
          <a:noFill/>
        </p:spPr>
        <p:txBody>
          <a:bodyPr wrap="none" lIns="36576" rIns="36576" tIns="36576" bIns="36576" anchor="t">
            <a:spAutoFit/>
          </a:bodyPr>
          <a:lstStyle/>
          <a:p>
            <a:pPr algn="l"/>
            <a:r>
              <a:rPr sz="1500" b="0">
                <a:solidFill>
                  <a:srgbClr val="20384F"/>
                </a:solidFill>
                <a:latin typeface="Arial"/>
              </a:rPr>
              <a:t>71 trường dự báo tại t+6h</a:t>
            </a:r>
          </a:p>
        </p:txBody>
      </p:sp>
      <p:sp>
        <p:nvSpPr>
          <p:cNvPr id="17" name="Rounded Rectangle 16"/>
          <p:cNvSpPr/>
          <p:nvPr/>
        </p:nvSpPr>
        <p:spPr>
          <a:xfrm>
            <a:off x="8275320" y="2834640"/>
            <a:ext cx="3383280" cy="1325880"/>
          </a:xfrm>
          <a:prstGeom prst="roundRect">
            <a:avLst>
              <a:gd name="adj" fmla="val 12000"/>
            </a:avLst>
          </a:prstGeom>
          <a:solidFill>
            <a:srgbClr val="F7FAFD"/>
          </a:solidFill>
          <a:ln w="12700">
            <a:solidFill>
              <a:srgbClr val="D3DE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Rectangle 17"/>
          <p:cNvSpPr/>
          <p:nvPr/>
        </p:nvSpPr>
        <p:spPr>
          <a:xfrm>
            <a:off x="8275320" y="2834640"/>
            <a:ext cx="3383280" cy="64008"/>
          </a:xfrm>
          <a:prstGeom prst="rect">
            <a:avLst/>
          </a:prstGeom>
          <a:solidFill>
            <a:srgbClr val="E28A2B"/>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8458200" y="2990088"/>
            <a:ext cx="3017520" cy="429768"/>
          </a:xfrm>
          <a:prstGeom prst="rect">
            <a:avLst/>
          </a:prstGeom>
          <a:noFill/>
        </p:spPr>
        <p:txBody>
          <a:bodyPr wrap="none" lIns="36576" rIns="36576" tIns="36576" bIns="36576" anchor="t">
            <a:spAutoFit/>
          </a:bodyPr>
          <a:lstStyle/>
          <a:p>
            <a:pPr algn="l"/>
            <a:r>
              <a:rPr sz="1600" b="1">
                <a:solidFill>
                  <a:srgbClr val="E28A2B"/>
                </a:solidFill>
                <a:latin typeface="Arial"/>
              </a:rPr>
              <a:t>Miền xác định</a:t>
            </a:r>
          </a:p>
        </p:txBody>
      </p:sp>
      <p:sp>
        <p:nvSpPr>
          <p:cNvPr id="20" name="TextBox 19"/>
          <p:cNvSpPr txBox="1"/>
          <p:nvPr/>
        </p:nvSpPr>
        <p:spPr>
          <a:xfrm>
            <a:off x="8458200" y="3611880"/>
            <a:ext cx="3017520" cy="438912"/>
          </a:xfrm>
          <a:prstGeom prst="rect">
            <a:avLst/>
          </a:prstGeom>
          <a:noFill/>
        </p:spPr>
        <p:txBody>
          <a:bodyPr wrap="none" lIns="36576" rIns="36576" tIns="36576" bIns="36576" anchor="t">
            <a:spAutoFit/>
          </a:bodyPr>
          <a:lstStyle/>
          <a:p>
            <a:pPr algn="l"/>
            <a:r>
              <a:rPr sz="1500" b="0">
                <a:solidFill>
                  <a:srgbClr val="20384F"/>
                </a:solidFill>
                <a:latin typeface="Arial"/>
              </a:rPr>
              <a:t>Mặt cầu S² và 71 biến khí tượng</a:t>
            </a:r>
          </a:p>
        </p:txBody>
      </p:sp>
      <p:sp>
        <p:nvSpPr>
          <p:cNvPr id="21" name="Rounded Rectangle 20"/>
          <p:cNvSpPr/>
          <p:nvPr/>
        </p:nvSpPr>
        <p:spPr>
          <a:xfrm>
            <a:off x="685800" y="4663440"/>
            <a:ext cx="10972800" cy="1024128"/>
          </a:xfrm>
          <a:prstGeom prst="roundRect">
            <a:avLst>
              <a:gd name="adj" fmla="val 12000"/>
            </a:avLst>
          </a:prstGeom>
          <a:solidFill>
            <a:srgbClr val="EEF5FB"/>
          </a:solidFill>
          <a:ln w="12700">
            <a:solidFill>
              <a:srgbClr val="CAD8E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914400" y="4928616"/>
            <a:ext cx="1554480" cy="201168"/>
          </a:xfrm>
          <a:prstGeom prst="rect">
            <a:avLst/>
          </a:prstGeom>
          <a:noFill/>
        </p:spPr>
        <p:txBody>
          <a:bodyPr wrap="none" lIns="36576" rIns="36576" tIns="36576" bIns="36576" anchor="t">
            <a:spAutoFit/>
          </a:bodyPr>
          <a:lstStyle/>
          <a:p>
            <a:pPr algn="l"/>
            <a:r>
              <a:rPr sz="1400" b="1">
                <a:solidFill>
                  <a:srgbClr val="1976D2"/>
                </a:solidFill>
                <a:latin typeface="Arial"/>
              </a:rPr>
              <a:t>Mục tiêu</a:t>
            </a:r>
          </a:p>
        </p:txBody>
      </p:sp>
      <p:sp>
        <p:nvSpPr>
          <p:cNvPr id="23" name="TextBox 22"/>
          <p:cNvSpPr txBox="1"/>
          <p:nvPr/>
        </p:nvSpPr>
        <p:spPr>
          <a:xfrm>
            <a:off x="2395728" y="4864608"/>
            <a:ext cx="8732520" cy="329184"/>
          </a:xfrm>
          <a:prstGeom prst="rect">
            <a:avLst/>
          </a:prstGeom>
          <a:noFill/>
        </p:spPr>
        <p:txBody>
          <a:bodyPr wrap="none" lIns="36576" rIns="36576" tIns="36576" bIns="36576" anchor="t">
            <a:spAutoFit/>
          </a:bodyPr>
          <a:lstStyle/>
          <a:p>
            <a:pPr algn="ctr"/>
            <a:r>
              <a:rPr sz="1400" b="1">
                <a:solidFill>
                  <a:srgbClr val="20384F"/>
                </a:solidFill>
                <a:latin typeface="Arial"/>
              </a:rPr>
              <a:t>Huấn luyện bước 6 giờ; đánh giá dự báo lặp đến 7 ngày trên tập test.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hcmute.png"/>
          <p:cNvPicPr>
            <a:picLocks noChangeAspect="1"/>
          </p:cNvPicPr>
          <p:nvPr/>
        </p:nvPicPr>
        <p:blipFill>
          <a:blip r:embed="rId2"/>
          <a:stretch>
            <a:fillRect/>
          </a:stretch>
        </p:blipFill>
        <p:spPr>
          <a:xfrm>
            <a:off x="320040" y="182880"/>
            <a:ext cx="524439" cy="438912"/>
          </a:xfrm>
          <a:prstGeom prst="rect">
            <a:avLst/>
          </a:prstGeom>
        </p:spPr>
      </p:pic>
      <p:sp>
        <p:nvSpPr>
          <p:cNvPr id="3" name="Rectangle 2"/>
          <p:cNvSpPr/>
          <p:nvPr/>
        </p:nvSpPr>
        <p:spPr>
          <a:xfrm>
            <a:off x="292608" y="713232"/>
            <a:ext cx="11594592" cy="41148"/>
          </a:xfrm>
          <a:prstGeom prst="rect">
            <a:avLst/>
          </a:prstGeom>
          <a:solidFill>
            <a:srgbClr val="1976D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 name="TextBox 3"/>
          <p:cNvSpPr txBox="1"/>
          <p:nvPr/>
        </p:nvSpPr>
        <p:spPr>
          <a:xfrm>
            <a:off x="941832" y="182880"/>
            <a:ext cx="9646920" cy="365760"/>
          </a:xfrm>
          <a:prstGeom prst="rect">
            <a:avLst/>
          </a:prstGeom>
          <a:noFill/>
        </p:spPr>
        <p:txBody>
          <a:bodyPr wrap="none" lIns="36576" rIns="36576" tIns="36576" bIns="36576" anchor="t">
            <a:spAutoFit/>
          </a:bodyPr>
          <a:lstStyle/>
          <a:p>
            <a:pPr algn="l"/>
            <a:r>
              <a:rPr sz="2300" b="1">
                <a:solidFill>
                  <a:srgbClr val="20384F"/>
                </a:solidFill>
                <a:latin typeface="Arial"/>
              </a:rPr>
              <a:t>Nguồn dữ liệu ERA5 / WeatherBench2</a:t>
            </a:r>
          </a:p>
        </p:txBody>
      </p:sp>
      <p:sp>
        <p:nvSpPr>
          <p:cNvPr id="5" name="TextBox 4"/>
          <p:cNvSpPr txBox="1"/>
          <p:nvPr/>
        </p:nvSpPr>
        <p:spPr>
          <a:xfrm>
            <a:off x="11228832" y="256032"/>
            <a:ext cx="384048" cy="182880"/>
          </a:xfrm>
          <a:prstGeom prst="rect">
            <a:avLst/>
          </a:prstGeom>
          <a:noFill/>
        </p:spPr>
        <p:txBody>
          <a:bodyPr wrap="none" lIns="36576" rIns="36576" tIns="36576" bIns="36576" anchor="t">
            <a:spAutoFit/>
          </a:bodyPr>
          <a:lstStyle/>
          <a:p>
            <a:pPr algn="r"/>
            <a:r>
              <a:rPr sz="1000" b="1">
                <a:solidFill>
                  <a:srgbClr val="1976D2"/>
                </a:solidFill>
                <a:latin typeface="Arial"/>
              </a:rPr>
              <a:t>03</a:t>
            </a:r>
          </a:p>
        </p:txBody>
      </p:sp>
      <p:sp>
        <p:nvSpPr>
          <p:cNvPr id="6" name="TextBox 5"/>
          <p:cNvSpPr txBox="1"/>
          <p:nvPr/>
        </p:nvSpPr>
        <p:spPr>
          <a:xfrm>
            <a:off x="365760" y="6583680"/>
            <a:ext cx="4754880" cy="146304"/>
          </a:xfrm>
          <a:prstGeom prst="rect">
            <a:avLst/>
          </a:prstGeom>
          <a:noFill/>
        </p:spPr>
        <p:txBody>
          <a:bodyPr wrap="none" lIns="36576" rIns="36576" tIns="36576" bIns="36576" anchor="t">
            <a:spAutoFit/>
          </a:bodyPr>
          <a:lstStyle/>
          <a:p>
            <a:pPr algn="l"/>
            <a:r>
              <a:rPr sz="620" b="0">
                <a:solidFill>
                  <a:srgbClr val="8794A1"/>
                </a:solidFill>
                <a:latin typeface="Arial"/>
              </a:rPr>
              <a:t>Lương Nguyễn Thành Hưng · NeuralAtmosphereOperator</a:t>
            </a:r>
          </a:p>
        </p:txBody>
      </p:sp>
      <p:sp>
        <p:nvSpPr>
          <p:cNvPr id="7" name="TextBox 6"/>
          <p:cNvSpPr txBox="1"/>
          <p:nvPr/>
        </p:nvSpPr>
        <p:spPr>
          <a:xfrm>
            <a:off x="10332720" y="6583680"/>
            <a:ext cx="1325880" cy="146304"/>
          </a:xfrm>
          <a:prstGeom prst="rect">
            <a:avLst/>
          </a:prstGeom>
          <a:noFill/>
        </p:spPr>
        <p:txBody>
          <a:bodyPr wrap="none" lIns="36576" rIns="36576" tIns="36576" bIns="36576" anchor="t">
            <a:spAutoFit/>
          </a:bodyPr>
          <a:lstStyle/>
          <a:p>
            <a:pPr algn="r"/>
            <a:r>
              <a:rPr sz="620" b="0">
                <a:solidFill>
                  <a:srgbClr val="8794A1"/>
                </a:solidFill>
                <a:latin typeface="Arial"/>
              </a:rPr>
              <a:t>Stage 1 → Stage 2</a:t>
            </a:r>
          </a:p>
        </p:txBody>
      </p:sp>
      <p:sp>
        <p:nvSpPr>
          <p:cNvPr id="8" name="Rounded Rectangle 7"/>
          <p:cNvSpPr/>
          <p:nvPr/>
        </p:nvSpPr>
        <p:spPr>
          <a:xfrm>
            <a:off x="594360" y="1143000"/>
            <a:ext cx="3429000" cy="1417320"/>
          </a:xfrm>
          <a:prstGeom prst="roundRect">
            <a:avLst>
              <a:gd name="adj" fmla="val 12000"/>
            </a:avLst>
          </a:prstGeom>
          <a:solidFill>
            <a:srgbClr val="F7FAFD"/>
          </a:solidFill>
          <a:ln w="12700">
            <a:solidFill>
              <a:srgbClr val="D5E0EA"/>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Rectangle 8"/>
          <p:cNvSpPr/>
          <p:nvPr/>
        </p:nvSpPr>
        <p:spPr>
          <a:xfrm>
            <a:off x="594360" y="1143000"/>
            <a:ext cx="64008" cy="1417320"/>
          </a:xfrm>
          <a:prstGeom prst="rect">
            <a:avLst/>
          </a:prstGeom>
          <a:solidFill>
            <a:srgbClr val="1976D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758952" y="1234440"/>
            <a:ext cx="3136392" cy="393192"/>
          </a:xfrm>
          <a:prstGeom prst="rect">
            <a:avLst/>
          </a:prstGeom>
          <a:noFill/>
        </p:spPr>
        <p:txBody>
          <a:bodyPr wrap="none" lIns="36576" rIns="36576" tIns="36576" bIns="36576" anchor="t">
            <a:spAutoFit/>
          </a:bodyPr>
          <a:lstStyle/>
          <a:p>
            <a:pPr algn="l"/>
            <a:r>
              <a:rPr sz="1200" b="1">
                <a:solidFill>
                  <a:srgbClr val="5B6773"/>
                </a:solidFill>
                <a:latin typeface="Arial"/>
              </a:rPr>
              <a:t>Nguồn</a:t>
            </a:r>
          </a:p>
        </p:txBody>
      </p:sp>
      <p:sp>
        <p:nvSpPr>
          <p:cNvPr id="11" name="TextBox 10"/>
          <p:cNvSpPr txBox="1"/>
          <p:nvPr/>
        </p:nvSpPr>
        <p:spPr>
          <a:xfrm>
            <a:off x="758952" y="1737360"/>
            <a:ext cx="3136392" cy="457200"/>
          </a:xfrm>
          <a:prstGeom prst="rect">
            <a:avLst/>
          </a:prstGeom>
          <a:noFill/>
        </p:spPr>
        <p:txBody>
          <a:bodyPr wrap="none" lIns="36576" rIns="36576" tIns="36576" bIns="36576" anchor="t">
            <a:spAutoFit/>
          </a:bodyPr>
          <a:lstStyle/>
          <a:p>
            <a:pPr algn="l"/>
            <a:r>
              <a:rPr sz="2400" b="1">
                <a:solidFill>
                  <a:srgbClr val="1976D2"/>
                </a:solidFill>
                <a:latin typeface="Arial"/>
              </a:rPr>
              <a:t>ERA5 công khai trên WeatherBench2</a:t>
            </a:r>
          </a:p>
        </p:txBody>
      </p:sp>
      <p:sp>
        <p:nvSpPr>
          <p:cNvPr id="12" name="Rounded Rectangle 11"/>
          <p:cNvSpPr/>
          <p:nvPr/>
        </p:nvSpPr>
        <p:spPr>
          <a:xfrm>
            <a:off x="4361688" y="1143000"/>
            <a:ext cx="3429000" cy="1417320"/>
          </a:xfrm>
          <a:prstGeom prst="roundRect">
            <a:avLst>
              <a:gd name="adj" fmla="val 12000"/>
            </a:avLst>
          </a:prstGeom>
          <a:solidFill>
            <a:srgbClr val="F7FAFD"/>
          </a:solidFill>
          <a:ln w="12700">
            <a:solidFill>
              <a:srgbClr val="D5E0EA"/>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Rectangle 12"/>
          <p:cNvSpPr/>
          <p:nvPr/>
        </p:nvSpPr>
        <p:spPr>
          <a:xfrm>
            <a:off x="4361688" y="1143000"/>
            <a:ext cx="64008" cy="1417320"/>
          </a:xfrm>
          <a:prstGeom prst="rect">
            <a:avLst/>
          </a:prstGeom>
          <a:solidFill>
            <a:srgbClr val="1976D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4526280" y="1234440"/>
            <a:ext cx="3136392" cy="393192"/>
          </a:xfrm>
          <a:prstGeom prst="rect">
            <a:avLst/>
          </a:prstGeom>
          <a:noFill/>
        </p:spPr>
        <p:txBody>
          <a:bodyPr wrap="none" lIns="36576" rIns="36576" tIns="36576" bIns="36576" anchor="t">
            <a:spAutoFit/>
          </a:bodyPr>
          <a:lstStyle/>
          <a:p>
            <a:pPr algn="l"/>
            <a:r>
              <a:rPr sz="1200" b="1">
                <a:solidFill>
                  <a:srgbClr val="5B6773"/>
                </a:solidFill>
                <a:latin typeface="Arial"/>
              </a:rPr>
              <a:t>Lưới nguồn</a:t>
            </a:r>
          </a:p>
        </p:txBody>
      </p:sp>
      <p:sp>
        <p:nvSpPr>
          <p:cNvPr id="15" name="TextBox 14"/>
          <p:cNvSpPr txBox="1"/>
          <p:nvPr/>
        </p:nvSpPr>
        <p:spPr>
          <a:xfrm>
            <a:off x="4526280" y="1737360"/>
            <a:ext cx="3136392" cy="457200"/>
          </a:xfrm>
          <a:prstGeom prst="rect">
            <a:avLst/>
          </a:prstGeom>
          <a:noFill/>
        </p:spPr>
        <p:txBody>
          <a:bodyPr wrap="none" lIns="36576" rIns="36576" tIns="36576" bIns="36576" anchor="t">
            <a:spAutoFit/>
          </a:bodyPr>
          <a:lstStyle/>
          <a:p>
            <a:pPr algn="l"/>
            <a:r>
              <a:rPr sz="2400" b="1">
                <a:solidFill>
                  <a:srgbClr val="1976D2"/>
                </a:solidFill>
                <a:latin typeface="Arial"/>
              </a:rPr>
              <a:t>0,25° · 721 × 1440</a:t>
            </a:r>
          </a:p>
        </p:txBody>
      </p:sp>
      <p:sp>
        <p:nvSpPr>
          <p:cNvPr id="16" name="Rounded Rectangle 15"/>
          <p:cNvSpPr/>
          <p:nvPr/>
        </p:nvSpPr>
        <p:spPr>
          <a:xfrm>
            <a:off x="8129016" y="1143000"/>
            <a:ext cx="3429000" cy="1417320"/>
          </a:xfrm>
          <a:prstGeom prst="roundRect">
            <a:avLst>
              <a:gd name="adj" fmla="val 12000"/>
            </a:avLst>
          </a:prstGeom>
          <a:solidFill>
            <a:srgbClr val="F7FAFD"/>
          </a:solidFill>
          <a:ln w="12700">
            <a:solidFill>
              <a:srgbClr val="D5E0EA"/>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Rectangle 16"/>
          <p:cNvSpPr/>
          <p:nvPr/>
        </p:nvSpPr>
        <p:spPr>
          <a:xfrm>
            <a:off x="8129016" y="1143000"/>
            <a:ext cx="64008" cy="1417320"/>
          </a:xfrm>
          <a:prstGeom prst="rect">
            <a:avLst/>
          </a:prstGeom>
          <a:solidFill>
            <a:srgbClr val="1976D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8293608" y="1234440"/>
            <a:ext cx="3136392" cy="393192"/>
          </a:xfrm>
          <a:prstGeom prst="rect">
            <a:avLst/>
          </a:prstGeom>
          <a:noFill/>
        </p:spPr>
        <p:txBody>
          <a:bodyPr wrap="none" lIns="36576" rIns="36576" tIns="36576" bIns="36576" anchor="t">
            <a:spAutoFit/>
          </a:bodyPr>
          <a:lstStyle/>
          <a:p>
            <a:pPr algn="l"/>
            <a:r>
              <a:rPr sz="1200" b="1">
                <a:solidFill>
                  <a:srgbClr val="5B6773"/>
                </a:solidFill>
                <a:latin typeface="Arial"/>
              </a:rPr>
              <a:t>Lưới đích</a:t>
            </a:r>
          </a:p>
        </p:txBody>
      </p:sp>
      <p:sp>
        <p:nvSpPr>
          <p:cNvPr id="19" name="TextBox 18"/>
          <p:cNvSpPr txBox="1"/>
          <p:nvPr/>
        </p:nvSpPr>
        <p:spPr>
          <a:xfrm>
            <a:off x="8293608" y="1737360"/>
            <a:ext cx="3136392" cy="457200"/>
          </a:xfrm>
          <a:prstGeom prst="rect">
            <a:avLst/>
          </a:prstGeom>
          <a:noFill/>
        </p:spPr>
        <p:txBody>
          <a:bodyPr wrap="none" lIns="36576" rIns="36576" tIns="36576" bIns="36576" anchor="t">
            <a:spAutoFit/>
          </a:bodyPr>
          <a:lstStyle/>
          <a:p>
            <a:pPr algn="l"/>
            <a:r>
              <a:rPr sz="2400" b="1">
                <a:solidFill>
                  <a:srgbClr val="1976D2"/>
                </a:solidFill>
                <a:latin typeface="Arial"/>
              </a:rPr>
              <a:t>0,5° · 361 × 720</a:t>
            </a:r>
          </a:p>
        </p:txBody>
      </p:sp>
      <p:sp>
        <p:nvSpPr>
          <p:cNvPr id="20" name="Rounded Rectangle 19"/>
          <p:cNvSpPr/>
          <p:nvPr/>
        </p:nvSpPr>
        <p:spPr>
          <a:xfrm>
            <a:off x="594360" y="3227832"/>
            <a:ext cx="3429000" cy="1417320"/>
          </a:xfrm>
          <a:prstGeom prst="roundRect">
            <a:avLst>
              <a:gd name="adj" fmla="val 12000"/>
            </a:avLst>
          </a:prstGeom>
          <a:solidFill>
            <a:srgbClr val="F7FAFD"/>
          </a:solidFill>
          <a:ln w="12700">
            <a:solidFill>
              <a:srgbClr val="D5E0EA"/>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Rectangle 20"/>
          <p:cNvSpPr/>
          <p:nvPr/>
        </p:nvSpPr>
        <p:spPr>
          <a:xfrm>
            <a:off x="594360" y="3227832"/>
            <a:ext cx="64008" cy="1417320"/>
          </a:xfrm>
          <a:prstGeom prst="rect">
            <a:avLst/>
          </a:prstGeom>
          <a:solidFill>
            <a:srgbClr val="2E8B5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758952" y="3319272"/>
            <a:ext cx="3136392" cy="393192"/>
          </a:xfrm>
          <a:prstGeom prst="rect">
            <a:avLst/>
          </a:prstGeom>
          <a:noFill/>
        </p:spPr>
        <p:txBody>
          <a:bodyPr wrap="none" lIns="36576" rIns="36576" tIns="36576" bIns="36576" anchor="t">
            <a:spAutoFit/>
          </a:bodyPr>
          <a:lstStyle/>
          <a:p>
            <a:pPr algn="l"/>
            <a:r>
              <a:rPr sz="1200" b="1">
                <a:solidFill>
                  <a:srgbClr val="5B6773"/>
                </a:solidFill>
                <a:latin typeface="Arial"/>
              </a:rPr>
              <a:t>Bước thời gian</a:t>
            </a:r>
          </a:p>
        </p:txBody>
      </p:sp>
      <p:sp>
        <p:nvSpPr>
          <p:cNvPr id="23" name="TextBox 22"/>
          <p:cNvSpPr txBox="1"/>
          <p:nvPr/>
        </p:nvSpPr>
        <p:spPr>
          <a:xfrm>
            <a:off x="758952" y="3822191"/>
            <a:ext cx="3136392" cy="457200"/>
          </a:xfrm>
          <a:prstGeom prst="rect">
            <a:avLst/>
          </a:prstGeom>
          <a:noFill/>
        </p:spPr>
        <p:txBody>
          <a:bodyPr wrap="none" lIns="36576" rIns="36576" tIns="36576" bIns="36576" anchor="t">
            <a:spAutoFit/>
          </a:bodyPr>
          <a:lstStyle/>
          <a:p>
            <a:pPr algn="l"/>
            <a:r>
              <a:rPr sz="2400" b="1">
                <a:solidFill>
                  <a:srgbClr val="2E8B57"/>
                </a:solidFill>
                <a:latin typeface="Arial"/>
              </a:rPr>
              <a:t>6 giờ</a:t>
            </a:r>
          </a:p>
        </p:txBody>
      </p:sp>
      <p:sp>
        <p:nvSpPr>
          <p:cNvPr id="24" name="Rounded Rectangle 23"/>
          <p:cNvSpPr/>
          <p:nvPr/>
        </p:nvSpPr>
        <p:spPr>
          <a:xfrm>
            <a:off x="4361688" y="3227832"/>
            <a:ext cx="3429000" cy="1417320"/>
          </a:xfrm>
          <a:prstGeom prst="roundRect">
            <a:avLst>
              <a:gd name="adj" fmla="val 12000"/>
            </a:avLst>
          </a:prstGeom>
          <a:solidFill>
            <a:srgbClr val="F7FAFD"/>
          </a:solidFill>
          <a:ln w="12700">
            <a:solidFill>
              <a:srgbClr val="D5E0EA"/>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Rectangle 24"/>
          <p:cNvSpPr/>
          <p:nvPr/>
        </p:nvSpPr>
        <p:spPr>
          <a:xfrm>
            <a:off x="4361688" y="3227832"/>
            <a:ext cx="64008" cy="1417320"/>
          </a:xfrm>
          <a:prstGeom prst="rect">
            <a:avLst/>
          </a:prstGeom>
          <a:solidFill>
            <a:srgbClr val="2E8B5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4526280" y="3319272"/>
            <a:ext cx="3136392" cy="393192"/>
          </a:xfrm>
          <a:prstGeom prst="rect">
            <a:avLst/>
          </a:prstGeom>
          <a:noFill/>
        </p:spPr>
        <p:txBody>
          <a:bodyPr wrap="none" lIns="36576" rIns="36576" tIns="36576" bIns="36576" anchor="t">
            <a:spAutoFit/>
          </a:bodyPr>
          <a:lstStyle/>
          <a:p>
            <a:pPr algn="l"/>
            <a:r>
              <a:rPr sz="1200" b="1">
                <a:solidFill>
                  <a:srgbClr val="5B6773"/>
                </a:solidFill>
                <a:latin typeface="Arial"/>
              </a:rPr>
              <a:t>Trạng thái</a:t>
            </a:r>
          </a:p>
        </p:txBody>
      </p:sp>
      <p:sp>
        <p:nvSpPr>
          <p:cNvPr id="27" name="TextBox 26"/>
          <p:cNvSpPr txBox="1"/>
          <p:nvPr/>
        </p:nvSpPr>
        <p:spPr>
          <a:xfrm>
            <a:off x="4526280" y="3822191"/>
            <a:ext cx="3136392" cy="457200"/>
          </a:xfrm>
          <a:prstGeom prst="rect">
            <a:avLst/>
          </a:prstGeom>
          <a:noFill/>
        </p:spPr>
        <p:txBody>
          <a:bodyPr wrap="none" lIns="36576" rIns="36576" tIns="36576" bIns="36576" anchor="t">
            <a:spAutoFit/>
          </a:bodyPr>
          <a:lstStyle/>
          <a:p>
            <a:pPr algn="l"/>
            <a:r>
              <a:rPr sz="2400" b="1">
                <a:solidFill>
                  <a:srgbClr val="2E8B57"/>
                </a:solidFill>
                <a:latin typeface="Arial"/>
              </a:rPr>
              <a:t>71 kênh</a:t>
            </a:r>
          </a:p>
        </p:txBody>
      </p:sp>
      <p:sp>
        <p:nvSpPr>
          <p:cNvPr id="28" name="Rounded Rectangle 27"/>
          <p:cNvSpPr/>
          <p:nvPr/>
        </p:nvSpPr>
        <p:spPr>
          <a:xfrm>
            <a:off x="8129016" y="3227832"/>
            <a:ext cx="3429000" cy="1417320"/>
          </a:xfrm>
          <a:prstGeom prst="roundRect">
            <a:avLst>
              <a:gd name="adj" fmla="val 12000"/>
            </a:avLst>
          </a:prstGeom>
          <a:solidFill>
            <a:srgbClr val="F7FAFD"/>
          </a:solidFill>
          <a:ln w="12700">
            <a:solidFill>
              <a:srgbClr val="D5E0EA"/>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Rectangle 28"/>
          <p:cNvSpPr/>
          <p:nvPr/>
        </p:nvSpPr>
        <p:spPr>
          <a:xfrm>
            <a:off x="8129016" y="3227832"/>
            <a:ext cx="64008" cy="1417320"/>
          </a:xfrm>
          <a:prstGeom prst="rect">
            <a:avLst/>
          </a:prstGeom>
          <a:solidFill>
            <a:srgbClr val="2E8B5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TextBox 29"/>
          <p:cNvSpPr txBox="1"/>
          <p:nvPr/>
        </p:nvSpPr>
        <p:spPr>
          <a:xfrm>
            <a:off x="8293608" y="3319272"/>
            <a:ext cx="3136392" cy="393192"/>
          </a:xfrm>
          <a:prstGeom prst="rect">
            <a:avLst/>
          </a:prstGeom>
          <a:noFill/>
        </p:spPr>
        <p:txBody>
          <a:bodyPr wrap="none" lIns="36576" rIns="36576" tIns="36576" bIns="36576" anchor="t">
            <a:spAutoFit/>
          </a:bodyPr>
          <a:lstStyle/>
          <a:p>
            <a:pPr algn="l"/>
            <a:r>
              <a:rPr sz="1200" b="1">
                <a:solidFill>
                  <a:srgbClr val="5B6773"/>
                </a:solidFill>
                <a:latin typeface="Arial"/>
              </a:rPr>
              <a:t>Thời gian</a:t>
            </a:r>
          </a:p>
        </p:txBody>
      </p:sp>
      <p:sp>
        <p:nvSpPr>
          <p:cNvPr id="31" name="TextBox 30"/>
          <p:cNvSpPr txBox="1"/>
          <p:nvPr/>
        </p:nvSpPr>
        <p:spPr>
          <a:xfrm>
            <a:off x="8293608" y="3822191"/>
            <a:ext cx="3136392" cy="457200"/>
          </a:xfrm>
          <a:prstGeom prst="rect">
            <a:avLst/>
          </a:prstGeom>
          <a:noFill/>
        </p:spPr>
        <p:txBody>
          <a:bodyPr wrap="none" lIns="36576" rIns="36576" tIns="36576" bIns="36576" anchor="t">
            <a:spAutoFit/>
          </a:bodyPr>
          <a:lstStyle/>
          <a:p>
            <a:pPr algn="l"/>
            <a:r>
              <a:rPr sz="2400" b="1">
                <a:solidFill>
                  <a:srgbClr val="2E8B57"/>
                </a:solidFill>
                <a:latin typeface="Arial"/>
              </a:rPr>
              <a:t>1983–2020</a:t>
            </a:r>
          </a:p>
        </p:txBody>
      </p:sp>
      <p:sp>
        <p:nvSpPr>
          <p:cNvPr id="32" name="TextBox 31"/>
          <p:cNvSpPr txBox="1"/>
          <p:nvPr/>
        </p:nvSpPr>
        <p:spPr>
          <a:xfrm>
            <a:off x="1005840" y="5504688"/>
            <a:ext cx="10149840" cy="274320"/>
          </a:xfrm>
          <a:prstGeom prst="rect">
            <a:avLst/>
          </a:prstGeom>
          <a:noFill/>
        </p:spPr>
        <p:txBody>
          <a:bodyPr wrap="none" lIns="36576" rIns="36576" tIns="36576" bIns="36576" anchor="t">
            <a:spAutoFit/>
          </a:bodyPr>
          <a:lstStyle/>
          <a:p>
            <a:pPr algn="ctr"/>
            <a:r>
              <a:rPr sz="1500" b="1">
                <a:solidFill>
                  <a:srgbClr val="D94C4C"/>
                </a:solidFill>
                <a:latin typeface="Arial"/>
              </a:rPr>
              <a:t>Tập kiểm thử không tham gia lựa chọn kiến trúc hoặc checkpoint.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hcmute.png"/>
          <p:cNvPicPr>
            <a:picLocks noChangeAspect="1"/>
          </p:cNvPicPr>
          <p:nvPr/>
        </p:nvPicPr>
        <p:blipFill>
          <a:blip r:embed="rId2"/>
          <a:stretch>
            <a:fillRect/>
          </a:stretch>
        </p:blipFill>
        <p:spPr>
          <a:xfrm>
            <a:off x="320040" y="182880"/>
            <a:ext cx="524439" cy="438912"/>
          </a:xfrm>
          <a:prstGeom prst="rect">
            <a:avLst/>
          </a:prstGeom>
        </p:spPr>
      </p:pic>
      <p:sp>
        <p:nvSpPr>
          <p:cNvPr id="3" name="Rectangle 2"/>
          <p:cNvSpPr/>
          <p:nvPr/>
        </p:nvSpPr>
        <p:spPr>
          <a:xfrm>
            <a:off x="292608" y="713232"/>
            <a:ext cx="11594592" cy="41148"/>
          </a:xfrm>
          <a:prstGeom prst="rect">
            <a:avLst/>
          </a:prstGeom>
          <a:solidFill>
            <a:srgbClr val="1976D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 name="TextBox 3"/>
          <p:cNvSpPr txBox="1"/>
          <p:nvPr/>
        </p:nvSpPr>
        <p:spPr>
          <a:xfrm>
            <a:off x="941832" y="182880"/>
            <a:ext cx="9646920" cy="365760"/>
          </a:xfrm>
          <a:prstGeom prst="rect">
            <a:avLst/>
          </a:prstGeom>
          <a:noFill/>
        </p:spPr>
        <p:txBody>
          <a:bodyPr wrap="none" lIns="36576" rIns="36576" tIns="36576" bIns="36576" anchor="t">
            <a:spAutoFit/>
          </a:bodyPr>
          <a:lstStyle/>
          <a:p>
            <a:pPr algn="l"/>
            <a:r>
              <a:rPr sz="2300" b="1">
                <a:solidFill>
                  <a:srgbClr val="20384F"/>
                </a:solidFill>
                <a:latin typeface="Arial"/>
              </a:rPr>
              <a:t>Các biến khí tượng đầu vào</a:t>
            </a:r>
          </a:p>
        </p:txBody>
      </p:sp>
      <p:sp>
        <p:nvSpPr>
          <p:cNvPr id="5" name="TextBox 4"/>
          <p:cNvSpPr txBox="1"/>
          <p:nvPr/>
        </p:nvSpPr>
        <p:spPr>
          <a:xfrm>
            <a:off x="11228832" y="256032"/>
            <a:ext cx="384048" cy="182880"/>
          </a:xfrm>
          <a:prstGeom prst="rect">
            <a:avLst/>
          </a:prstGeom>
          <a:noFill/>
        </p:spPr>
        <p:txBody>
          <a:bodyPr wrap="none" lIns="36576" rIns="36576" tIns="36576" bIns="36576" anchor="t">
            <a:spAutoFit/>
          </a:bodyPr>
          <a:lstStyle/>
          <a:p>
            <a:pPr algn="r"/>
            <a:r>
              <a:rPr sz="1000" b="1">
                <a:solidFill>
                  <a:srgbClr val="1976D2"/>
                </a:solidFill>
                <a:latin typeface="Arial"/>
              </a:rPr>
              <a:t>04</a:t>
            </a:r>
          </a:p>
        </p:txBody>
      </p:sp>
      <p:sp>
        <p:nvSpPr>
          <p:cNvPr id="6" name="TextBox 5"/>
          <p:cNvSpPr txBox="1"/>
          <p:nvPr/>
        </p:nvSpPr>
        <p:spPr>
          <a:xfrm>
            <a:off x="365760" y="6583680"/>
            <a:ext cx="4754880" cy="146304"/>
          </a:xfrm>
          <a:prstGeom prst="rect">
            <a:avLst/>
          </a:prstGeom>
          <a:noFill/>
        </p:spPr>
        <p:txBody>
          <a:bodyPr wrap="none" lIns="36576" rIns="36576" tIns="36576" bIns="36576" anchor="t">
            <a:spAutoFit/>
          </a:bodyPr>
          <a:lstStyle/>
          <a:p>
            <a:pPr algn="l"/>
            <a:r>
              <a:rPr sz="620" b="0">
                <a:solidFill>
                  <a:srgbClr val="8794A1"/>
                </a:solidFill>
                <a:latin typeface="Arial"/>
              </a:rPr>
              <a:t>Lương Nguyễn Thành Hưng · NeuralAtmosphereOperator</a:t>
            </a:r>
          </a:p>
        </p:txBody>
      </p:sp>
      <p:sp>
        <p:nvSpPr>
          <p:cNvPr id="7" name="TextBox 6"/>
          <p:cNvSpPr txBox="1"/>
          <p:nvPr/>
        </p:nvSpPr>
        <p:spPr>
          <a:xfrm>
            <a:off x="10332720" y="6583680"/>
            <a:ext cx="1325880" cy="146304"/>
          </a:xfrm>
          <a:prstGeom prst="rect">
            <a:avLst/>
          </a:prstGeom>
          <a:noFill/>
        </p:spPr>
        <p:txBody>
          <a:bodyPr wrap="none" lIns="36576" rIns="36576" tIns="36576" bIns="36576" anchor="t">
            <a:spAutoFit/>
          </a:bodyPr>
          <a:lstStyle/>
          <a:p>
            <a:pPr algn="r"/>
            <a:r>
              <a:rPr sz="620" b="0">
                <a:solidFill>
                  <a:srgbClr val="8794A1"/>
                </a:solidFill>
                <a:latin typeface="Arial"/>
              </a:rPr>
              <a:t>Stage 1 → Stage 2</a:t>
            </a:r>
          </a:p>
        </p:txBody>
      </p:sp>
      <p:sp>
        <p:nvSpPr>
          <p:cNvPr id="8" name="Rounded Rectangle 7"/>
          <p:cNvSpPr/>
          <p:nvPr/>
        </p:nvSpPr>
        <p:spPr>
          <a:xfrm>
            <a:off x="548640" y="1097280"/>
            <a:ext cx="3474720" cy="1828800"/>
          </a:xfrm>
          <a:prstGeom prst="roundRect">
            <a:avLst>
              <a:gd name="adj" fmla="val 12000"/>
            </a:avLst>
          </a:prstGeom>
          <a:solidFill>
            <a:srgbClr val="F7FAFD"/>
          </a:solidFill>
          <a:ln w="12700">
            <a:solidFill>
              <a:srgbClr val="D2DE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731520" y="1389888"/>
            <a:ext cx="914400" cy="438912"/>
          </a:xfrm>
          <a:prstGeom prst="rect">
            <a:avLst/>
          </a:prstGeom>
          <a:noFill/>
        </p:spPr>
        <p:txBody>
          <a:bodyPr wrap="none" lIns="36576" rIns="36576" tIns="36576" bIns="36576" anchor="t">
            <a:spAutoFit/>
          </a:bodyPr>
          <a:lstStyle/>
          <a:p>
            <a:pPr algn="ctr"/>
            <a:r>
              <a:rPr sz="2800" b="1">
                <a:solidFill>
                  <a:srgbClr val="1976D2"/>
                </a:solidFill>
                <a:latin typeface="Arial"/>
              </a:rPr>
              <a:t>6</a:t>
            </a:r>
          </a:p>
        </p:txBody>
      </p:sp>
      <p:sp>
        <p:nvSpPr>
          <p:cNvPr id="10" name="TextBox 9"/>
          <p:cNvSpPr txBox="1"/>
          <p:nvPr/>
        </p:nvSpPr>
        <p:spPr>
          <a:xfrm>
            <a:off x="1664207" y="1417319"/>
            <a:ext cx="2011680" cy="292608"/>
          </a:xfrm>
          <a:prstGeom prst="rect">
            <a:avLst/>
          </a:prstGeom>
          <a:noFill/>
        </p:spPr>
        <p:txBody>
          <a:bodyPr wrap="none" lIns="36576" rIns="36576" tIns="36576" bIns="36576" anchor="t">
            <a:spAutoFit/>
          </a:bodyPr>
          <a:lstStyle/>
          <a:p>
            <a:pPr algn="l"/>
            <a:r>
              <a:rPr sz="1600" b="1">
                <a:solidFill>
                  <a:srgbClr val="20384F"/>
                </a:solidFill>
                <a:latin typeface="Arial"/>
              </a:rPr>
              <a:t>Biến bề mặt</a:t>
            </a:r>
          </a:p>
        </p:txBody>
      </p:sp>
      <p:sp>
        <p:nvSpPr>
          <p:cNvPr id="11" name="TextBox 10"/>
          <p:cNvSpPr txBox="1"/>
          <p:nvPr/>
        </p:nvSpPr>
        <p:spPr>
          <a:xfrm>
            <a:off x="822959" y="2176272"/>
            <a:ext cx="2926080" cy="274320"/>
          </a:xfrm>
          <a:prstGeom prst="rect">
            <a:avLst/>
          </a:prstGeom>
          <a:noFill/>
        </p:spPr>
        <p:txBody>
          <a:bodyPr wrap="none" lIns="36576" rIns="36576" tIns="36576" bIns="36576" anchor="t">
            <a:spAutoFit/>
          </a:bodyPr>
          <a:lstStyle/>
          <a:p>
            <a:pPr algn="ctr"/>
            <a:r>
              <a:rPr sz="1200" b="0">
                <a:solidFill>
                  <a:srgbClr val="5B6773"/>
                </a:solidFill>
                <a:latin typeface="Arial"/>
              </a:rPr>
              <a:t>U10, V10, T2M, SP, MSLP, TCWV</a:t>
            </a:r>
          </a:p>
        </p:txBody>
      </p:sp>
      <p:sp>
        <p:nvSpPr>
          <p:cNvPr id="12" name="Rounded Rectangle 11"/>
          <p:cNvSpPr/>
          <p:nvPr/>
        </p:nvSpPr>
        <p:spPr>
          <a:xfrm>
            <a:off x="4343400" y="1097280"/>
            <a:ext cx="3474720" cy="1828800"/>
          </a:xfrm>
          <a:prstGeom prst="roundRect">
            <a:avLst>
              <a:gd name="adj" fmla="val 12000"/>
            </a:avLst>
          </a:prstGeom>
          <a:solidFill>
            <a:srgbClr val="F7FAFD"/>
          </a:solidFill>
          <a:ln w="12700">
            <a:solidFill>
              <a:srgbClr val="D2DE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4526280" y="1389888"/>
            <a:ext cx="914400" cy="438912"/>
          </a:xfrm>
          <a:prstGeom prst="rect">
            <a:avLst/>
          </a:prstGeom>
          <a:noFill/>
        </p:spPr>
        <p:txBody>
          <a:bodyPr wrap="none" lIns="36576" rIns="36576" tIns="36576" bIns="36576" anchor="t">
            <a:spAutoFit/>
          </a:bodyPr>
          <a:lstStyle/>
          <a:p>
            <a:pPr algn="ctr"/>
            <a:r>
              <a:rPr sz="2800" b="1">
                <a:solidFill>
                  <a:srgbClr val="2E8B57"/>
                </a:solidFill>
                <a:latin typeface="Arial"/>
              </a:rPr>
              <a:t>13</a:t>
            </a:r>
          </a:p>
        </p:txBody>
      </p:sp>
      <p:sp>
        <p:nvSpPr>
          <p:cNvPr id="14" name="TextBox 13"/>
          <p:cNvSpPr txBox="1"/>
          <p:nvPr/>
        </p:nvSpPr>
        <p:spPr>
          <a:xfrm>
            <a:off x="5458968" y="1417319"/>
            <a:ext cx="2011680" cy="292608"/>
          </a:xfrm>
          <a:prstGeom prst="rect">
            <a:avLst/>
          </a:prstGeom>
          <a:noFill/>
        </p:spPr>
        <p:txBody>
          <a:bodyPr wrap="none" lIns="36576" rIns="36576" tIns="36576" bIns="36576" anchor="t">
            <a:spAutoFit/>
          </a:bodyPr>
          <a:lstStyle/>
          <a:p>
            <a:pPr algn="l"/>
            <a:r>
              <a:rPr sz="1600" b="1">
                <a:solidFill>
                  <a:srgbClr val="20384F"/>
                </a:solidFill>
                <a:latin typeface="Arial"/>
              </a:rPr>
              <a:t>Thành phần gió U</a:t>
            </a:r>
          </a:p>
        </p:txBody>
      </p:sp>
      <p:sp>
        <p:nvSpPr>
          <p:cNvPr id="15" name="TextBox 14"/>
          <p:cNvSpPr txBox="1"/>
          <p:nvPr/>
        </p:nvSpPr>
        <p:spPr>
          <a:xfrm>
            <a:off x="4617720" y="2176272"/>
            <a:ext cx="2926080" cy="274320"/>
          </a:xfrm>
          <a:prstGeom prst="rect">
            <a:avLst/>
          </a:prstGeom>
          <a:noFill/>
        </p:spPr>
        <p:txBody>
          <a:bodyPr wrap="none" lIns="36576" rIns="36576" tIns="36576" bIns="36576" anchor="t">
            <a:spAutoFit/>
          </a:bodyPr>
          <a:lstStyle/>
          <a:p>
            <a:pPr algn="ctr"/>
            <a:r>
              <a:rPr sz="1200" b="0">
                <a:solidFill>
                  <a:srgbClr val="5B6773"/>
                </a:solidFill>
                <a:latin typeface="Arial"/>
              </a:rPr>
              <a:t>50 → 1000 hPa</a:t>
            </a:r>
          </a:p>
        </p:txBody>
      </p:sp>
      <p:sp>
        <p:nvSpPr>
          <p:cNvPr id="16" name="Rounded Rectangle 15"/>
          <p:cNvSpPr/>
          <p:nvPr/>
        </p:nvSpPr>
        <p:spPr>
          <a:xfrm>
            <a:off x="8138160" y="1097280"/>
            <a:ext cx="3474720" cy="1828800"/>
          </a:xfrm>
          <a:prstGeom prst="roundRect">
            <a:avLst>
              <a:gd name="adj" fmla="val 12000"/>
            </a:avLst>
          </a:prstGeom>
          <a:solidFill>
            <a:srgbClr val="F7FAFD"/>
          </a:solidFill>
          <a:ln w="12700">
            <a:solidFill>
              <a:srgbClr val="D2DE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8321040" y="1389888"/>
            <a:ext cx="914400" cy="438912"/>
          </a:xfrm>
          <a:prstGeom prst="rect">
            <a:avLst/>
          </a:prstGeom>
          <a:noFill/>
        </p:spPr>
        <p:txBody>
          <a:bodyPr wrap="none" lIns="36576" rIns="36576" tIns="36576" bIns="36576" anchor="t">
            <a:spAutoFit/>
          </a:bodyPr>
          <a:lstStyle/>
          <a:p>
            <a:pPr algn="ctr"/>
            <a:r>
              <a:rPr sz="2800" b="1">
                <a:solidFill>
                  <a:srgbClr val="2E8B57"/>
                </a:solidFill>
                <a:latin typeface="Arial"/>
              </a:rPr>
              <a:t>13</a:t>
            </a:r>
          </a:p>
        </p:txBody>
      </p:sp>
      <p:sp>
        <p:nvSpPr>
          <p:cNvPr id="18" name="TextBox 17"/>
          <p:cNvSpPr txBox="1"/>
          <p:nvPr/>
        </p:nvSpPr>
        <p:spPr>
          <a:xfrm>
            <a:off x="9253728" y="1417319"/>
            <a:ext cx="2011680" cy="292608"/>
          </a:xfrm>
          <a:prstGeom prst="rect">
            <a:avLst/>
          </a:prstGeom>
          <a:noFill/>
        </p:spPr>
        <p:txBody>
          <a:bodyPr wrap="none" lIns="36576" rIns="36576" tIns="36576" bIns="36576" anchor="t">
            <a:spAutoFit/>
          </a:bodyPr>
          <a:lstStyle/>
          <a:p>
            <a:pPr algn="l"/>
            <a:r>
              <a:rPr sz="1600" b="1">
                <a:solidFill>
                  <a:srgbClr val="20384F"/>
                </a:solidFill>
                <a:latin typeface="Arial"/>
              </a:rPr>
              <a:t>Thành phần gió V</a:t>
            </a:r>
          </a:p>
        </p:txBody>
      </p:sp>
      <p:sp>
        <p:nvSpPr>
          <p:cNvPr id="19" name="TextBox 18"/>
          <p:cNvSpPr txBox="1"/>
          <p:nvPr/>
        </p:nvSpPr>
        <p:spPr>
          <a:xfrm>
            <a:off x="8412480" y="2176272"/>
            <a:ext cx="2926080" cy="274320"/>
          </a:xfrm>
          <a:prstGeom prst="rect">
            <a:avLst/>
          </a:prstGeom>
          <a:noFill/>
        </p:spPr>
        <p:txBody>
          <a:bodyPr wrap="none" lIns="36576" rIns="36576" tIns="36576" bIns="36576" anchor="t">
            <a:spAutoFit/>
          </a:bodyPr>
          <a:lstStyle/>
          <a:p>
            <a:pPr algn="ctr"/>
            <a:r>
              <a:rPr sz="1200" b="0">
                <a:solidFill>
                  <a:srgbClr val="5B6773"/>
                </a:solidFill>
                <a:latin typeface="Arial"/>
              </a:rPr>
              <a:t>50 → 1000 hPa</a:t>
            </a:r>
          </a:p>
        </p:txBody>
      </p:sp>
      <p:sp>
        <p:nvSpPr>
          <p:cNvPr id="20" name="Rounded Rectangle 19"/>
          <p:cNvSpPr/>
          <p:nvPr/>
        </p:nvSpPr>
        <p:spPr>
          <a:xfrm>
            <a:off x="548640" y="3401568"/>
            <a:ext cx="3474720" cy="1828800"/>
          </a:xfrm>
          <a:prstGeom prst="roundRect">
            <a:avLst>
              <a:gd name="adj" fmla="val 12000"/>
            </a:avLst>
          </a:prstGeom>
          <a:solidFill>
            <a:srgbClr val="F7FAFD"/>
          </a:solidFill>
          <a:ln w="12700">
            <a:solidFill>
              <a:srgbClr val="D2DE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731520" y="3694176"/>
            <a:ext cx="914400" cy="438912"/>
          </a:xfrm>
          <a:prstGeom prst="rect">
            <a:avLst/>
          </a:prstGeom>
          <a:noFill/>
        </p:spPr>
        <p:txBody>
          <a:bodyPr wrap="none" lIns="36576" rIns="36576" tIns="36576" bIns="36576" anchor="t">
            <a:spAutoFit/>
          </a:bodyPr>
          <a:lstStyle/>
          <a:p>
            <a:pPr algn="ctr"/>
            <a:r>
              <a:rPr sz="2800" b="1">
                <a:solidFill>
                  <a:srgbClr val="E28A2B"/>
                </a:solidFill>
                <a:latin typeface="Arial"/>
              </a:rPr>
              <a:t>13</a:t>
            </a:r>
          </a:p>
        </p:txBody>
      </p:sp>
      <p:sp>
        <p:nvSpPr>
          <p:cNvPr id="22" name="TextBox 21"/>
          <p:cNvSpPr txBox="1"/>
          <p:nvPr/>
        </p:nvSpPr>
        <p:spPr>
          <a:xfrm>
            <a:off x="1664207" y="3721607"/>
            <a:ext cx="2011680" cy="292608"/>
          </a:xfrm>
          <a:prstGeom prst="rect">
            <a:avLst/>
          </a:prstGeom>
          <a:noFill/>
        </p:spPr>
        <p:txBody>
          <a:bodyPr wrap="none" lIns="36576" rIns="36576" tIns="36576" bIns="36576" anchor="t">
            <a:spAutoFit/>
          </a:bodyPr>
          <a:lstStyle/>
          <a:p>
            <a:pPr algn="l"/>
            <a:r>
              <a:rPr sz="1600" b="1">
                <a:solidFill>
                  <a:srgbClr val="20384F"/>
                </a:solidFill>
                <a:latin typeface="Arial"/>
              </a:rPr>
              <a:t>Geopotential</a:t>
            </a:r>
          </a:p>
        </p:txBody>
      </p:sp>
      <p:sp>
        <p:nvSpPr>
          <p:cNvPr id="23" name="TextBox 22"/>
          <p:cNvSpPr txBox="1"/>
          <p:nvPr/>
        </p:nvSpPr>
        <p:spPr>
          <a:xfrm>
            <a:off x="822959" y="4251960"/>
            <a:ext cx="2926080" cy="777240"/>
          </a:xfrm>
          <a:prstGeom prst="rect">
            <a:avLst/>
          </a:prstGeom>
          <a:noFill/>
        </p:spPr>
        <p:txBody>
          <a:bodyPr wrap="none" lIns="36576" rIns="36576" tIns="36576" bIns="36576" anchor="t">
            <a:spAutoFit/>
          </a:bodyPr>
          <a:lstStyle/>
          <a:p>
            <a:pPr algn="ctr"/>
            <a:r>
              <a:rPr sz="1200" b="0">
                <a:solidFill>
                  <a:srgbClr val="5B6773"/>
                </a:solidFill>
                <a:latin typeface="Arial"/>
              </a:rPr>
              <a:t>Thế năng trọng trường trên mỗi kg
50–1000 hPa · m²/s²</a:t>
            </a:r>
          </a:p>
        </p:txBody>
      </p:sp>
      <p:sp>
        <p:nvSpPr>
          <p:cNvPr id="24" name="Rounded Rectangle 23"/>
          <p:cNvSpPr/>
          <p:nvPr/>
        </p:nvSpPr>
        <p:spPr>
          <a:xfrm>
            <a:off x="4343400" y="3401568"/>
            <a:ext cx="3474720" cy="1828800"/>
          </a:xfrm>
          <a:prstGeom prst="roundRect">
            <a:avLst>
              <a:gd name="adj" fmla="val 12000"/>
            </a:avLst>
          </a:prstGeom>
          <a:solidFill>
            <a:srgbClr val="F7FAFD"/>
          </a:solidFill>
          <a:ln w="12700">
            <a:solidFill>
              <a:srgbClr val="D2DE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TextBox 24"/>
          <p:cNvSpPr txBox="1"/>
          <p:nvPr/>
        </p:nvSpPr>
        <p:spPr>
          <a:xfrm>
            <a:off x="4526280" y="3694176"/>
            <a:ext cx="914400" cy="438912"/>
          </a:xfrm>
          <a:prstGeom prst="rect">
            <a:avLst/>
          </a:prstGeom>
          <a:noFill/>
        </p:spPr>
        <p:txBody>
          <a:bodyPr wrap="none" lIns="36576" rIns="36576" tIns="36576" bIns="36576" anchor="t">
            <a:spAutoFit/>
          </a:bodyPr>
          <a:lstStyle/>
          <a:p>
            <a:pPr algn="ctr"/>
            <a:r>
              <a:rPr sz="2800" b="1">
                <a:solidFill>
                  <a:srgbClr val="D94C4C"/>
                </a:solidFill>
                <a:latin typeface="Arial"/>
              </a:rPr>
              <a:t>13</a:t>
            </a:r>
          </a:p>
        </p:txBody>
      </p:sp>
      <p:sp>
        <p:nvSpPr>
          <p:cNvPr id="26" name="TextBox 25"/>
          <p:cNvSpPr txBox="1"/>
          <p:nvPr/>
        </p:nvSpPr>
        <p:spPr>
          <a:xfrm>
            <a:off x="5458968" y="3721607"/>
            <a:ext cx="2011680" cy="292608"/>
          </a:xfrm>
          <a:prstGeom prst="rect">
            <a:avLst/>
          </a:prstGeom>
          <a:noFill/>
        </p:spPr>
        <p:txBody>
          <a:bodyPr wrap="none" lIns="36576" rIns="36576" tIns="36576" bIns="36576" anchor="t">
            <a:spAutoFit/>
          </a:bodyPr>
          <a:lstStyle/>
          <a:p>
            <a:pPr algn="l"/>
            <a:r>
              <a:rPr sz="1600" b="1">
                <a:solidFill>
                  <a:srgbClr val="20384F"/>
                </a:solidFill>
                <a:latin typeface="Arial"/>
              </a:rPr>
              <a:t>Nhiệt độ</a:t>
            </a:r>
          </a:p>
        </p:txBody>
      </p:sp>
      <p:sp>
        <p:nvSpPr>
          <p:cNvPr id="27" name="TextBox 26"/>
          <p:cNvSpPr txBox="1"/>
          <p:nvPr/>
        </p:nvSpPr>
        <p:spPr>
          <a:xfrm>
            <a:off x="4617720" y="4480559"/>
            <a:ext cx="2926080" cy="274320"/>
          </a:xfrm>
          <a:prstGeom prst="rect">
            <a:avLst/>
          </a:prstGeom>
          <a:noFill/>
        </p:spPr>
        <p:txBody>
          <a:bodyPr wrap="none" lIns="36576" rIns="36576" tIns="36576" bIns="36576" anchor="t">
            <a:spAutoFit/>
          </a:bodyPr>
          <a:lstStyle/>
          <a:p>
            <a:pPr algn="ctr"/>
            <a:r>
              <a:rPr sz="1200" b="0">
                <a:solidFill>
                  <a:srgbClr val="5B6773"/>
                </a:solidFill>
                <a:latin typeface="Arial"/>
              </a:rPr>
              <a:t>50 → 1000 hPa</a:t>
            </a:r>
          </a:p>
        </p:txBody>
      </p:sp>
      <p:sp>
        <p:nvSpPr>
          <p:cNvPr id="28" name="Rounded Rectangle 27"/>
          <p:cNvSpPr/>
          <p:nvPr/>
        </p:nvSpPr>
        <p:spPr>
          <a:xfrm>
            <a:off x="8138160" y="3401568"/>
            <a:ext cx="3474720" cy="1828800"/>
          </a:xfrm>
          <a:prstGeom prst="roundRect">
            <a:avLst>
              <a:gd name="adj" fmla="val 12000"/>
            </a:avLst>
          </a:prstGeom>
          <a:solidFill>
            <a:srgbClr val="F7FAFD"/>
          </a:solidFill>
          <a:ln w="12700">
            <a:solidFill>
              <a:srgbClr val="D2DE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8321040" y="3694176"/>
            <a:ext cx="914400" cy="438912"/>
          </a:xfrm>
          <a:prstGeom prst="rect">
            <a:avLst/>
          </a:prstGeom>
          <a:noFill/>
        </p:spPr>
        <p:txBody>
          <a:bodyPr wrap="none" lIns="36576" rIns="36576" tIns="36576" bIns="36576" anchor="t">
            <a:spAutoFit/>
          </a:bodyPr>
          <a:lstStyle/>
          <a:p>
            <a:pPr algn="ctr"/>
            <a:r>
              <a:rPr sz="2800" b="1">
                <a:solidFill>
                  <a:srgbClr val="2F95DE"/>
                </a:solidFill>
                <a:latin typeface="Arial"/>
              </a:rPr>
              <a:t>13</a:t>
            </a:r>
          </a:p>
        </p:txBody>
      </p:sp>
      <p:sp>
        <p:nvSpPr>
          <p:cNvPr id="30" name="TextBox 29"/>
          <p:cNvSpPr txBox="1"/>
          <p:nvPr/>
        </p:nvSpPr>
        <p:spPr>
          <a:xfrm>
            <a:off x="9253728" y="3721607"/>
            <a:ext cx="2011680" cy="292608"/>
          </a:xfrm>
          <a:prstGeom prst="rect">
            <a:avLst/>
          </a:prstGeom>
          <a:noFill/>
        </p:spPr>
        <p:txBody>
          <a:bodyPr wrap="none" lIns="36576" rIns="36576" tIns="36576" bIns="36576" anchor="t">
            <a:spAutoFit/>
          </a:bodyPr>
          <a:lstStyle/>
          <a:p>
            <a:pPr algn="l"/>
            <a:r>
              <a:rPr sz="1600" b="1">
                <a:solidFill>
                  <a:srgbClr val="20384F"/>
                </a:solidFill>
                <a:latin typeface="Arial"/>
              </a:rPr>
              <a:t>Độ ẩm riêng</a:t>
            </a:r>
          </a:p>
        </p:txBody>
      </p:sp>
      <p:sp>
        <p:nvSpPr>
          <p:cNvPr id="31" name="TextBox 30"/>
          <p:cNvSpPr txBox="1"/>
          <p:nvPr/>
        </p:nvSpPr>
        <p:spPr>
          <a:xfrm>
            <a:off x="8412480" y="4480559"/>
            <a:ext cx="2926080" cy="274320"/>
          </a:xfrm>
          <a:prstGeom prst="rect">
            <a:avLst/>
          </a:prstGeom>
          <a:noFill/>
        </p:spPr>
        <p:txBody>
          <a:bodyPr wrap="none" lIns="36576" rIns="36576" tIns="36576" bIns="36576" anchor="t">
            <a:spAutoFit/>
          </a:bodyPr>
          <a:lstStyle/>
          <a:p>
            <a:pPr algn="ctr"/>
            <a:r>
              <a:rPr sz="1200" b="0">
                <a:solidFill>
                  <a:srgbClr val="5B6773"/>
                </a:solidFill>
                <a:latin typeface="Arial"/>
              </a:rPr>
              <a:t>50 → 1000 hPa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hcmute.png"/>
          <p:cNvPicPr>
            <a:picLocks noChangeAspect="1"/>
          </p:cNvPicPr>
          <p:nvPr/>
        </p:nvPicPr>
        <p:blipFill>
          <a:blip r:embed="rId2"/>
          <a:stretch>
            <a:fillRect/>
          </a:stretch>
        </p:blipFill>
        <p:spPr>
          <a:xfrm>
            <a:off x="320040" y="182880"/>
            <a:ext cx="524439" cy="438912"/>
          </a:xfrm>
          <a:prstGeom prst="rect">
            <a:avLst/>
          </a:prstGeom>
        </p:spPr>
      </p:pic>
      <p:sp>
        <p:nvSpPr>
          <p:cNvPr id="3" name="Rectangle 2"/>
          <p:cNvSpPr/>
          <p:nvPr/>
        </p:nvSpPr>
        <p:spPr>
          <a:xfrm>
            <a:off x="292608" y="713232"/>
            <a:ext cx="11594592" cy="41148"/>
          </a:xfrm>
          <a:prstGeom prst="rect">
            <a:avLst/>
          </a:prstGeom>
          <a:solidFill>
            <a:srgbClr val="1976D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 name="TextBox 3"/>
          <p:cNvSpPr txBox="1"/>
          <p:nvPr/>
        </p:nvSpPr>
        <p:spPr>
          <a:xfrm>
            <a:off x="941832" y="182880"/>
            <a:ext cx="9646920" cy="365760"/>
          </a:xfrm>
          <a:prstGeom prst="rect">
            <a:avLst/>
          </a:prstGeom>
          <a:noFill/>
        </p:spPr>
        <p:txBody>
          <a:bodyPr wrap="none" lIns="36576" rIns="36576" tIns="36576" bIns="36576" anchor="t">
            <a:spAutoFit/>
          </a:bodyPr>
          <a:lstStyle/>
          <a:p>
            <a:pPr algn="l"/>
            <a:r>
              <a:rPr sz="2300" b="1">
                <a:solidFill>
                  <a:srgbClr val="20384F"/>
                </a:solidFill>
                <a:latin typeface="Arial"/>
              </a:rPr>
              <a:t>Chuẩn hóa state và tendency</a:t>
            </a:r>
          </a:p>
        </p:txBody>
      </p:sp>
      <p:sp>
        <p:nvSpPr>
          <p:cNvPr id="5" name="TextBox 4"/>
          <p:cNvSpPr txBox="1"/>
          <p:nvPr/>
        </p:nvSpPr>
        <p:spPr>
          <a:xfrm>
            <a:off x="11228832" y="256032"/>
            <a:ext cx="384048" cy="182880"/>
          </a:xfrm>
          <a:prstGeom prst="rect">
            <a:avLst/>
          </a:prstGeom>
          <a:noFill/>
        </p:spPr>
        <p:txBody>
          <a:bodyPr wrap="none" lIns="36576" rIns="36576" tIns="36576" bIns="36576" anchor="t">
            <a:spAutoFit/>
          </a:bodyPr>
          <a:lstStyle/>
          <a:p>
            <a:pPr algn="r"/>
            <a:r>
              <a:rPr sz="1000" b="1">
                <a:solidFill>
                  <a:srgbClr val="1976D2"/>
                </a:solidFill>
                <a:latin typeface="Arial"/>
              </a:rPr>
              <a:t>06</a:t>
            </a:r>
          </a:p>
        </p:txBody>
      </p:sp>
      <p:sp>
        <p:nvSpPr>
          <p:cNvPr id="6" name="TextBox 5"/>
          <p:cNvSpPr txBox="1"/>
          <p:nvPr/>
        </p:nvSpPr>
        <p:spPr>
          <a:xfrm>
            <a:off x="365760" y="6583680"/>
            <a:ext cx="4754880" cy="146304"/>
          </a:xfrm>
          <a:prstGeom prst="rect">
            <a:avLst/>
          </a:prstGeom>
          <a:noFill/>
        </p:spPr>
        <p:txBody>
          <a:bodyPr wrap="none" lIns="36576" rIns="36576" tIns="36576" bIns="36576" anchor="t">
            <a:spAutoFit/>
          </a:bodyPr>
          <a:lstStyle/>
          <a:p>
            <a:pPr algn="l"/>
            <a:r>
              <a:rPr sz="620" b="0">
                <a:solidFill>
                  <a:srgbClr val="8794A1"/>
                </a:solidFill>
                <a:latin typeface="Arial"/>
              </a:rPr>
              <a:t>Lương Nguyễn Thành Hưng · NeuralAtmosphereOperator</a:t>
            </a:r>
          </a:p>
        </p:txBody>
      </p:sp>
      <p:sp>
        <p:nvSpPr>
          <p:cNvPr id="7" name="TextBox 6"/>
          <p:cNvSpPr txBox="1"/>
          <p:nvPr/>
        </p:nvSpPr>
        <p:spPr>
          <a:xfrm>
            <a:off x="10332720" y="6583680"/>
            <a:ext cx="1325880" cy="146304"/>
          </a:xfrm>
          <a:prstGeom prst="rect">
            <a:avLst/>
          </a:prstGeom>
          <a:noFill/>
        </p:spPr>
        <p:txBody>
          <a:bodyPr wrap="none" lIns="36576" rIns="36576" tIns="36576" bIns="36576" anchor="t">
            <a:spAutoFit/>
          </a:bodyPr>
          <a:lstStyle/>
          <a:p>
            <a:pPr algn="r"/>
            <a:r>
              <a:rPr sz="620" b="0">
                <a:solidFill>
                  <a:srgbClr val="8794A1"/>
                </a:solidFill>
                <a:latin typeface="Arial"/>
              </a:rPr>
              <a:t>Stage 1 → Stage 2</a:t>
            </a:r>
          </a:p>
        </p:txBody>
      </p:sp>
      <p:pic>
        <p:nvPicPr>
          <p:cNvPr id="8" name="Picture 7" descr="eq_tendency.png"/>
          <p:cNvPicPr>
            <a:picLocks noChangeAspect="1"/>
          </p:cNvPicPr>
          <p:nvPr/>
        </p:nvPicPr>
        <p:blipFill>
          <a:blip r:embed="rId3"/>
          <a:stretch>
            <a:fillRect/>
          </a:stretch>
        </p:blipFill>
        <p:spPr>
          <a:xfrm>
            <a:off x="4065422" y="1372514"/>
            <a:ext cx="4030675" cy="894283"/>
          </a:xfrm>
          <a:prstGeom prst="rect">
            <a:avLst/>
          </a:prstGeom>
        </p:spPr>
      </p:pic>
      <p:sp>
        <p:nvSpPr>
          <p:cNvPr id="9" name="Rounded Rectangle 8"/>
          <p:cNvSpPr/>
          <p:nvPr/>
        </p:nvSpPr>
        <p:spPr>
          <a:xfrm>
            <a:off x="685800" y="2880360"/>
            <a:ext cx="3429000" cy="1389888"/>
          </a:xfrm>
          <a:prstGeom prst="roundRect">
            <a:avLst>
              <a:gd name="adj" fmla="val 12000"/>
            </a:avLst>
          </a:prstGeom>
          <a:solidFill>
            <a:srgbClr val="F7FAFD"/>
          </a:solidFill>
          <a:ln w="12700">
            <a:solidFill>
              <a:srgbClr val="D3DE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Rectangle 9"/>
          <p:cNvSpPr/>
          <p:nvPr/>
        </p:nvSpPr>
        <p:spPr>
          <a:xfrm>
            <a:off x="685800" y="2880360"/>
            <a:ext cx="3429000" cy="64008"/>
          </a:xfrm>
          <a:prstGeom prst="rect">
            <a:avLst/>
          </a:prstGeom>
          <a:solidFill>
            <a:srgbClr val="1976D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868680" y="3035808"/>
            <a:ext cx="3063240" cy="429768"/>
          </a:xfrm>
          <a:prstGeom prst="rect">
            <a:avLst/>
          </a:prstGeom>
          <a:noFill/>
        </p:spPr>
        <p:txBody>
          <a:bodyPr wrap="none" lIns="36576" rIns="36576" tIns="36576" bIns="36576" anchor="t">
            <a:spAutoFit/>
          </a:bodyPr>
          <a:lstStyle/>
          <a:p>
            <a:pPr algn="l"/>
            <a:r>
              <a:rPr sz="1600" b="1">
                <a:solidFill>
                  <a:srgbClr val="1976D2"/>
                </a:solidFill>
                <a:latin typeface="Arial"/>
              </a:rPr>
              <a:t>Chuẩn hóa trạng thái</a:t>
            </a:r>
          </a:p>
        </p:txBody>
      </p:sp>
      <p:sp>
        <p:nvSpPr>
          <p:cNvPr id="12" name="TextBox 11"/>
          <p:cNvSpPr txBox="1"/>
          <p:nvPr/>
        </p:nvSpPr>
        <p:spPr>
          <a:xfrm>
            <a:off x="868680" y="3657600"/>
            <a:ext cx="3063240" cy="502920"/>
          </a:xfrm>
          <a:prstGeom prst="rect">
            <a:avLst/>
          </a:prstGeom>
          <a:noFill/>
        </p:spPr>
        <p:txBody>
          <a:bodyPr wrap="none" lIns="36576" rIns="36576" tIns="36576" bIns="36576" anchor="t">
            <a:spAutoFit/>
          </a:bodyPr>
          <a:lstStyle/>
          <a:p>
            <a:pPr algn="l"/>
            <a:r>
              <a:rPr sz="1500" b="0">
                <a:solidFill>
                  <a:srgbClr val="20384F"/>
                </a:solidFill>
                <a:latin typeface="Arial"/>
              </a:rPr>
              <a:t>x̃ = (x − μx) / σ(x)</a:t>
            </a:r>
          </a:p>
        </p:txBody>
      </p:sp>
      <p:sp>
        <p:nvSpPr>
          <p:cNvPr id="13" name="Rounded Rectangle 12"/>
          <p:cNvSpPr/>
          <p:nvPr/>
        </p:nvSpPr>
        <p:spPr>
          <a:xfrm>
            <a:off x="4370832" y="2880360"/>
            <a:ext cx="3429000" cy="1389888"/>
          </a:xfrm>
          <a:prstGeom prst="roundRect">
            <a:avLst>
              <a:gd name="adj" fmla="val 12000"/>
            </a:avLst>
          </a:prstGeom>
          <a:solidFill>
            <a:srgbClr val="F7FAFD"/>
          </a:solidFill>
          <a:ln w="12700">
            <a:solidFill>
              <a:srgbClr val="D3DE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Rectangle 13"/>
          <p:cNvSpPr/>
          <p:nvPr/>
        </p:nvSpPr>
        <p:spPr>
          <a:xfrm>
            <a:off x="4370832" y="2880360"/>
            <a:ext cx="3429000" cy="64008"/>
          </a:xfrm>
          <a:prstGeom prst="rect">
            <a:avLst/>
          </a:prstGeom>
          <a:solidFill>
            <a:srgbClr val="2E8B5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4553712" y="3035808"/>
            <a:ext cx="3063240" cy="429768"/>
          </a:xfrm>
          <a:prstGeom prst="rect">
            <a:avLst/>
          </a:prstGeom>
          <a:noFill/>
        </p:spPr>
        <p:txBody>
          <a:bodyPr wrap="none" lIns="36576" rIns="36576" tIns="36576" bIns="36576" anchor="t">
            <a:spAutoFit/>
          </a:bodyPr>
          <a:lstStyle/>
          <a:p>
            <a:pPr algn="l"/>
            <a:r>
              <a:rPr sz="1600" b="1">
                <a:solidFill>
                  <a:srgbClr val="2E8B57"/>
                </a:solidFill>
                <a:latin typeface="Arial"/>
              </a:rPr>
              <a:t>Tendency scale</a:t>
            </a:r>
          </a:p>
        </p:txBody>
      </p:sp>
      <p:sp>
        <p:nvSpPr>
          <p:cNvPr id="16" name="TextBox 15"/>
          <p:cNvSpPr txBox="1"/>
          <p:nvPr/>
        </p:nvSpPr>
        <p:spPr>
          <a:xfrm>
            <a:off x="4553712" y="3657600"/>
            <a:ext cx="3063240" cy="502920"/>
          </a:xfrm>
          <a:prstGeom prst="rect">
            <a:avLst/>
          </a:prstGeom>
          <a:noFill/>
        </p:spPr>
        <p:txBody>
          <a:bodyPr wrap="none" lIns="36576" rIns="36576" tIns="36576" bIns="36576" anchor="t">
            <a:spAutoFit/>
          </a:bodyPr>
          <a:lstStyle/>
          <a:p>
            <a:pPr algn="l"/>
            <a:r>
              <a:rPr sz="1500" b="0">
                <a:solidFill>
                  <a:srgbClr val="20384F"/>
                </a:solidFill>
                <a:latin typeface="Arial"/>
              </a:rPr>
              <a:t>s = σ(Δx) / σ(x)</a:t>
            </a:r>
          </a:p>
        </p:txBody>
      </p:sp>
      <p:sp>
        <p:nvSpPr>
          <p:cNvPr id="17" name="Rounded Rectangle 16"/>
          <p:cNvSpPr/>
          <p:nvPr/>
        </p:nvSpPr>
        <p:spPr>
          <a:xfrm>
            <a:off x="8046720" y="2880360"/>
            <a:ext cx="3429000" cy="1389888"/>
          </a:xfrm>
          <a:prstGeom prst="roundRect">
            <a:avLst>
              <a:gd name="adj" fmla="val 12000"/>
            </a:avLst>
          </a:prstGeom>
          <a:solidFill>
            <a:srgbClr val="F7FAFD"/>
          </a:solidFill>
          <a:ln w="12700">
            <a:solidFill>
              <a:srgbClr val="D3DE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Rectangle 17"/>
          <p:cNvSpPr/>
          <p:nvPr/>
        </p:nvSpPr>
        <p:spPr>
          <a:xfrm>
            <a:off x="8046720" y="2880360"/>
            <a:ext cx="3429000" cy="64008"/>
          </a:xfrm>
          <a:prstGeom prst="rect">
            <a:avLst/>
          </a:prstGeom>
          <a:solidFill>
            <a:srgbClr val="E28A2B"/>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8229600" y="3035808"/>
            <a:ext cx="3063240" cy="429768"/>
          </a:xfrm>
          <a:prstGeom prst="rect">
            <a:avLst/>
          </a:prstGeom>
          <a:noFill/>
        </p:spPr>
        <p:txBody>
          <a:bodyPr wrap="none" lIns="36576" rIns="36576" tIns="36576" bIns="36576" anchor="t">
            <a:spAutoFit/>
          </a:bodyPr>
          <a:lstStyle/>
          <a:p>
            <a:pPr algn="l"/>
            <a:r>
              <a:rPr sz="1600" b="1">
                <a:solidFill>
                  <a:srgbClr val="E28A2B"/>
                </a:solidFill>
                <a:latin typeface="Arial"/>
              </a:rPr>
              <a:t>Đại lượng dự báo</a:t>
            </a:r>
          </a:p>
        </p:txBody>
      </p:sp>
      <p:sp>
        <p:nvSpPr>
          <p:cNvPr id="20" name="TextBox 19"/>
          <p:cNvSpPr txBox="1"/>
          <p:nvPr/>
        </p:nvSpPr>
        <p:spPr>
          <a:xfrm>
            <a:off x="8229600" y="3657600"/>
            <a:ext cx="3063240" cy="502920"/>
          </a:xfrm>
          <a:prstGeom prst="rect">
            <a:avLst/>
          </a:prstGeom>
          <a:noFill/>
        </p:spPr>
        <p:txBody>
          <a:bodyPr wrap="none" lIns="36576" rIns="36576" tIns="36576" bIns="36576" anchor="t">
            <a:spAutoFit/>
          </a:bodyPr>
          <a:lstStyle/>
          <a:p>
            <a:pPr algn="l"/>
            <a:r>
              <a:rPr sz="1500" b="0">
                <a:solidFill>
                  <a:srgbClr val="20384F"/>
                </a:solidFill>
                <a:latin typeface="Arial"/>
              </a:rPr>
              <a:t>z = Δx / σ(Δx)</a:t>
            </a:r>
          </a:p>
        </p:txBody>
      </p:sp>
      <p:sp>
        <p:nvSpPr>
          <p:cNvPr id="21" name="Rounded Rectangle 20"/>
          <p:cNvSpPr/>
          <p:nvPr/>
        </p:nvSpPr>
        <p:spPr>
          <a:xfrm>
            <a:off x="685800" y="4736592"/>
            <a:ext cx="10789920" cy="960120"/>
          </a:xfrm>
          <a:prstGeom prst="roundRect">
            <a:avLst>
              <a:gd name="adj" fmla="val 12000"/>
            </a:avLst>
          </a:prstGeom>
          <a:solidFill>
            <a:srgbClr val="F7FAFD"/>
          </a:solidFill>
          <a:ln w="12700">
            <a:solidFill>
              <a:srgbClr val="D2DE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914400" y="5010912"/>
            <a:ext cx="1143000" cy="201168"/>
          </a:xfrm>
          <a:prstGeom prst="rect">
            <a:avLst/>
          </a:prstGeom>
          <a:noFill/>
        </p:spPr>
        <p:txBody>
          <a:bodyPr wrap="none" lIns="36576" rIns="36576" tIns="36576" bIns="36576" anchor="t">
            <a:spAutoFit/>
          </a:bodyPr>
          <a:lstStyle/>
          <a:p>
            <a:pPr algn="l"/>
            <a:r>
              <a:rPr sz="1400" b="1">
                <a:solidFill>
                  <a:srgbClr val="2E8B57"/>
                </a:solidFill>
                <a:latin typeface="Arial"/>
              </a:rPr>
              <a:t>Cách áp dụng</a:t>
            </a:r>
          </a:p>
        </p:txBody>
      </p:sp>
      <p:sp>
        <p:nvSpPr>
          <p:cNvPr id="23" name="TextBox 22"/>
          <p:cNvSpPr txBox="1"/>
          <p:nvPr/>
        </p:nvSpPr>
        <p:spPr>
          <a:xfrm>
            <a:off x="1920240" y="4956048"/>
            <a:ext cx="8915400" cy="310896"/>
          </a:xfrm>
          <a:prstGeom prst="rect">
            <a:avLst/>
          </a:prstGeom>
          <a:noFill/>
        </p:spPr>
        <p:txBody>
          <a:bodyPr wrap="none" lIns="36576" rIns="36576" tIns="36576" bIns="36576" anchor="t">
            <a:spAutoFit/>
          </a:bodyPr>
          <a:lstStyle/>
          <a:p>
            <a:pPr algn="ctr"/>
            <a:r>
              <a:rPr sz="1350" b="1">
                <a:solidFill>
                  <a:srgbClr val="20384F"/>
                </a:solidFill>
                <a:latin typeface="Arial"/>
              </a:rPr>
              <a:t>Mô hình dự báo standardized tendency. Hệ số s chuyển tendency về cùng thang với trạng thái đầu vào.</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hcmute.png"/>
          <p:cNvPicPr>
            <a:picLocks noChangeAspect="1"/>
          </p:cNvPicPr>
          <p:nvPr/>
        </p:nvPicPr>
        <p:blipFill>
          <a:blip r:embed="rId2"/>
          <a:stretch>
            <a:fillRect/>
          </a:stretch>
        </p:blipFill>
        <p:spPr>
          <a:xfrm>
            <a:off x="320040" y="182880"/>
            <a:ext cx="524439" cy="438912"/>
          </a:xfrm>
          <a:prstGeom prst="rect">
            <a:avLst/>
          </a:prstGeom>
        </p:spPr>
      </p:pic>
      <p:sp>
        <p:nvSpPr>
          <p:cNvPr id="3" name="Rectangle 2"/>
          <p:cNvSpPr/>
          <p:nvPr/>
        </p:nvSpPr>
        <p:spPr>
          <a:xfrm>
            <a:off x="292608" y="713232"/>
            <a:ext cx="11594592" cy="41148"/>
          </a:xfrm>
          <a:prstGeom prst="rect">
            <a:avLst/>
          </a:prstGeom>
          <a:solidFill>
            <a:srgbClr val="1976D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 name="TextBox 3"/>
          <p:cNvSpPr txBox="1"/>
          <p:nvPr/>
        </p:nvSpPr>
        <p:spPr>
          <a:xfrm>
            <a:off x="941832" y="182880"/>
            <a:ext cx="9646920" cy="365760"/>
          </a:xfrm>
          <a:prstGeom prst="rect">
            <a:avLst/>
          </a:prstGeom>
          <a:noFill/>
        </p:spPr>
        <p:txBody>
          <a:bodyPr wrap="none" lIns="36576" rIns="36576" tIns="36576" bIns="36576" anchor="t">
            <a:spAutoFit/>
          </a:bodyPr>
          <a:lstStyle/>
          <a:p>
            <a:pPr algn="l"/>
            <a:r>
              <a:rPr sz="2300" b="1">
                <a:solidFill>
                  <a:srgbClr val="20384F"/>
                </a:solidFill>
                <a:latin typeface="Arial"/>
              </a:rPr>
              <a:t>Đặc điểm của lưới khí quyển trên mặt cầu</a:t>
            </a:r>
          </a:p>
        </p:txBody>
      </p:sp>
      <p:sp>
        <p:nvSpPr>
          <p:cNvPr id="5" name="TextBox 4"/>
          <p:cNvSpPr txBox="1"/>
          <p:nvPr/>
        </p:nvSpPr>
        <p:spPr>
          <a:xfrm>
            <a:off x="11228832" y="256032"/>
            <a:ext cx="384048" cy="182880"/>
          </a:xfrm>
          <a:prstGeom prst="rect">
            <a:avLst/>
          </a:prstGeom>
          <a:noFill/>
        </p:spPr>
        <p:txBody>
          <a:bodyPr wrap="none" lIns="36576" rIns="36576" tIns="36576" bIns="36576" anchor="t">
            <a:spAutoFit/>
          </a:bodyPr>
          <a:lstStyle/>
          <a:p>
            <a:pPr algn="r"/>
            <a:r>
              <a:rPr sz="1000" b="1">
                <a:solidFill>
                  <a:srgbClr val="1976D2"/>
                </a:solidFill>
                <a:latin typeface="Arial"/>
              </a:rPr>
              <a:t>08</a:t>
            </a:r>
          </a:p>
        </p:txBody>
      </p:sp>
      <p:sp>
        <p:nvSpPr>
          <p:cNvPr id="6" name="TextBox 5"/>
          <p:cNvSpPr txBox="1"/>
          <p:nvPr/>
        </p:nvSpPr>
        <p:spPr>
          <a:xfrm>
            <a:off x="365760" y="6583680"/>
            <a:ext cx="4754880" cy="146304"/>
          </a:xfrm>
          <a:prstGeom prst="rect">
            <a:avLst/>
          </a:prstGeom>
          <a:noFill/>
        </p:spPr>
        <p:txBody>
          <a:bodyPr wrap="none" lIns="36576" rIns="36576" tIns="36576" bIns="36576" anchor="t">
            <a:spAutoFit/>
          </a:bodyPr>
          <a:lstStyle/>
          <a:p>
            <a:pPr algn="l"/>
            <a:r>
              <a:rPr sz="620" b="0">
                <a:solidFill>
                  <a:srgbClr val="8794A1"/>
                </a:solidFill>
                <a:latin typeface="Arial"/>
              </a:rPr>
              <a:t>Lương Nguyễn Thành Hưng · NeuralAtmosphereOperator</a:t>
            </a:r>
          </a:p>
        </p:txBody>
      </p:sp>
      <p:sp>
        <p:nvSpPr>
          <p:cNvPr id="7" name="TextBox 6"/>
          <p:cNvSpPr txBox="1"/>
          <p:nvPr/>
        </p:nvSpPr>
        <p:spPr>
          <a:xfrm>
            <a:off x="10332720" y="6583680"/>
            <a:ext cx="1325880" cy="146304"/>
          </a:xfrm>
          <a:prstGeom prst="rect">
            <a:avLst/>
          </a:prstGeom>
          <a:noFill/>
        </p:spPr>
        <p:txBody>
          <a:bodyPr wrap="none" lIns="36576" rIns="36576" tIns="36576" bIns="36576" anchor="t">
            <a:spAutoFit/>
          </a:bodyPr>
          <a:lstStyle/>
          <a:p>
            <a:pPr algn="r"/>
            <a:r>
              <a:rPr sz="620" b="0">
                <a:solidFill>
                  <a:srgbClr val="8794A1"/>
                </a:solidFill>
                <a:latin typeface="Arial"/>
              </a:rPr>
              <a:t>Stage 1 → Stage 2</a:t>
            </a:r>
          </a:p>
        </p:txBody>
      </p:sp>
      <p:sp>
        <p:nvSpPr>
          <p:cNvPr id="8" name="Rounded Rectangle 7"/>
          <p:cNvSpPr/>
          <p:nvPr/>
        </p:nvSpPr>
        <p:spPr>
          <a:xfrm>
            <a:off x="640080" y="1234440"/>
            <a:ext cx="3429000" cy="1371600"/>
          </a:xfrm>
          <a:prstGeom prst="roundRect">
            <a:avLst>
              <a:gd name="adj" fmla="val 12000"/>
            </a:avLst>
          </a:prstGeom>
          <a:solidFill>
            <a:srgbClr val="F7FAFD"/>
          </a:solidFill>
          <a:ln w="12700">
            <a:solidFill>
              <a:srgbClr val="D3DE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Rectangle 8"/>
          <p:cNvSpPr/>
          <p:nvPr/>
        </p:nvSpPr>
        <p:spPr>
          <a:xfrm>
            <a:off x="640080" y="1234440"/>
            <a:ext cx="3429000" cy="64008"/>
          </a:xfrm>
          <a:prstGeom prst="rect">
            <a:avLst/>
          </a:prstGeom>
          <a:solidFill>
            <a:srgbClr val="1976D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822959" y="1389888"/>
            <a:ext cx="3063240" cy="429768"/>
          </a:xfrm>
          <a:prstGeom prst="rect">
            <a:avLst/>
          </a:prstGeom>
          <a:noFill/>
        </p:spPr>
        <p:txBody>
          <a:bodyPr wrap="none" lIns="36576" rIns="36576" tIns="36576" bIns="36576" anchor="t">
            <a:spAutoFit/>
          </a:bodyPr>
          <a:lstStyle/>
          <a:p>
            <a:pPr algn="l"/>
            <a:r>
              <a:rPr sz="1600" b="1">
                <a:solidFill>
                  <a:srgbClr val="1976D2"/>
                </a:solidFill>
                <a:latin typeface="Arial"/>
              </a:rPr>
              <a:t>Kinh độ</a:t>
            </a:r>
          </a:p>
        </p:txBody>
      </p:sp>
      <p:sp>
        <p:nvSpPr>
          <p:cNvPr id="11" name="TextBox 10"/>
          <p:cNvSpPr txBox="1"/>
          <p:nvPr/>
        </p:nvSpPr>
        <p:spPr>
          <a:xfrm>
            <a:off x="822959" y="2011680"/>
            <a:ext cx="3063240" cy="484632"/>
          </a:xfrm>
          <a:prstGeom prst="rect">
            <a:avLst/>
          </a:prstGeom>
          <a:noFill/>
        </p:spPr>
        <p:txBody>
          <a:bodyPr wrap="none" lIns="36576" rIns="36576" tIns="36576" bIns="36576" anchor="t">
            <a:spAutoFit/>
          </a:bodyPr>
          <a:lstStyle/>
          <a:p>
            <a:pPr algn="l"/>
            <a:r>
              <a:rPr sz="1500" b="0">
                <a:solidFill>
                  <a:srgbClr val="20384F"/>
                </a:solidFill>
                <a:latin typeface="Arial"/>
              </a:rPr>
              <a:t>Tuần hoàn tại 0°/360°</a:t>
            </a:r>
          </a:p>
        </p:txBody>
      </p:sp>
      <p:sp>
        <p:nvSpPr>
          <p:cNvPr id="12" name="Rounded Rectangle 11"/>
          <p:cNvSpPr/>
          <p:nvPr/>
        </p:nvSpPr>
        <p:spPr>
          <a:xfrm>
            <a:off x="4434840" y="1234440"/>
            <a:ext cx="3429000" cy="1371600"/>
          </a:xfrm>
          <a:prstGeom prst="roundRect">
            <a:avLst>
              <a:gd name="adj" fmla="val 12000"/>
            </a:avLst>
          </a:prstGeom>
          <a:solidFill>
            <a:srgbClr val="F7FAFD"/>
          </a:solidFill>
          <a:ln w="12700">
            <a:solidFill>
              <a:srgbClr val="D3DE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Rectangle 12"/>
          <p:cNvSpPr/>
          <p:nvPr/>
        </p:nvSpPr>
        <p:spPr>
          <a:xfrm>
            <a:off x="4434840" y="1234440"/>
            <a:ext cx="3429000" cy="64008"/>
          </a:xfrm>
          <a:prstGeom prst="rect">
            <a:avLst/>
          </a:prstGeom>
          <a:solidFill>
            <a:srgbClr val="D94C4C"/>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4617720" y="1389888"/>
            <a:ext cx="3063240" cy="429768"/>
          </a:xfrm>
          <a:prstGeom prst="rect">
            <a:avLst/>
          </a:prstGeom>
          <a:noFill/>
        </p:spPr>
        <p:txBody>
          <a:bodyPr wrap="none" lIns="36576" rIns="36576" tIns="36576" bIns="36576" anchor="t">
            <a:spAutoFit/>
          </a:bodyPr>
          <a:lstStyle/>
          <a:p>
            <a:pPr algn="l"/>
            <a:r>
              <a:rPr sz="1600" b="1">
                <a:solidFill>
                  <a:srgbClr val="D94C4C"/>
                </a:solidFill>
                <a:latin typeface="Arial"/>
              </a:rPr>
              <a:t>Hai cực</a:t>
            </a:r>
          </a:p>
        </p:txBody>
      </p:sp>
      <p:sp>
        <p:nvSpPr>
          <p:cNvPr id="15" name="TextBox 14"/>
          <p:cNvSpPr txBox="1"/>
          <p:nvPr/>
        </p:nvSpPr>
        <p:spPr>
          <a:xfrm>
            <a:off x="4617720" y="2011680"/>
            <a:ext cx="3063240" cy="484632"/>
          </a:xfrm>
          <a:prstGeom prst="rect">
            <a:avLst/>
          </a:prstGeom>
          <a:noFill/>
        </p:spPr>
        <p:txBody>
          <a:bodyPr wrap="none" lIns="36576" rIns="36576" tIns="36576" bIns="36576" anchor="t">
            <a:spAutoFit/>
          </a:bodyPr>
          <a:lstStyle/>
          <a:p>
            <a:pPr algn="l"/>
            <a:r>
              <a:rPr sz="1500" b="0">
                <a:solidFill>
                  <a:srgbClr val="20384F"/>
                </a:solidFill>
                <a:latin typeface="Arial"/>
              </a:rPr>
              <a:t>Điểm lưới hội tụ</a:t>
            </a:r>
          </a:p>
        </p:txBody>
      </p:sp>
      <p:sp>
        <p:nvSpPr>
          <p:cNvPr id="16" name="Rounded Rectangle 15"/>
          <p:cNvSpPr/>
          <p:nvPr/>
        </p:nvSpPr>
        <p:spPr>
          <a:xfrm>
            <a:off x="8229600" y="1234440"/>
            <a:ext cx="3429000" cy="1371600"/>
          </a:xfrm>
          <a:prstGeom prst="roundRect">
            <a:avLst>
              <a:gd name="adj" fmla="val 12000"/>
            </a:avLst>
          </a:prstGeom>
          <a:solidFill>
            <a:srgbClr val="F7FAFD"/>
          </a:solidFill>
          <a:ln w="12700">
            <a:solidFill>
              <a:srgbClr val="D3DE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Rectangle 16"/>
          <p:cNvSpPr/>
          <p:nvPr/>
        </p:nvSpPr>
        <p:spPr>
          <a:xfrm>
            <a:off x="8229600" y="1234440"/>
            <a:ext cx="3429000" cy="64008"/>
          </a:xfrm>
          <a:prstGeom prst="rect">
            <a:avLst/>
          </a:prstGeom>
          <a:solidFill>
            <a:srgbClr val="E28A2B"/>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8412480" y="1389888"/>
            <a:ext cx="3063240" cy="429768"/>
          </a:xfrm>
          <a:prstGeom prst="rect">
            <a:avLst/>
          </a:prstGeom>
          <a:noFill/>
        </p:spPr>
        <p:txBody>
          <a:bodyPr wrap="none" lIns="36576" rIns="36576" tIns="36576" bIns="36576" anchor="t">
            <a:spAutoFit/>
          </a:bodyPr>
          <a:lstStyle/>
          <a:p>
            <a:pPr algn="l"/>
            <a:r>
              <a:rPr sz="1600" b="1">
                <a:solidFill>
                  <a:srgbClr val="E28A2B"/>
                </a:solidFill>
                <a:latin typeface="Arial"/>
              </a:rPr>
              <a:t>Diện tích ô lưới</a:t>
            </a:r>
          </a:p>
        </p:txBody>
      </p:sp>
      <p:sp>
        <p:nvSpPr>
          <p:cNvPr id="19" name="TextBox 18"/>
          <p:cNvSpPr txBox="1"/>
          <p:nvPr/>
        </p:nvSpPr>
        <p:spPr>
          <a:xfrm>
            <a:off x="8412480" y="2011680"/>
            <a:ext cx="3063240" cy="484632"/>
          </a:xfrm>
          <a:prstGeom prst="rect">
            <a:avLst/>
          </a:prstGeom>
          <a:noFill/>
        </p:spPr>
        <p:txBody>
          <a:bodyPr wrap="none" lIns="36576" rIns="36576" tIns="36576" bIns="36576" anchor="t">
            <a:spAutoFit/>
          </a:bodyPr>
          <a:lstStyle/>
          <a:p>
            <a:pPr algn="l"/>
            <a:r>
              <a:rPr sz="1500" b="0">
                <a:solidFill>
                  <a:srgbClr val="20384F"/>
                </a:solidFill>
                <a:latin typeface="Arial"/>
              </a:rPr>
              <a:t>Ô lưới có diện tích khác nhau</a:t>
            </a:r>
          </a:p>
        </p:txBody>
      </p:sp>
      <p:sp>
        <p:nvSpPr>
          <p:cNvPr id="20" name="Rounded Rectangle 19"/>
          <p:cNvSpPr/>
          <p:nvPr/>
        </p:nvSpPr>
        <p:spPr>
          <a:xfrm>
            <a:off x="640080" y="3063240"/>
            <a:ext cx="10972800" cy="2377440"/>
          </a:xfrm>
          <a:prstGeom prst="roundRect">
            <a:avLst>
              <a:gd name="adj" fmla="val 12000"/>
            </a:avLst>
          </a:prstGeom>
          <a:solidFill>
            <a:srgbClr val="F7FAFD"/>
          </a:solidFill>
          <a:ln w="12700">
            <a:solidFill>
              <a:srgbClr val="D2DE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914400" y="3438144"/>
            <a:ext cx="2240280" cy="274320"/>
          </a:xfrm>
          <a:prstGeom prst="rect">
            <a:avLst/>
          </a:prstGeom>
          <a:noFill/>
        </p:spPr>
        <p:txBody>
          <a:bodyPr wrap="none" lIns="36576" rIns="36576" tIns="36576" bIns="36576" anchor="t">
            <a:spAutoFit/>
          </a:bodyPr>
          <a:lstStyle/>
          <a:p>
            <a:pPr algn="l"/>
            <a:r>
              <a:rPr sz="1800" b="1">
                <a:solidFill>
                  <a:srgbClr val="D94C4C"/>
                </a:solidFill>
                <a:latin typeface="Arial"/>
              </a:rPr>
              <a:t>Tích chập trên mặt phẳng</a:t>
            </a:r>
          </a:p>
        </p:txBody>
      </p:sp>
      <p:sp>
        <p:nvSpPr>
          <p:cNvPr id="22" name="TextBox 21"/>
          <p:cNvSpPr txBox="1"/>
          <p:nvPr/>
        </p:nvSpPr>
        <p:spPr>
          <a:xfrm>
            <a:off x="2880360" y="3401568"/>
            <a:ext cx="8001000" cy="347472"/>
          </a:xfrm>
          <a:prstGeom prst="rect">
            <a:avLst/>
          </a:prstGeom>
          <a:noFill/>
        </p:spPr>
        <p:txBody>
          <a:bodyPr wrap="none" lIns="36576" rIns="36576" tIns="36576" bIns="36576" anchor="t">
            <a:spAutoFit/>
          </a:bodyPr>
          <a:lstStyle/>
          <a:p>
            <a:pPr algn="ctr"/>
            <a:r>
              <a:rPr sz="1500" b="1">
                <a:solidFill>
                  <a:srgbClr val="20384F"/>
                </a:solidFill>
                <a:latin typeface="Arial"/>
              </a:rPr>
              <a:t>Cần xử lý hai cực, biên kinh độ và sự thay đổi kích thước ô lưới.</a:t>
            </a:r>
          </a:p>
        </p:txBody>
      </p:sp>
      <p:sp>
        <p:nvSpPr>
          <p:cNvPr id="23" name="TextBox 22"/>
          <p:cNvSpPr txBox="1"/>
          <p:nvPr/>
        </p:nvSpPr>
        <p:spPr>
          <a:xfrm>
            <a:off x="914400" y="4261104"/>
            <a:ext cx="2240280" cy="274320"/>
          </a:xfrm>
          <a:prstGeom prst="rect">
            <a:avLst/>
          </a:prstGeom>
          <a:noFill/>
        </p:spPr>
        <p:txBody>
          <a:bodyPr wrap="none" lIns="36576" rIns="36576" tIns="36576" bIns="36576" anchor="t">
            <a:spAutoFit/>
          </a:bodyPr>
          <a:lstStyle/>
          <a:p>
            <a:pPr algn="l"/>
            <a:r>
              <a:rPr sz="1800" b="1">
                <a:solidFill>
                  <a:srgbClr val="2E8B57"/>
                </a:solidFill>
                <a:latin typeface="Arial"/>
              </a:rPr>
              <a:t>SFNO</a:t>
            </a:r>
          </a:p>
        </p:txBody>
      </p:sp>
      <p:sp>
        <p:nvSpPr>
          <p:cNvPr id="24" name="TextBox 23"/>
          <p:cNvSpPr txBox="1"/>
          <p:nvPr/>
        </p:nvSpPr>
        <p:spPr>
          <a:xfrm>
            <a:off x="2880360" y="4224528"/>
            <a:ext cx="8001000" cy="347472"/>
          </a:xfrm>
          <a:prstGeom prst="rect">
            <a:avLst/>
          </a:prstGeom>
          <a:noFill/>
        </p:spPr>
        <p:txBody>
          <a:bodyPr wrap="none" lIns="36576" rIns="36576" tIns="36576" bIns="36576" anchor="t">
            <a:spAutoFit/>
          </a:bodyPr>
          <a:lstStyle/>
          <a:p>
            <a:pPr algn="ctr"/>
            <a:r>
              <a:rPr sz="1500" b="1">
                <a:solidFill>
                  <a:srgbClr val="20384F"/>
                </a:solidFill>
                <a:latin typeface="Arial"/>
              </a:rPr>
              <a:t>Biến đổi điều hòa cầu cho phép học tương tác trên toàn miền.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hcmute.png"/>
          <p:cNvPicPr>
            <a:picLocks noChangeAspect="1"/>
          </p:cNvPicPr>
          <p:nvPr/>
        </p:nvPicPr>
        <p:blipFill>
          <a:blip r:embed="rId2"/>
          <a:stretch>
            <a:fillRect/>
          </a:stretch>
        </p:blipFill>
        <p:spPr>
          <a:xfrm>
            <a:off x="320040" y="182880"/>
            <a:ext cx="524439" cy="438912"/>
          </a:xfrm>
          <a:prstGeom prst="rect">
            <a:avLst/>
          </a:prstGeom>
        </p:spPr>
      </p:pic>
      <p:sp>
        <p:nvSpPr>
          <p:cNvPr id="3" name="Rectangle 2"/>
          <p:cNvSpPr/>
          <p:nvPr/>
        </p:nvSpPr>
        <p:spPr>
          <a:xfrm>
            <a:off x="292608" y="713232"/>
            <a:ext cx="11594592" cy="41148"/>
          </a:xfrm>
          <a:prstGeom prst="rect">
            <a:avLst/>
          </a:prstGeom>
          <a:solidFill>
            <a:srgbClr val="1976D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 name="TextBox 3"/>
          <p:cNvSpPr txBox="1"/>
          <p:nvPr/>
        </p:nvSpPr>
        <p:spPr>
          <a:xfrm>
            <a:off x="941832" y="182880"/>
            <a:ext cx="9646920" cy="365760"/>
          </a:xfrm>
          <a:prstGeom prst="rect">
            <a:avLst/>
          </a:prstGeom>
          <a:noFill/>
        </p:spPr>
        <p:txBody>
          <a:bodyPr wrap="none" lIns="36576" rIns="36576" tIns="36576" bIns="36576" anchor="t">
            <a:spAutoFit/>
          </a:bodyPr>
          <a:lstStyle/>
          <a:p>
            <a:pPr algn="l"/>
            <a:r>
              <a:rPr sz="2300" b="1">
                <a:solidFill>
                  <a:srgbClr val="20384F"/>
                </a:solidFill>
                <a:latin typeface="Arial"/>
              </a:rPr>
              <a:t>Cấu trúc khối SFNO</a:t>
            </a:r>
          </a:p>
        </p:txBody>
      </p:sp>
      <p:sp>
        <p:nvSpPr>
          <p:cNvPr id="5" name="TextBox 4"/>
          <p:cNvSpPr txBox="1"/>
          <p:nvPr/>
        </p:nvSpPr>
        <p:spPr>
          <a:xfrm>
            <a:off x="11228832" y="256032"/>
            <a:ext cx="384048" cy="182880"/>
          </a:xfrm>
          <a:prstGeom prst="rect">
            <a:avLst/>
          </a:prstGeom>
          <a:noFill/>
        </p:spPr>
        <p:txBody>
          <a:bodyPr wrap="none" lIns="36576" rIns="36576" tIns="36576" bIns="36576" anchor="t">
            <a:spAutoFit/>
          </a:bodyPr>
          <a:lstStyle/>
          <a:p>
            <a:pPr algn="r"/>
            <a:r>
              <a:rPr sz="1000" b="1">
                <a:solidFill>
                  <a:srgbClr val="1976D2"/>
                </a:solidFill>
                <a:latin typeface="Arial"/>
              </a:rPr>
              <a:t>09</a:t>
            </a:r>
          </a:p>
        </p:txBody>
      </p:sp>
      <p:sp>
        <p:nvSpPr>
          <p:cNvPr id="6" name="TextBox 5"/>
          <p:cNvSpPr txBox="1"/>
          <p:nvPr/>
        </p:nvSpPr>
        <p:spPr>
          <a:xfrm>
            <a:off x="365760" y="6583680"/>
            <a:ext cx="4754880" cy="146304"/>
          </a:xfrm>
          <a:prstGeom prst="rect">
            <a:avLst/>
          </a:prstGeom>
          <a:noFill/>
        </p:spPr>
        <p:txBody>
          <a:bodyPr wrap="none" lIns="36576" rIns="36576" tIns="36576" bIns="36576" anchor="t">
            <a:spAutoFit/>
          </a:bodyPr>
          <a:lstStyle/>
          <a:p>
            <a:pPr algn="l"/>
            <a:r>
              <a:rPr sz="620" b="0">
                <a:solidFill>
                  <a:srgbClr val="8794A1"/>
                </a:solidFill>
                <a:latin typeface="Arial"/>
              </a:rPr>
              <a:t>Lương Nguyễn Thành Hưng · NeuralAtmosphereOperator</a:t>
            </a:r>
          </a:p>
        </p:txBody>
      </p:sp>
      <p:sp>
        <p:nvSpPr>
          <p:cNvPr id="7" name="TextBox 6"/>
          <p:cNvSpPr txBox="1"/>
          <p:nvPr/>
        </p:nvSpPr>
        <p:spPr>
          <a:xfrm>
            <a:off x="10332720" y="6583680"/>
            <a:ext cx="1325880" cy="146304"/>
          </a:xfrm>
          <a:prstGeom prst="rect">
            <a:avLst/>
          </a:prstGeom>
          <a:noFill/>
        </p:spPr>
        <p:txBody>
          <a:bodyPr wrap="none" lIns="36576" rIns="36576" tIns="36576" bIns="36576" anchor="t">
            <a:spAutoFit/>
          </a:bodyPr>
          <a:lstStyle/>
          <a:p>
            <a:pPr algn="r"/>
            <a:r>
              <a:rPr sz="620" b="0">
                <a:solidFill>
                  <a:srgbClr val="8794A1"/>
                </a:solidFill>
                <a:latin typeface="Arial"/>
              </a:rPr>
              <a:t>Stage 1 → Stage 2</a:t>
            </a:r>
          </a:p>
        </p:txBody>
      </p:sp>
      <p:sp>
        <p:nvSpPr>
          <p:cNvPr id="8" name="TextBox 7"/>
          <p:cNvSpPr txBox="1"/>
          <p:nvPr/>
        </p:nvSpPr>
        <p:spPr>
          <a:xfrm>
            <a:off x="731520" y="960120"/>
            <a:ext cx="10698480" cy="411480"/>
          </a:xfrm>
          <a:prstGeom prst="rect">
            <a:avLst/>
          </a:prstGeom>
          <a:noFill/>
        </p:spPr>
        <p:txBody>
          <a:bodyPr wrap="none" lIns="36576" rIns="36576" tIns="36576" bIns="36576" anchor="t">
            <a:spAutoFit/>
          </a:bodyPr>
          <a:lstStyle/>
          <a:p>
            <a:pPr algn="l"/>
            <a:r>
              <a:rPr sz="1800" b="1">
                <a:solidFill>
                  <a:srgbClr val="20384F"/>
                </a:solidFill>
                <a:latin typeface="Arial"/>
              </a:rPr>
              <a:t>Khối SFNO kết hợp phép lọc phổ với nhánh cục bộ và residual connection.</a:t>
            </a:r>
          </a:p>
        </p:txBody>
      </p:sp>
      <p:sp>
        <p:nvSpPr>
          <p:cNvPr id="9" name="Rounded Rectangle 8"/>
          <p:cNvSpPr/>
          <p:nvPr/>
        </p:nvSpPr>
        <p:spPr>
          <a:xfrm>
            <a:off x="594360" y="2148840"/>
            <a:ext cx="1828800" cy="1097280"/>
          </a:xfrm>
          <a:prstGeom prst="roundRect">
            <a:avLst>
              <a:gd name="adj" fmla="val 12000"/>
            </a:avLst>
          </a:prstGeom>
          <a:solidFill>
            <a:srgbClr val="EEF5FB"/>
          </a:solidFill>
          <a:ln w="12700">
            <a:solidFill>
              <a:srgbClr val="1976D2"/>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685800" y="2258568"/>
            <a:ext cx="1645920" cy="429768"/>
          </a:xfrm>
          <a:prstGeom prst="rect">
            <a:avLst/>
          </a:prstGeom>
          <a:noFill/>
        </p:spPr>
        <p:txBody>
          <a:bodyPr wrap="none" lIns="36576" rIns="36576" tIns="36576" bIns="36576" anchor="t">
            <a:spAutoFit/>
          </a:bodyPr>
          <a:lstStyle/>
          <a:p>
            <a:pPr algn="ctr"/>
            <a:r>
              <a:rPr sz="1400" b="1">
                <a:solidFill>
                  <a:srgbClr val="20384F"/>
                </a:solidFill>
                <a:latin typeface="Arial"/>
              </a:rPr>
              <a:t>vₖ</a:t>
            </a:r>
          </a:p>
        </p:txBody>
      </p:sp>
      <p:sp>
        <p:nvSpPr>
          <p:cNvPr id="11" name="TextBox 10"/>
          <p:cNvSpPr txBox="1"/>
          <p:nvPr/>
        </p:nvSpPr>
        <p:spPr>
          <a:xfrm>
            <a:off x="685800" y="2715768"/>
            <a:ext cx="1645920" cy="475487"/>
          </a:xfrm>
          <a:prstGeom prst="rect">
            <a:avLst/>
          </a:prstGeom>
          <a:noFill/>
        </p:spPr>
        <p:txBody>
          <a:bodyPr wrap="none" lIns="36576" rIns="36576" tIns="36576" bIns="36576" anchor="t">
            <a:spAutoFit/>
          </a:bodyPr>
          <a:lstStyle/>
          <a:p>
            <a:pPr algn="ctr"/>
            <a:r>
              <a:rPr sz="1200" b="0">
                <a:solidFill>
                  <a:srgbClr val="5B6773"/>
                </a:solidFill>
                <a:latin typeface="Arial"/>
              </a:rPr>
              <a:t>Đặc trưng</a:t>
            </a:r>
          </a:p>
        </p:txBody>
      </p:sp>
      <p:sp>
        <p:nvSpPr>
          <p:cNvPr id="12" name="Rounded Rectangle 11"/>
          <p:cNvSpPr/>
          <p:nvPr/>
        </p:nvSpPr>
        <p:spPr>
          <a:xfrm>
            <a:off x="2743200" y="2148840"/>
            <a:ext cx="1828800" cy="1097280"/>
          </a:xfrm>
          <a:prstGeom prst="roundRect">
            <a:avLst>
              <a:gd name="adj" fmla="val 12000"/>
            </a:avLst>
          </a:prstGeom>
          <a:solidFill>
            <a:srgbClr val="EEF5FB"/>
          </a:solidFill>
          <a:ln w="12700">
            <a:solidFill>
              <a:srgbClr val="1976D2"/>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2834640" y="2258568"/>
            <a:ext cx="1645920" cy="429768"/>
          </a:xfrm>
          <a:prstGeom prst="rect">
            <a:avLst/>
          </a:prstGeom>
          <a:noFill/>
        </p:spPr>
        <p:txBody>
          <a:bodyPr wrap="none" lIns="36576" rIns="36576" tIns="36576" bIns="36576" anchor="t">
            <a:spAutoFit/>
          </a:bodyPr>
          <a:lstStyle/>
          <a:p>
            <a:pPr algn="ctr"/>
            <a:r>
              <a:rPr sz="1400" b="1">
                <a:solidFill>
                  <a:srgbClr val="20384F"/>
                </a:solidFill>
                <a:latin typeface="Arial"/>
              </a:rPr>
              <a:t>SHT</a:t>
            </a:r>
          </a:p>
        </p:txBody>
      </p:sp>
      <p:sp>
        <p:nvSpPr>
          <p:cNvPr id="14" name="TextBox 13"/>
          <p:cNvSpPr txBox="1"/>
          <p:nvPr/>
        </p:nvSpPr>
        <p:spPr>
          <a:xfrm>
            <a:off x="2834640" y="2715768"/>
            <a:ext cx="1645920" cy="475487"/>
          </a:xfrm>
          <a:prstGeom prst="rect">
            <a:avLst/>
          </a:prstGeom>
          <a:noFill/>
        </p:spPr>
        <p:txBody>
          <a:bodyPr wrap="none" lIns="36576" rIns="36576" tIns="36576" bIns="36576" anchor="t">
            <a:spAutoFit/>
          </a:bodyPr>
          <a:lstStyle/>
          <a:p>
            <a:pPr algn="ctr"/>
            <a:r>
              <a:rPr sz="1200" b="0">
                <a:solidFill>
                  <a:srgbClr val="5B6773"/>
                </a:solidFill>
                <a:latin typeface="Arial"/>
              </a:rPr>
              <a:t>Mặt cầu → phổ</a:t>
            </a:r>
          </a:p>
        </p:txBody>
      </p:sp>
      <p:sp>
        <p:nvSpPr>
          <p:cNvPr id="15" name="Rounded Rectangle 14"/>
          <p:cNvSpPr/>
          <p:nvPr/>
        </p:nvSpPr>
        <p:spPr>
          <a:xfrm>
            <a:off x="4892040" y="2148840"/>
            <a:ext cx="1828800" cy="1097280"/>
          </a:xfrm>
          <a:prstGeom prst="roundRect">
            <a:avLst>
              <a:gd name="adj" fmla="val 12000"/>
            </a:avLst>
          </a:prstGeom>
          <a:solidFill>
            <a:srgbClr val="EEF5FB"/>
          </a:solidFill>
          <a:ln w="12700">
            <a:solidFill>
              <a:srgbClr val="1976D2"/>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4983479" y="2258568"/>
            <a:ext cx="1645920" cy="429768"/>
          </a:xfrm>
          <a:prstGeom prst="rect">
            <a:avLst/>
          </a:prstGeom>
          <a:noFill/>
        </p:spPr>
        <p:txBody>
          <a:bodyPr wrap="none" lIns="36576" rIns="36576" tIns="36576" bIns="36576" anchor="t">
            <a:spAutoFit/>
          </a:bodyPr>
          <a:lstStyle/>
          <a:p>
            <a:pPr algn="ctr"/>
            <a:r>
              <a:rPr sz="1400" b="1">
                <a:solidFill>
                  <a:srgbClr val="20384F"/>
                </a:solidFill>
                <a:latin typeface="Arial"/>
              </a:rPr>
              <a:t>Bộ lọc phổ</a:t>
            </a:r>
          </a:p>
        </p:txBody>
      </p:sp>
      <p:sp>
        <p:nvSpPr>
          <p:cNvPr id="17" name="TextBox 16"/>
          <p:cNvSpPr txBox="1"/>
          <p:nvPr/>
        </p:nvSpPr>
        <p:spPr>
          <a:xfrm>
            <a:off x="4983479" y="2715768"/>
            <a:ext cx="1645920" cy="475487"/>
          </a:xfrm>
          <a:prstGeom prst="rect">
            <a:avLst/>
          </a:prstGeom>
          <a:noFill/>
        </p:spPr>
        <p:txBody>
          <a:bodyPr wrap="none" lIns="36576" rIns="36576" tIns="36576" bIns="36576" anchor="t">
            <a:spAutoFit/>
          </a:bodyPr>
          <a:lstStyle/>
          <a:p>
            <a:pPr algn="ctr"/>
            <a:r>
              <a:rPr sz="1200" b="0">
                <a:solidFill>
                  <a:srgbClr val="5B6773"/>
                </a:solidFill>
                <a:latin typeface="Arial"/>
              </a:rPr>
              <a:t>Trọng số học được</a:t>
            </a:r>
          </a:p>
        </p:txBody>
      </p:sp>
      <p:sp>
        <p:nvSpPr>
          <p:cNvPr id="18" name="Rounded Rectangle 17"/>
          <p:cNvSpPr/>
          <p:nvPr/>
        </p:nvSpPr>
        <p:spPr>
          <a:xfrm>
            <a:off x="7040880" y="2148840"/>
            <a:ext cx="1828800" cy="1097280"/>
          </a:xfrm>
          <a:prstGeom prst="roundRect">
            <a:avLst>
              <a:gd name="adj" fmla="val 12000"/>
            </a:avLst>
          </a:prstGeom>
          <a:solidFill>
            <a:srgbClr val="EEF5FB"/>
          </a:solidFill>
          <a:ln w="12700">
            <a:solidFill>
              <a:srgbClr val="1976D2"/>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7132320" y="2258568"/>
            <a:ext cx="1645920" cy="429768"/>
          </a:xfrm>
          <a:prstGeom prst="rect">
            <a:avLst/>
          </a:prstGeom>
          <a:noFill/>
        </p:spPr>
        <p:txBody>
          <a:bodyPr wrap="none" lIns="36576" rIns="36576" tIns="36576" bIns="36576" anchor="t">
            <a:spAutoFit/>
          </a:bodyPr>
          <a:lstStyle/>
          <a:p>
            <a:pPr algn="ctr"/>
            <a:r>
              <a:rPr sz="1400" b="1">
                <a:solidFill>
                  <a:srgbClr val="20384F"/>
                </a:solidFill>
                <a:latin typeface="Arial"/>
              </a:rPr>
              <a:t>iSHT</a:t>
            </a:r>
          </a:p>
        </p:txBody>
      </p:sp>
      <p:sp>
        <p:nvSpPr>
          <p:cNvPr id="20" name="TextBox 19"/>
          <p:cNvSpPr txBox="1"/>
          <p:nvPr/>
        </p:nvSpPr>
        <p:spPr>
          <a:xfrm>
            <a:off x="7132320" y="2715768"/>
            <a:ext cx="1645920" cy="475487"/>
          </a:xfrm>
          <a:prstGeom prst="rect">
            <a:avLst/>
          </a:prstGeom>
          <a:noFill/>
        </p:spPr>
        <p:txBody>
          <a:bodyPr wrap="none" lIns="36576" rIns="36576" tIns="36576" bIns="36576" anchor="t">
            <a:spAutoFit/>
          </a:bodyPr>
          <a:lstStyle/>
          <a:p>
            <a:pPr algn="ctr"/>
            <a:r>
              <a:rPr sz="1200" b="0">
                <a:solidFill>
                  <a:srgbClr val="5B6773"/>
                </a:solidFill>
                <a:latin typeface="Arial"/>
              </a:rPr>
              <a:t>Phổ → mặt cầu</a:t>
            </a:r>
          </a:p>
        </p:txBody>
      </p:sp>
      <p:sp>
        <p:nvSpPr>
          <p:cNvPr id="21" name="Rounded Rectangle 20"/>
          <p:cNvSpPr/>
          <p:nvPr/>
        </p:nvSpPr>
        <p:spPr>
          <a:xfrm>
            <a:off x="9189720" y="2148840"/>
            <a:ext cx="1828800" cy="1097280"/>
          </a:xfrm>
          <a:prstGeom prst="roundRect">
            <a:avLst>
              <a:gd name="adj" fmla="val 12000"/>
            </a:avLst>
          </a:prstGeom>
          <a:solidFill>
            <a:srgbClr val="EEF5FB"/>
          </a:solidFill>
          <a:ln w="12700">
            <a:solidFill>
              <a:srgbClr val="1976D2"/>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9281160" y="2258568"/>
            <a:ext cx="1645920" cy="429768"/>
          </a:xfrm>
          <a:prstGeom prst="rect">
            <a:avLst/>
          </a:prstGeom>
          <a:noFill/>
        </p:spPr>
        <p:txBody>
          <a:bodyPr wrap="none" lIns="36576" rIns="36576" tIns="36576" bIns="36576" anchor="t">
            <a:spAutoFit/>
          </a:bodyPr>
          <a:lstStyle/>
          <a:p>
            <a:pPr algn="ctr"/>
            <a:r>
              <a:rPr sz="1400" b="1">
                <a:solidFill>
                  <a:srgbClr val="20384F"/>
                </a:solidFill>
                <a:latin typeface="Arial"/>
              </a:rPr>
              <a:t>Cộng và kích hoạt</a:t>
            </a:r>
          </a:p>
        </p:txBody>
      </p:sp>
      <p:sp>
        <p:nvSpPr>
          <p:cNvPr id="23" name="TextBox 22"/>
          <p:cNvSpPr txBox="1"/>
          <p:nvPr/>
        </p:nvSpPr>
        <p:spPr>
          <a:xfrm>
            <a:off x="9281160" y="2715768"/>
            <a:ext cx="1645920" cy="475487"/>
          </a:xfrm>
          <a:prstGeom prst="rect">
            <a:avLst/>
          </a:prstGeom>
          <a:noFill/>
        </p:spPr>
        <p:txBody>
          <a:bodyPr wrap="none" lIns="36576" rIns="36576" tIns="36576" bIns="36576" anchor="t">
            <a:spAutoFit/>
          </a:bodyPr>
          <a:lstStyle/>
          <a:p>
            <a:pPr algn="ctr"/>
            <a:r>
              <a:rPr sz="1200" b="0">
                <a:solidFill>
                  <a:srgbClr val="5B6773"/>
                </a:solidFill>
                <a:latin typeface="Arial"/>
              </a:rPr>
              <a:t>Đặc trưng đầu ra</a:t>
            </a:r>
          </a:p>
        </p:txBody>
      </p:sp>
      <p:cxnSp>
        <p:nvCxnSpPr>
          <p:cNvPr id="24" name="Connector 23"/>
          <p:cNvCxnSpPr/>
          <p:nvPr/>
        </p:nvCxnSpPr>
        <p:spPr>
          <a:xfrm>
            <a:off x="2441448" y="2697480"/>
            <a:ext cx="256032" cy="0"/>
          </a:xfrm>
          <a:prstGeom prst="line">
            <a:avLst/>
          </a:prstGeom>
          <a:ln w="25400">
            <a:solidFill>
              <a:srgbClr val="1976D2"/>
            </a:solidFill>
            <a:tailEnd type="triangle" w="sm" len="sm"/>
          </a:ln>
        </p:spPr>
        <p:style>
          <a:lnRef idx="2">
            <a:schemeClr val="accent1"/>
          </a:lnRef>
          <a:fillRef idx="0">
            <a:schemeClr val="accent1"/>
          </a:fillRef>
          <a:effectRef idx="0">
            <a:schemeClr val="accent1"/>
          </a:effectRef>
          <a:fontRef idx="minor">
            <a:schemeClr val="tx1"/>
          </a:fontRef>
        </p:style>
      </p:cxnSp>
      <p:cxnSp>
        <p:nvCxnSpPr>
          <p:cNvPr id="25" name="Connector 24"/>
          <p:cNvCxnSpPr/>
          <p:nvPr/>
        </p:nvCxnSpPr>
        <p:spPr>
          <a:xfrm>
            <a:off x="4590288" y="2697480"/>
            <a:ext cx="256032" cy="0"/>
          </a:xfrm>
          <a:prstGeom prst="line">
            <a:avLst/>
          </a:prstGeom>
          <a:ln w="25400">
            <a:solidFill>
              <a:srgbClr val="1976D2"/>
            </a:solidFill>
            <a:tailEnd type="triangle" w="sm" len="sm"/>
          </a:ln>
        </p:spPr>
        <p:style>
          <a:lnRef idx="2">
            <a:schemeClr val="accent1"/>
          </a:lnRef>
          <a:fillRef idx="0">
            <a:schemeClr val="accent1"/>
          </a:fillRef>
          <a:effectRef idx="0">
            <a:schemeClr val="accent1"/>
          </a:effectRef>
          <a:fontRef idx="minor">
            <a:schemeClr val="tx1"/>
          </a:fontRef>
        </p:style>
      </p:cxnSp>
      <p:cxnSp>
        <p:nvCxnSpPr>
          <p:cNvPr id="26" name="Connector 25"/>
          <p:cNvCxnSpPr/>
          <p:nvPr/>
        </p:nvCxnSpPr>
        <p:spPr>
          <a:xfrm>
            <a:off x="6739127" y="2697480"/>
            <a:ext cx="256033" cy="0"/>
          </a:xfrm>
          <a:prstGeom prst="line">
            <a:avLst/>
          </a:prstGeom>
          <a:ln w="25400">
            <a:solidFill>
              <a:srgbClr val="1976D2"/>
            </a:solidFill>
            <a:tailEnd type="triangle" w="sm" len="sm"/>
          </a:ln>
        </p:spPr>
        <p:style>
          <a:lnRef idx="2">
            <a:schemeClr val="accent1"/>
          </a:lnRef>
          <a:fillRef idx="0">
            <a:schemeClr val="accent1"/>
          </a:fillRef>
          <a:effectRef idx="0">
            <a:schemeClr val="accent1"/>
          </a:effectRef>
          <a:fontRef idx="minor">
            <a:schemeClr val="tx1"/>
          </a:fontRef>
        </p:style>
      </p:cxnSp>
      <p:cxnSp>
        <p:nvCxnSpPr>
          <p:cNvPr id="27" name="Connector 26"/>
          <p:cNvCxnSpPr/>
          <p:nvPr/>
        </p:nvCxnSpPr>
        <p:spPr>
          <a:xfrm>
            <a:off x="8887968" y="2697480"/>
            <a:ext cx="256032" cy="0"/>
          </a:xfrm>
          <a:prstGeom prst="line">
            <a:avLst/>
          </a:prstGeom>
          <a:ln w="25400">
            <a:solidFill>
              <a:srgbClr val="1976D2"/>
            </a:solidFill>
            <a:tailEnd type="triangle" w="sm" len="sm"/>
          </a:ln>
        </p:spPr>
        <p:style>
          <a:lnRef idx="2">
            <a:schemeClr val="accent1"/>
          </a:lnRef>
          <a:fillRef idx="0">
            <a:schemeClr val="accent1"/>
          </a:fillRef>
          <a:effectRef idx="0">
            <a:schemeClr val="accent1"/>
          </a:effectRef>
          <a:fontRef idx="minor">
            <a:schemeClr val="tx1"/>
          </a:fontRef>
        </p:style>
      </p:cxnSp>
      <p:cxnSp>
        <p:nvCxnSpPr>
          <p:cNvPr id="28" name="Connector 27"/>
          <p:cNvCxnSpPr/>
          <p:nvPr/>
        </p:nvCxnSpPr>
        <p:spPr>
          <a:xfrm flipV="1">
            <a:off x="1508760" y="1691640"/>
            <a:ext cx="0" cy="411480"/>
          </a:xfrm>
          <a:prstGeom prst="line">
            <a:avLst/>
          </a:prstGeom>
          <a:ln w="25400">
            <a:solidFill>
              <a:srgbClr val="5B6773"/>
            </a:solidFill>
            <a:tailEnd type="triangle" w="sm" len="sm"/>
          </a:ln>
        </p:spPr>
        <p:style>
          <a:lnRef idx="2">
            <a:schemeClr val="accent1"/>
          </a:lnRef>
          <a:fillRef idx="0">
            <a:schemeClr val="accent1"/>
          </a:fillRef>
          <a:effectRef idx="0">
            <a:schemeClr val="accent1"/>
          </a:effectRef>
          <a:fontRef idx="minor">
            <a:schemeClr val="tx1"/>
          </a:fontRef>
        </p:style>
      </p:cxnSp>
      <p:cxnSp>
        <p:nvCxnSpPr>
          <p:cNvPr id="29" name="Connector 28"/>
          <p:cNvCxnSpPr/>
          <p:nvPr/>
        </p:nvCxnSpPr>
        <p:spPr>
          <a:xfrm>
            <a:off x="1508760" y="1691640"/>
            <a:ext cx="8595360" cy="0"/>
          </a:xfrm>
          <a:prstGeom prst="line">
            <a:avLst/>
          </a:prstGeom>
          <a:ln w="25400">
            <a:solidFill>
              <a:srgbClr val="5B6773"/>
            </a:solidFill>
            <a:tailEnd type="triangle" w="sm" len="sm"/>
          </a:ln>
        </p:spPr>
        <p:style>
          <a:lnRef idx="2">
            <a:schemeClr val="accent1"/>
          </a:lnRef>
          <a:fillRef idx="0">
            <a:schemeClr val="accent1"/>
          </a:fillRef>
          <a:effectRef idx="0">
            <a:schemeClr val="accent1"/>
          </a:effectRef>
          <a:fontRef idx="minor">
            <a:schemeClr val="tx1"/>
          </a:fontRef>
        </p:style>
      </p:cxnSp>
      <p:cxnSp>
        <p:nvCxnSpPr>
          <p:cNvPr id="30" name="Connector 29"/>
          <p:cNvCxnSpPr/>
          <p:nvPr/>
        </p:nvCxnSpPr>
        <p:spPr>
          <a:xfrm>
            <a:off x="10104120" y="1691640"/>
            <a:ext cx="0" cy="411480"/>
          </a:xfrm>
          <a:prstGeom prst="line">
            <a:avLst/>
          </a:prstGeom>
          <a:ln w="25400">
            <a:solidFill>
              <a:srgbClr val="5B6773"/>
            </a:solidFill>
            <a:tailEnd type="triangle" w="sm" len="sm"/>
          </a:ln>
        </p:spPr>
        <p:style>
          <a:lnRef idx="2">
            <a:schemeClr val="accent1"/>
          </a:lnRef>
          <a:fillRef idx="0">
            <a:schemeClr val="accent1"/>
          </a:fillRef>
          <a:effectRef idx="0">
            <a:schemeClr val="accent1"/>
          </a:effectRef>
          <a:fontRef idx="minor">
            <a:schemeClr val="tx1"/>
          </a:fontRef>
        </p:style>
      </p:cxnSp>
      <p:sp>
        <p:nvSpPr>
          <p:cNvPr id="31" name="TextBox 30"/>
          <p:cNvSpPr txBox="1"/>
          <p:nvPr/>
        </p:nvSpPr>
        <p:spPr>
          <a:xfrm>
            <a:off x="4572000" y="1362456"/>
            <a:ext cx="3108960" cy="274320"/>
          </a:xfrm>
          <a:prstGeom prst="rect">
            <a:avLst/>
          </a:prstGeom>
          <a:noFill/>
        </p:spPr>
        <p:txBody>
          <a:bodyPr wrap="none" lIns="36576" rIns="36576" tIns="36576" bIns="36576" anchor="t">
            <a:spAutoFit/>
          </a:bodyPr>
          <a:lstStyle/>
          <a:p>
            <a:pPr algn="ctr"/>
            <a:r>
              <a:rPr sz="1400" b="0">
                <a:solidFill>
                  <a:srgbClr val="5B6773"/>
                </a:solidFill>
                <a:latin typeface="Arial"/>
              </a:rPr>
              <a:t>Nhánh cục bộ và residual connection</a:t>
            </a:r>
          </a:p>
        </p:txBody>
      </p:sp>
      <p:sp>
        <p:nvSpPr>
          <p:cNvPr id="32" name="Rounded Rectangle 31"/>
          <p:cNvSpPr/>
          <p:nvPr/>
        </p:nvSpPr>
        <p:spPr>
          <a:xfrm>
            <a:off x="4892040" y="4343400"/>
            <a:ext cx="1828800" cy="1024128"/>
          </a:xfrm>
          <a:prstGeom prst="roundRect">
            <a:avLst>
              <a:gd name="adj" fmla="val 12000"/>
            </a:avLst>
          </a:prstGeom>
          <a:solidFill>
            <a:srgbClr val="EEF5FB"/>
          </a:solidFill>
          <a:ln w="12700">
            <a:solidFill>
              <a:srgbClr val="1976D2"/>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TextBox 32"/>
          <p:cNvSpPr txBox="1"/>
          <p:nvPr/>
        </p:nvSpPr>
        <p:spPr>
          <a:xfrm>
            <a:off x="4983479" y="4453128"/>
            <a:ext cx="1645920" cy="429768"/>
          </a:xfrm>
          <a:prstGeom prst="rect">
            <a:avLst/>
          </a:prstGeom>
          <a:noFill/>
        </p:spPr>
        <p:txBody>
          <a:bodyPr wrap="none" lIns="36576" rIns="36576" tIns="36576" bIns="36576" anchor="t">
            <a:spAutoFit/>
          </a:bodyPr>
          <a:lstStyle/>
          <a:p>
            <a:pPr algn="ctr"/>
            <a:r>
              <a:rPr sz="1400" b="1">
                <a:solidFill>
                  <a:srgbClr val="20384F"/>
                </a:solidFill>
                <a:latin typeface="Arial"/>
              </a:rPr>
              <a:t>MLP và residual connection</a:t>
            </a:r>
          </a:p>
        </p:txBody>
      </p:sp>
      <p:sp>
        <p:nvSpPr>
          <p:cNvPr id="34" name="TextBox 33"/>
          <p:cNvSpPr txBox="1"/>
          <p:nvPr/>
        </p:nvSpPr>
        <p:spPr>
          <a:xfrm>
            <a:off x="4983479" y="4910328"/>
            <a:ext cx="1645920" cy="402336"/>
          </a:xfrm>
          <a:prstGeom prst="rect">
            <a:avLst/>
          </a:prstGeom>
          <a:noFill/>
        </p:spPr>
        <p:txBody>
          <a:bodyPr wrap="none" lIns="36576" rIns="36576" tIns="36576" bIns="36576" anchor="t">
            <a:spAutoFit/>
          </a:bodyPr>
          <a:lstStyle/>
          <a:p>
            <a:pPr algn="ctr"/>
            <a:r>
              <a:rPr sz="1200" b="0">
                <a:solidFill>
                  <a:srgbClr val="5B6773"/>
                </a:solidFill>
                <a:latin typeface="Arial"/>
              </a:rPr>
              <a:t>Biến đổi đặc trưng</a:t>
            </a:r>
          </a:p>
        </p:txBody>
      </p:sp>
      <p:cxnSp>
        <p:nvCxnSpPr>
          <p:cNvPr id="35" name="Connector 34"/>
          <p:cNvCxnSpPr/>
          <p:nvPr/>
        </p:nvCxnSpPr>
        <p:spPr>
          <a:xfrm>
            <a:off x="10104120" y="3291840"/>
            <a:ext cx="0" cy="685799"/>
          </a:xfrm>
          <a:prstGeom prst="line">
            <a:avLst/>
          </a:prstGeom>
          <a:ln w="25400">
            <a:solidFill>
              <a:srgbClr val="1976D2"/>
            </a:solidFill>
            <a:tailEnd type="triangle" w="sm" len="sm"/>
          </a:ln>
        </p:spPr>
        <p:style>
          <a:lnRef idx="2">
            <a:schemeClr val="accent1"/>
          </a:lnRef>
          <a:fillRef idx="0">
            <a:schemeClr val="accent1"/>
          </a:fillRef>
          <a:effectRef idx="0">
            <a:schemeClr val="accent1"/>
          </a:effectRef>
          <a:fontRef idx="minor">
            <a:schemeClr val="tx1"/>
          </a:fontRef>
        </p:style>
      </p:cxnSp>
      <p:cxnSp>
        <p:nvCxnSpPr>
          <p:cNvPr id="36" name="Connector 35"/>
          <p:cNvCxnSpPr/>
          <p:nvPr/>
        </p:nvCxnSpPr>
        <p:spPr>
          <a:xfrm flipH="1">
            <a:off x="5806440" y="3977639"/>
            <a:ext cx="4297680" cy="0"/>
          </a:xfrm>
          <a:prstGeom prst="line">
            <a:avLst/>
          </a:prstGeom>
          <a:ln w="25400">
            <a:solidFill>
              <a:srgbClr val="1976D2"/>
            </a:solidFill>
            <a:tailEnd type="triangle" w="sm" len="sm"/>
          </a:ln>
        </p:spPr>
        <p:style>
          <a:lnRef idx="2">
            <a:schemeClr val="accent1"/>
          </a:lnRef>
          <a:fillRef idx="0">
            <a:schemeClr val="accent1"/>
          </a:fillRef>
          <a:effectRef idx="0">
            <a:schemeClr val="accent1"/>
          </a:effectRef>
          <a:fontRef idx="minor">
            <a:schemeClr val="tx1"/>
          </a:fontRef>
        </p:style>
      </p:cxnSp>
      <p:cxnSp>
        <p:nvCxnSpPr>
          <p:cNvPr id="37" name="Connector 36"/>
          <p:cNvCxnSpPr/>
          <p:nvPr/>
        </p:nvCxnSpPr>
        <p:spPr>
          <a:xfrm>
            <a:off x="5806440" y="3977639"/>
            <a:ext cx="0" cy="320041"/>
          </a:xfrm>
          <a:prstGeom prst="line">
            <a:avLst/>
          </a:prstGeom>
          <a:ln w="25400">
            <a:solidFill>
              <a:srgbClr val="1976D2"/>
            </a:solidFill>
            <a:tailEnd type="triangle" w="sm" len="sm"/>
          </a:ln>
        </p:spPr>
        <p:style>
          <a:lnRef idx="2">
            <a:schemeClr val="accent1"/>
          </a:lnRef>
          <a:fillRef idx="0">
            <a:schemeClr val="accent1"/>
          </a:fillRef>
          <a:effectRef idx="0">
            <a:schemeClr val="accent1"/>
          </a:effectRef>
          <a:fontRef idx="minor">
            <a:schemeClr val="tx1"/>
          </a:fontRef>
        </p:style>
      </p:cxnSp>
      <p:sp>
        <p:nvSpPr>
          <p:cNvPr id="38" name="TextBox 37"/>
          <p:cNvSpPr txBox="1"/>
          <p:nvPr/>
        </p:nvSpPr>
        <p:spPr>
          <a:xfrm>
            <a:off x="777240" y="5779008"/>
            <a:ext cx="10698480" cy="365760"/>
          </a:xfrm>
          <a:prstGeom prst="rect">
            <a:avLst/>
          </a:prstGeom>
          <a:noFill/>
        </p:spPr>
        <p:txBody>
          <a:bodyPr wrap="none" lIns="36576" rIns="36576" tIns="36576" bIns="36576" anchor="t">
            <a:spAutoFit/>
          </a:bodyPr>
          <a:lstStyle/>
          <a:p>
            <a:pPr algn="ctr"/>
            <a:r>
              <a:rPr sz="1200" b="0">
                <a:solidFill>
                  <a:srgbClr val="5B6773"/>
                </a:solidFill>
                <a:latin typeface="Arial"/>
              </a:rPr>
              <a:t>Sơ đồ chức năng; cấu hình chuẩn hóa và residual connection theo torch-harmonics 0.7.4.</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hcmute.png"/>
          <p:cNvPicPr>
            <a:picLocks noChangeAspect="1"/>
          </p:cNvPicPr>
          <p:nvPr/>
        </p:nvPicPr>
        <p:blipFill>
          <a:blip r:embed="rId2"/>
          <a:stretch>
            <a:fillRect/>
          </a:stretch>
        </p:blipFill>
        <p:spPr>
          <a:xfrm>
            <a:off x="320040" y="182880"/>
            <a:ext cx="524439" cy="438912"/>
          </a:xfrm>
          <a:prstGeom prst="rect">
            <a:avLst/>
          </a:prstGeom>
        </p:spPr>
      </p:pic>
      <p:sp>
        <p:nvSpPr>
          <p:cNvPr id="3" name="Rectangle 2"/>
          <p:cNvSpPr/>
          <p:nvPr/>
        </p:nvSpPr>
        <p:spPr>
          <a:xfrm>
            <a:off x="292608" y="713232"/>
            <a:ext cx="11594592" cy="41148"/>
          </a:xfrm>
          <a:prstGeom prst="rect">
            <a:avLst/>
          </a:prstGeom>
          <a:solidFill>
            <a:srgbClr val="1976D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 name="TextBox 3"/>
          <p:cNvSpPr txBox="1"/>
          <p:nvPr/>
        </p:nvSpPr>
        <p:spPr>
          <a:xfrm>
            <a:off x="941832" y="182880"/>
            <a:ext cx="9646920" cy="365760"/>
          </a:xfrm>
          <a:prstGeom prst="rect">
            <a:avLst/>
          </a:prstGeom>
          <a:noFill/>
        </p:spPr>
        <p:txBody>
          <a:bodyPr wrap="none" lIns="36576" rIns="36576" tIns="36576" bIns="36576" anchor="t">
            <a:spAutoFit/>
          </a:bodyPr>
          <a:lstStyle/>
          <a:p>
            <a:pPr algn="l"/>
            <a:r>
              <a:rPr sz="2300" b="1">
                <a:solidFill>
                  <a:srgbClr val="20384F"/>
                </a:solidFill>
                <a:latin typeface="Arial"/>
              </a:rPr>
              <a:t>Loss function</a:t>
            </a:r>
          </a:p>
        </p:txBody>
      </p:sp>
      <p:sp>
        <p:nvSpPr>
          <p:cNvPr id="5" name="TextBox 4"/>
          <p:cNvSpPr txBox="1"/>
          <p:nvPr/>
        </p:nvSpPr>
        <p:spPr>
          <a:xfrm>
            <a:off x="11228832" y="256032"/>
            <a:ext cx="384048" cy="182880"/>
          </a:xfrm>
          <a:prstGeom prst="rect">
            <a:avLst/>
          </a:prstGeom>
          <a:noFill/>
        </p:spPr>
        <p:txBody>
          <a:bodyPr wrap="none" lIns="36576" rIns="36576" tIns="36576" bIns="36576" anchor="t">
            <a:spAutoFit/>
          </a:bodyPr>
          <a:lstStyle/>
          <a:p>
            <a:pPr algn="r"/>
            <a:r>
              <a:rPr sz="1000" b="1">
                <a:solidFill>
                  <a:srgbClr val="1976D2"/>
                </a:solidFill>
                <a:latin typeface="Arial"/>
              </a:rPr>
              <a:t>10</a:t>
            </a:r>
          </a:p>
        </p:txBody>
      </p:sp>
      <p:sp>
        <p:nvSpPr>
          <p:cNvPr id="6" name="TextBox 5"/>
          <p:cNvSpPr txBox="1"/>
          <p:nvPr/>
        </p:nvSpPr>
        <p:spPr>
          <a:xfrm>
            <a:off x="365760" y="6583680"/>
            <a:ext cx="4754880" cy="146304"/>
          </a:xfrm>
          <a:prstGeom prst="rect">
            <a:avLst/>
          </a:prstGeom>
          <a:noFill/>
        </p:spPr>
        <p:txBody>
          <a:bodyPr wrap="none" lIns="36576" rIns="36576" tIns="36576" bIns="36576" anchor="t">
            <a:spAutoFit/>
          </a:bodyPr>
          <a:lstStyle/>
          <a:p>
            <a:pPr algn="l"/>
            <a:r>
              <a:rPr sz="620" b="0">
                <a:solidFill>
                  <a:srgbClr val="8794A1"/>
                </a:solidFill>
                <a:latin typeface="Arial"/>
              </a:rPr>
              <a:t>Lương Nguyễn Thành Hưng · NeuralAtmosphereOperator</a:t>
            </a:r>
          </a:p>
        </p:txBody>
      </p:sp>
      <p:sp>
        <p:nvSpPr>
          <p:cNvPr id="7" name="TextBox 6"/>
          <p:cNvSpPr txBox="1"/>
          <p:nvPr/>
        </p:nvSpPr>
        <p:spPr>
          <a:xfrm>
            <a:off x="10332720" y="6583680"/>
            <a:ext cx="1325880" cy="146304"/>
          </a:xfrm>
          <a:prstGeom prst="rect">
            <a:avLst/>
          </a:prstGeom>
          <a:noFill/>
        </p:spPr>
        <p:txBody>
          <a:bodyPr wrap="none" lIns="36576" rIns="36576" tIns="36576" bIns="36576" anchor="t">
            <a:spAutoFit/>
          </a:bodyPr>
          <a:lstStyle/>
          <a:p>
            <a:pPr algn="r"/>
            <a:r>
              <a:rPr sz="620" b="0">
                <a:solidFill>
                  <a:srgbClr val="8794A1"/>
                </a:solidFill>
                <a:latin typeface="Arial"/>
              </a:rPr>
              <a:t>Stage 1 → Stage 2</a:t>
            </a:r>
          </a:p>
        </p:txBody>
      </p:sp>
      <p:pic>
        <p:nvPicPr>
          <p:cNvPr id="8" name="Picture 7" descr="eq_loss.png"/>
          <p:cNvPicPr>
            <a:picLocks noChangeAspect="1"/>
          </p:cNvPicPr>
          <p:nvPr/>
        </p:nvPicPr>
        <p:blipFill>
          <a:blip r:embed="rId3"/>
          <a:stretch>
            <a:fillRect/>
          </a:stretch>
        </p:blipFill>
        <p:spPr>
          <a:xfrm>
            <a:off x="4037076" y="1292961"/>
            <a:ext cx="4087368" cy="870508"/>
          </a:xfrm>
          <a:prstGeom prst="rect">
            <a:avLst/>
          </a:prstGeom>
        </p:spPr>
      </p:pic>
      <p:sp>
        <p:nvSpPr>
          <p:cNvPr id="9" name="Rounded Rectangle 8"/>
          <p:cNvSpPr/>
          <p:nvPr/>
        </p:nvSpPr>
        <p:spPr>
          <a:xfrm>
            <a:off x="594360" y="2971800"/>
            <a:ext cx="3429000" cy="1417320"/>
          </a:xfrm>
          <a:prstGeom prst="roundRect">
            <a:avLst>
              <a:gd name="adj" fmla="val 12000"/>
            </a:avLst>
          </a:prstGeom>
          <a:solidFill>
            <a:srgbClr val="F7FAFD"/>
          </a:solidFill>
          <a:ln w="12700">
            <a:solidFill>
              <a:srgbClr val="D3DE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Rectangle 9"/>
          <p:cNvSpPr/>
          <p:nvPr/>
        </p:nvSpPr>
        <p:spPr>
          <a:xfrm>
            <a:off x="594360" y="2971800"/>
            <a:ext cx="3429000" cy="64008"/>
          </a:xfrm>
          <a:prstGeom prst="rect">
            <a:avLst/>
          </a:prstGeom>
          <a:solidFill>
            <a:srgbClr val="1976D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777240" y="3127248"/>
            <a:ext cx="3063240" cy="429768"/>
          </a:xfrm>
          <a:prstGeom prst="rect">
            <a:avLst/>
          </a:prstGeom>
          <a:noFill/>
        </p:spPr>
        <p:txBody>
          <a:bodyPr wrap="none" lIns="36576" rIns="36576" tIns="36576" bIns="36576" anchor="t">
            <a:spAutoFit/>
          </a:bodyPr>
          <a:lstStyle/>
          <a:p>
            <a:pPr algn="l"/>
            <a:r>
              <a:rPr sz="1600" b="1">
                <a:solidFill>
                  <a:srgbClr val="1976D2"/>
                </a:solidFill>
                <a:latin typeface="Arial"/>
              </a:rPr>
              <a:t>Trọng số diện tích</a:t>
            </a:r>
          </a:p>
        </p:txBody>
      </p:sp>
      <p:sp>
        <p:nvSpPr>
          <p:cNvPr id="12" name="TextBox 11"/>
          <p:cNvSpPr txBox="1"/>
          <p:nvPr/>
        </p:nvSpPr>
        <p:spPr>
          <a:xfrm>
            <a:off x="777240" y="3749039"/>
            <a:ext cx="3063240" cy="530352"/>
          </a:xfrm>
          <a:prstGeom prst="rect">
            <a:avLst/>
          </a:prstGeom>
          <a:noFill/>
        </p:spPr>
        <p:txBody>
          <a:bodyPr wrap="none" lIns="36576" rIns="36576" tIns="36576" bIns="36576" anchor="t">
            <a:spAutoFit/>
          </a:bodyPr>
          <a:lstStyle/>
          <a:p>
            <a:pPr algn="l"/>
            <a:r>
              <a:rPr sz="1500" b="0">
                <a:solidFill>
                  <a:srgbClr val="20384F"/>
                </a:solidFill>
                <a:latin typeface="Arial"/>
              </a:rPr>
              <a:t>Bù mật độ lat–lon tại hai cực</a:t>
            </a:r>
          </a:p>
        </p:txBody>
      </p:sp>
      <p:sp>
        <p:nvSpPr>
          <p:cNvPr id="13" name="Rounded Rectangle 12"/>
          <p:cNvSpPr/>
          <p:nvPr/>
        </p:nvSpPr>
        <p:spPr>
          <a:xfrm>
            <a:off x="4370832" y="2971800"/>
            <a:ext cx="3429000" cy="1417320"/>
          </a:xfrm>
          <a:prstGeom prst="roundRect">
            <a:avLst>
              <a:gd name="adj" fmla="val 12000"/>
            </a:avLst>
          </a:prstGeom>
          <a:solidFill>
            <a:srgbClr val="F7FAFD"/>
          </a:solidFill>
          <a:ln w="12700">
            <a:solidFill>
              <a:srgbClr val="D3DE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Rectangle 13"/>
          <p:cNvSpPr/>
          <p:nvPr/>
        </p:nvSpPr>
        <p:spPr>
          <a:xfrm>
            <a:off x="4370832" y="2971800"/>
            <a:ext cx="3429000" cy="64008"/>
          </a:xfrm>
          <a:prstGeom prst="rect">
            <a:avLst/>
          </a:prstGeom>
          <a:solidFill>
            <a:srgbClr val="2E8B5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4553712" y="3127248"/>
            <a:ext cx="3063240" cy="429768"/>
          </a:xfrm>
          <a:prstGeom prst="rect">
            <a:avLst/>
          </a:prstGeom>
          <a:noFill/>
        </p:spPr>
        <p:txBody>
          <a:bodyPr wrap="none" lIns="36576" rIns="36576" tIns="36576" bIns="36576" anchor="t">
            <a:spAutoFit/>
          </a:bodyPr>
          <a:lstStyle/>
          <a:p>
            <a:pPr algn="l"/>
            <a:r>
              <a:rPr sz="1600" b="1">
                <a:solidFill>
                  <a:srgbClr val="2E8B57"/>
                </a:solidFill>
                <a:latin typeface="Arial"/>
              </a:rPr>
              <a:t>Trọng số theo biến</a:t>
            </a:r>
          </a:p>
        </p:txBody>
      </p:sp>
      <p:sp>
        <p:nvSpPr>
          <p:cNvPr id="16" name="TextBox 15"/>
          <p:cNvSpPr txBox="1"/>
          <p:nvPr/>
        </p:nvSpPr>
        <p:spPr>
          <a:xfrm>
            <a:off x="4553712" y="3749039"/>
            <a:ext cx="3063240" cy="530352"/>
          </a:xfrm>
          <a:prstGeom prst="rect">
            <a:avLst/>
          </a:prstGeom>
          <a:noFill/>
        </p:spPr>
        <p:txBody>
          <a:bodyPr wrap="none" lIns="36576" rIns="36576" tIns="36576" bIns="36576" anchor="t">
            <a:spAutoFit/>
          </a:bodyPr>
          <a:lstStyle/>
          <a:p>
            <a:pPr algn="l"/>
            <a:r>
              <a:rPr sz="1500" b="0">
                <a:solidFill>
                  <a:srgbClr val="20384F"/>
                </a:solidFill>
                <a:latin typeface="Arial"/>
              </a:rPr>
              <a:t>Cân bằng biến và mức áp suất</a:t>
            </a:r>
          </a:p>
        </p:txBody>
      </p:sp>
      <p:sp>
        <p:nvSpPr>
          <p:cNvPr id="17" name="Rounded Rectangle 16"/>
          <p:cNvSpPr/>
          <p:nvPr/>
        </p:nvSpPr>
        <p:spPr>
          <a:xfrm>
            <a:off x="8138160" y="2971800"/>
            <a:ext cx="3429000" cy="1417320"/>
          </a:xfrm>
          <a:prstGeom prst="roundRect">
            <a:avLst>
              <a:gd name="adj" fmla="val 12000"/>
            </a:avLst>
          </a:prstGeom>
          <a:solidFill>
            <a:srgbClr val="F7FAFD"/>
          </a:solidFill>
          <a:ln w="12700">
            <a:solidFill>
              <a:srgbClr val="D3DE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Rectangle 17"/>
          <p:cNvSpPr/>
          <p:nvPr/>
        </p:nvSpPr>
        <p:spPr>
          <a:xfrm>
            <a:off x="8138160" y="2971800"/>
            <a:ext cx="3429000" cy="64008"/>
          </a:xfrm>
          <a:prstGeom prst="rect">
            <a:avLst/>
          </a:prstGeom>
          <a:solidFill>
            <a:srgbClr val="E28A2B"/>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8321040" y="3127248"/>
            <a:ext cx="3063240" cy="429768"/>
          </a:xfrm>
          <a:prstGeom prst="rect">
            <a:avLst/>
          </a:prstGeom>
          <a:noFill/>
        </p:spPr>
        <p:txBody>
          <a:bodyPr wrap="none" lIns="36576" rIns="36576" tIns="36576" bIns="36576" anchor="t">
            <a:spAutoFit/>
          </a:bodyPr>
          <a:lstStyle/>
          <a:p>
            <a:pPr algn="l"/>
            <a:r>
              <a:rPr sz="1600" b="1">
                <a:solidFill>
                  <a:srgbClr val="E28A2B"/>
                </a:solidFill>
                <a:latin typeface="Arial"/>
              </a:rPr>
              <a:t>Chuẩn hóa tendency</a:t>
            </a:r>
          </a:p>
        </p:txBody>
      </p:sp>
      <p:sp>
        <p:nvSpPr>
          <p:cNvPr id="20" name="TextBox 19"/>
          <p:cNvSpPr txBox="1"/>
          <p:nvPr/>
        </p:nvSpPr>
        <p:spPr>
          <a:xfrm>
            <a:off x="8321040" y="3749039"/>
            <a:ext cx="3063240" cy="530352"/>
          </a:xfrm>
          <a:prstGeom prst="rect">
            <a:avLst/>
          </a:prstGeom>
          <a:noFill/>
        </p:spPr>
        <p:txBody>
          <a:bodyPr wrap="none" lIns="36576" rIns="36576" tIns="36576" bIns="36576" anchor="t">
            <a:spAutoFit/>
          </a:bodyPr>
          <a:lstStyle/>
          <a:p>
            <a:pPr algn="l"/>
            <a:r>
              <a:rPr sz="1500" b="0">
                <a:solidFill>
                  <a:srgbClr val="20384F"/>
                </a:solidFill>
                <a:latin typeface="Arial"/>
              </a:rPr>
              <a:t>Sai số state chuẩn hóa chia cho tendency scale s</a:t>
            </a:r>
          </a:p>
        </p:txBody>
      </p:sp>
      <p:sp>
        <p:nvSpPr>
          <p:cNvPr id="21" name="Rounded Rectangle 20"/>
          <p:cNvSpPr/>
          <p:nvPr/>
        </p:nvSpPr>
        <p:spPr>
          <a:xfrm>
            <a:off x="594360" y="4800600"/>
            <a:ext cx="10972800" cy="822960"/>
          </a:xfrm>
          <a:prstGeom prst="roundRect">
            <a:avLst>
              <a:gd name="adj" fmla="val 12000"/>
            </a:avLst>
          </a:prstGeom>
          <a:solidFill>
            <a:srgbClr val="FFF0F0"/>
          </a:solidFill>
          <a:ln w="12700">
            <a:solidFill>
              <a:srgbClr val="EDBDBD"/>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914400" y="5065776"/>
            <a:ext cx="10241280" cy="228600"/>
          </a:xfrm>
          <a:prstGeom prst="rect">
            <a:avLst/>
          </a:prstGeom>
          <a:noFill/>
        </p:spPr>
        <p:txBody>
          <a:bodyPr wrap="none" lIns="36576" rIns="36576" tIns="36576" bIns="36576" anchor="t">
            <a:spAutoFit/>
          </a:bodyPr>
          <a:lstStyle/>
          <a:p>
            <a:pPr algn="ctr"/>
            <a:r>
              <a:rPr sz="1400" b="1">
                <a:solidFill>
                  <a:srgbClr val="D94C4C"/>
                </a:solidFill>
                <a:latin typeface="Arial"/>
              </a:rPr>
              <a:t>MSE tính sai số trung bình. Các vùng cực trị nhỏ có thể đóng góp ít vào loss function.</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hcmute.png"/>
          <p:cNvPicPr>
            <a:picLocks noChangeAspect="1"/>
          </p:cNvPicPr>
          <p:nvPr/>
        </p:nvPicPr>
        <p:blipFill>
          <a:blip r:embed="rId2"/>
          <a:stretch>
            <a:fillRect/>
          </a:stretch>
        </p:blipFill>
        <p:spPr>
          <a:xfrm>
            <a:off x="320040" y="182880"/>
            <a:ext cx="524439" cy="438912"/>
          </a:xfrm>
          <a:prstGeom prst="rect">
            <a:avLst/>
          </a:prstGeom>
        </p:spPr>
      </p:pic>
      <p:sp>
        <p:nvSpPr>
          <p:cNvPr id="3" name="Rectangle 2"/>
          <p:cNvSpPr/>
          <p:nvPr/>
        </p:nvSpPr>
        <p:spPr>
          <a:xfrm>
            <a:off x="292608" y="713232"/>
            <a:ext cx="11594592" cy="41148"/>
          </a:xfrm>
          <a:prstGeom prst="rect">
            <a:avLst/>
          </a:prstGeom>
          <a:solidFill>
            <a:srgbClr val="1976D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 name="TextBox 3"/>
          <p:cNvSpPr txBox="1"/>
          <p:nvPr/>
        </p:nvSpPr>
        <p:spPr>
          <a:xfrm>
            <a:off x="941832" y="182880"/>
            <a:ext cx="9646920" cy="365760"/>
          </a:xfrm>
          <a:prstGeom prst="rect">
            <a:avLst/>
          </a:prstGeom>
          <a:noFill/>
        </p:spPr>
        <p:txBody>
          <a:bodyPr wrap="none" lIns="36576" rIns="36576" tIns="36576" bIns="36576" anchor="t">
            <a:spAutoFit/>
          </a:bodyPr>
          <a:lstStyle/>
          <a:p>
            <a:pPr algn="l"/>
            <a:r>
              <a:rPr sz="2300" b="1">
                <a:solidFill>
                  <a:srgbClr val="20384F"/>
                </a:solidFill>
                <a:latin typeface="Arial"/>
              </a:rPr>
              <a:t>Kiến trúc Stage 1</a:t>
            </a:r>
          </a:p>
        </p:txBody>
      </p:sp>
      <p:sp>
        <p:nvSpPr>
          <p:cNvPr id="5" name="TextBox 4"/>
          <p:cNvSpPr txBox="1"/>
          <p:nvPr/>
        </p:nvSpPr>
        <p:spPr>
          <a:xfrm>
            <a:off x="11228832" y="256032"/>
            <a:ext cx="384048" cy="182880"/>
          </a:xfrm>
          <a:prstGeom prst="rect">
            <a:avLst/>
          </a:prstGeom>
          <a:noFill/>
        </p:spPr>
        <p:txBody>
          <a:bodyPr wrap="none" lIns="36576" rIns="36576" tIns="36576" bIns="36576" anchor="t">
            <a:spAutoFit/>
          </a:bodyPr>
          <a:lstStyle/>
          <a:p>
            <a:pPr algn="r"/>
            <a:r>
              <a:rPr sz="1000" b="1">
                <a:solidFill>
                  <a:srgbClr val="1976D2"/>
                </a:solidFill>
                <a:latin typeface="Arial"/>
              </a:rPr>
              <a:t>11</a:t>
            </a:r>
          </a:p>
        </p:txBody>
      </p:sp>
      <p:sp>
        <p:nvSpPr>
          <p:cNvPr id="6" name="TextBox 5"/>
          <p:cNvSpPr txBox="1"/>
          <p:nvPr/>
        </p:nvSpPr>
        <p:spPr>
          <a:xfrm>
            <a:off x="365760" y="6583680"/>
            <a:ext cx="4754880" cy="146304"/>
          </a:xfrm>
          <a:prstGeom prst="rect">
            <a:avLst/>
          </a:prstGeom>
          <a:noFill/>
        </p:spPr>
        <p:txBody>
          <a:bodyPr wrap="none" lIns="36576" rIns="36576" tIns="36576" bIns="36576" anchor="t">
            <a:spAutoFit/>
          </a:bodyPr>
          <a:lstStyle/>
          <a:p>
            <a:pPr algn="l"/>
            <a:r>
              <a:rPr sz="620" b="0">
                <a:solidFill>
                  <a:srgbClr val="8794A1"/>
                </a:solidFill>
                <a:latin typeface="Arial"/>
              </a:rPr>
              <a:t>Lương Nguyễn Thành Hưng · NeuralAtmosphereOperator</a:t>
            </a:r>
          </a:p>
        </p:txBody>
      </p:sp>
      <p:sp>
        <p:nvSpPr>
          <p:cNvPr id="7" name="TextBox 6"/>
          <p:cNvSpPr txBox="1"/>
          <p:nvPr/>
        </p:nvSpPr>
        <p:spPr>
          <a:xfrm>
            <a:off x="10332720" y="6583680"/>
            <a:ext cx="1325880" cy="146304"/>
          </a:xfrm>
          <a:prstGeom prst="rect">
            <a:avLst/>
          </a:prstGeom>
          <a:noFill/>
        </p:spPr>
        <p:txBody>
          <a:bodyPr wrap="none" lIns="36576" rIns="36576" tIns="36576" bIns="36576" anchor="t">
            <a:spAutoFit/>
          </a:bodyPr>
          <a:lstStyle/>
          <a:p>
            <a:pPr algn="r"/>
            <a:r>
              <a:rPr sz="620" b="0">
                <a:solidFill>
                  <a:srgbClr val="8794A1"/>
                </a:solidFill>
                <a:latin typeface="Arial"/>
              </a:rPr>
              <a:t>Stage 1 → Stage 2</a:t>
            </a:r>
          </a:p>
        </p:txBody>
      </p:sp>
      <p:sp>
        <p:nvSpPr>
          <p:cNvPr id="8" name="Rounded Rectangle 7"/>
          <p:cNvSpPr/>
          <p:nvPr/>
        </p:nvSpPr>
        <p:spPr>
          <a:xfrm>
            <a:off x="320040" y="1508760"/>
            <a:ext cx="1554480" cy="1024128"/>
          </a:xfrm>
          <a:prstGeom prst="roundRect">
            <a:avLst>
              <a:gd name="adj" fmla="val 12000"/>
            </a:avLst>
          </a:prstGeom>
          <a:solidFill>
            <a:srgbClr val="EEF5FB"/>
          </a:solidFill>
          <a:ln w="12700">
            <a:solidFill>
              <a:srgbClr val="1976D2"/>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411479" y="1618488"/>
            <a:ext cx="1371600" cy="429768"/>
          </a:xfrm>
          <a:prstGeom prst="rect">
            <a:avLst/>
          </a:prstGeom>
          <a:noFill/>
        </p:spPr>
        <p:txBody>
          <a:bodyPr wrap="none" lIns="36576" rIns="36576" tIns="36576" bIns="36576" anchor="t">
            <a:spAutoFit/>
          </a:bodyPr>
          <a:lstStyle/>
          <a:p>
            <a:pPr algn="ctr"/>
            <a:r>
              <a:rPr sz="1400" b="1">
                <a:solidFill>
                  <a:srgbClr val="20384F"/>
                </a:solidFill>
                <a:latin typeface="Arial"/>
              </a:rPr>
              <a:t>x(t)</a:t>
            </a:r>
          </a:p>
        </p:txBody>
      </p:sp>
      <p:sp>
        <p:nvSpPr>
          <p:cNvPr id="10" name="TextBox 9"/>
          <p:cNvSpPr txBox="1"/>
          <p:nvPr/>
        </p:nvSpPr>
        <p:spPr>
          <a:xfrm>
            <a:off x="411479" y="2075688"/>
            <a:ext cx="1371600" cy="402336"/>
          </a:xfrm>
          <a:prstGeom prst="rect">
            <a:avLst/>
          </a:prstGeom>
          <a:noFill/>
        </p:spPr>
        <p:txBody>
          <a:bodyPr wrap="none" lIns="36576" rIns="36576" tIns="36576" bIns="36576" anchor="t">
            <a:spAutoFit/>
          </a:bodyPr>
          <a:lstStyle/>
          <a:p>
            <a:pPr algn="ctr"/>
            <a:r>
              <a:rPr sz="1200" b="0">
                <a:solidFill>
                  <a:srgbClr val="5B6773"/>
                </a:solidFill>
                <a:latin typeface="Arial"/>
              </a:rPr>
              <a:t>71 × 361 × 720</a:t>
            </a:r>
          </a:p>
        </p:txBody>
      </p:sp>
      <p:cxnSp>
        <p:nvCxnSpPr>
          <p:cNvPr id="11" name="Connector 10"/>
          <p:cNvCxnSpPr/>
          <p:nvPr/>
        </p:nvCxnSpPr>
        <p:spPr>
          <a:xfrm>
            <a:off x="1901952" y="2020824"/>
            <a:ext cx="301752" cy="0"/>
          </a:xfrm>
          <a:prstGeom prst="line">
            <a:avLst/>
          </a:prstGeom>
          <a:ln w="25400">
            <a:solidFill>
              <a:srgbClr val="1976D2"/>
            </a:solidFill>
            <a:tailEnd type="triangle" w="sm" len="sm"/>
          </a:ln>
        </p:spPr>
        <p:style>
          <a:lnRef idx="2">
            <a:schemeClr val="accent1"/>
          </a:lnRef>
          <a:fillRef idx="0">
            <a:schemeClr val="accent1"/>
          </a:fillRef>
          <a:effectRef idx="0">
            <a:schemeClr val="accent1"/>
          </a:effectRef>
          <a:fontRef idx="minor">
            <a:schemeClr val="tx1"/>
          </a:fontRef>
        </p:style>
      </p:cxnSp>
      <p:sp>
        <p:nvSpPr>
          <p:cNvPr id="12" name="Rounded Rectangle 11"/>
          <p:cNvSpPr/>
          <p:nvPr/>
        </p:nvSpPr>
        <p:spPr>
          <a:xfrm>
            <a:off x="2267712" y="1508760"/>
            <a:ext cx="1554480" cy="1024128"/>
          </a:xfrm>
          <a:prstGeom prst="roundRect">
            <a:avLst>
              <a:gd name="adj" fmla="val 12000"/>
            </a:avLst>
          </a:prstGeom>
          <a:solidFill>
            <a:srgbClr val="EEF5FB"/>
          </a:solidFill>
          <a:ln w="12700">
            <a:solidFill>
              <a:srgbClr val="1976D2"/>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2359152" y="1618488"/>
            <a:ext cx="1371600" cy="429768"/>
          </a:xfrm>
          <a:prstGeom prst="rect">
            <a:avLst/>
          </a:prstGeom>
          <a:noFill/>
        </p:spPr>
        <p:txBody>
          <a:bodyPr wrap="none" lIns="36576" rIns="36576" tIns="36576" bIns="36576" anchor="t">
            <a:spAutoFit/>
          </a:bodyPr>
          <a:lstStyle/>
          <a:p>
            <a:pPr algn="ctr"/>
            <a:r>
              <a:rPr sz="1400" b="1">
                <a:solidFill>
                  <a:srgbClr val="20384F"/>
                </a:solidFill>
                <a:latin typeface="Arial"/>
              </a:rPr>
              <a:t>Encoder</a:t>
            </a:r>
          </a:p>
        </p:txBody>
      </p:sp>
      <p:sp>
        <p:nvSpPr>
          <p:cNvPr id="14" name="TextBox 13"/>
          <p:cNvSpPr txBox="1"/>
          <p:nvPr/>
        </p:nvSpPr>
        <p:spPr>
          <a:xfrm>
            <a:off x="2359152" y="2075688"/>
            <a:ext cx="1371600" cy="402336"/>
          </a:xfrm>
          <a:prstGeom prst="rect">
            <a:avLst/>
          </a:prstGeom>
          <a:noFill/>
        </p:spPr>
        <p:txBody>
          <a:bodyPr wrap="none" lIns="36576" rIns="36576" tIns="36576" bIns="36576" anchor="t">
            <a:spAutoFit/>
          </a:bodyPr>
          <a:lstStyle/>
          <a:p>
            <a:pPr algn="ctr"/>
            <a:r>
              <a:rPr sz="1200" b="0">
                <a:solidFill>
                  <a:srgbClr val="5B6773"/>
                </a:solidFill>
                <a:latin typeface="Arial"/>
              </a:rPr>
              <a:t>71 → 192</a:t>
            </a:r>
          </a:p>
        </p:txBody>
      </p:sp>
      <p:cxnSp>
        <p:nvCxnSpPr>
          <p:cNvPr id="15" name="Connector 14"/>
          <p:cNvCxnSpPr/>
          <p:nvPr/>
        </p:nvCxnSpPr>
        <p:spPr>
          <a:xfrm>
            <a:off x="3849624" y="2020824"/>
            <a:ext cx="301752" cy="0"/>
          </a:xfrm>
          <a:prstGeom prst="line">
            <a:avLst/>
          </a:prstGeom>
          <a:ln w="25400">
            <a:solidFill>
              <a:srgbClr val="1976D2"/>
            </a:solidFill>
            <a:tailEnd type="triangle" w="sm" len="sm"/>
          </a:ln>
        </p:spPr>
        <p:style>
          <a:lnRef idx="2">
            <a:schemeClr val="accent1"/>
          </a:lnRef>
          <a:fillRef idx="0">
            <a:schemeClr val="accent1"/>
          </a:fillRef>
          <a:effectRef idx="0">
            <a:schemeClr val="accent1"/>
          </a:effectRef>
          <a:fontRef idx="minor">
            <a:schemeClr val="tx1"/>
          </a:fontRef>
        </p:style>
      </p:cxnSp>
      <p:sp>
        <p:nvSpPr>
          <p:cNvPr id="16" name="Rounded Rectangle 15"/>
          <p:cNvSpPr/>
          <p:nvPr/>
        </p:nvSpPr>
        <p:spPr>
          <a:xfrm>
            <a:off x="4215383" y="1508760"/>
            <a:ext cx="1554480" cy="1024128"/>
          </a:xfrm>
          <a:prstGeom prst="roundRect">
            <a:avLst>
              <a:gd name="adj" fmla="val 12000"/>
            </a:avLst>
          </a:prstGeom>
          <a:solidFill>
            <a:srgbClr val="EEF5FB"/>
          </a:solidFill>
          <a:ln w="12700">
            <a:solidFill>
              <a:srgbClr val="1976D2"/>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4306823" y="1618488"/>
            <a:ext cx="1371600" cy="429768"/>
          </a:xfrm>
          <a:prstGeom prst="rect">
            <a:avLst/>
          </a:prstGeom>
          <a:noFill/>
        </p:spPr>
        <p:txBody>
          <a:bodyPr wrap="none" lIns="36576" rIns="36576" tIns="36576" bIns="36576" anchor="t">
            <a:spAutoFit/>
          </a:bodyPr>
          <a:lstStyle/>
          <a:p>
            <a:pPr algn="ctr"/>
            <a:r>
              <a:rPr sz="1400" b="1">
                <a:solidFill>
                  <a:srgbClr val="20384F"/>
                </a:solidFill>
                <a:latin typeface="Arial"/>
              </a:rPr>
              <a:t>SFNO × 6</a:t>
            </a:r>
          </a:p>
        </p:txBody>
      </p:sp>
      <p:sp>
        <p:nvSpPr>
          <p:cNvPr id="18" name="TextBox 17"/>
          <p:cNvSpPr txBox="1"/>
          <p:nvPr/>
        </p:nvSpPr>
        <p:spPr>
          <a:xfrm>
            <a:off x="4306823" y="2075688"/>
            <a:ext cx="1371600" cy="402336"/>
          </a:xfrm>
          <a:prstGeom prst="rect">
            <a:avLst/>
          </a:prstGeom>
          <a:noFill/>
        </p:spPr>
        <p:txBody>
          <a:bodyPr wrap="none" lIns="36576" rIns="36576" tIns="36576" bIns="36576" anchor="t">
            <a:spAutoFit/>
          </a:bodyPr>
          <a:lstStyle/>
          <a:p>
            <a:pPr algn="ctr"/>
            <a:r>
              <a:rPr sz="1200" b="0">
                <a:solidFill>
                  <a:srgbClr val="5B6773"/>
                </a:solidFill>
                <a:latin typeface="Arial"/>
              </a:rPr>
              <a:t>Giảm lưới 2 lần</a:t>
            </a:r>
          </a:p>
        </p:txBody>
      </p:sp>
      <p:cxnSp>
        <p:nvCxnSpPr>
          <p:cNvPr id="19" name="Connector 18"/>
          <p:cNvCxnSpPr/>
          <p:nvPr/>
        </p:nvCxnSpPr>
        <p:spPr>
          <a:xfrm>
            <a:off x="5797296" y="2020824"/>
            <a:ext cx="301752" cy="0"/>
          </a:xfrm>
          <a:prstGeom prst="line">
            <a:avLst/>
          </a:prstGeom>
          <a:ln w="25400">
            <a:solidFill>
              <a:srgbClr val="1976D2"/>
            </a:solidFill>
            <a:tailEnd type="triangle" w="sm" len="sm"/>
          </a:ln>
        </p:spPr>
        <p:style>
          <a:lnRef idx="2">
            <a:schemeClr val="accent1"/>
          </a:lnRef>
          <a:fillRef idx="0">
            <a:schemeClr val="accent1"/>
          </a:fillRef>
          <a:effectRef idx="0">
            <a:schemeClr val="accent1"/>
          </a:effectRef>
          <a:fontRef idx="minor">
            <a:schemeClr val="tx1"/>
          </a:fontRef>
        </p:style>
      </p:cxnSp>
      <p:sp>
        <p:nvSpPr>
          <p:cNvPr id="20" name="Rounded Rectangle 19"/>
          <p:cNvSpPr/>
          <p:nvPr/>
        </p:nvSpPr>
        <p:spPr>
          <a:xfrm>
            <a:off x="6163055" y="1508760"/>
            <a:ext cx="1554480" cy="1024128"/>
          </a:xfrm>
          <a:prstGeom prst="roundRect">
            <a:avLst>
              <a:gd name="adj" fmla="val 12000"/>
            </a:avLst>
          </a:prstGeom>
          <a:solidFill>
            <a:srgbClr val="EEF5FB"/>
          </a:solidFill>
          <a:ln w="12700">
            <a:solidFill>
              <a:srgbClr val="1976D2"/>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6254495" y="1618488"/>
            <a:ext cx="1371600" cy="429768"/>
          </a:xfrm>
          <a:prstGeom prst="rect">
            <a:avLst/>
          </a:prstGeom>
          <a:noFill/>
        </p:spPr>
        <p:txBody>
          <a:bodyPr wrap="none" lIns="36576" rIns="36576" tIns="36576" bIns="36576" anchor="t">
            <a:spAutoFit/>
          </a:bodyPr>
          <a:lstStyle/>
          <a:p>
            <a:pPr algn="ctr"/>
            <a:r>
              <a:rPr sz="1400" b="1">
                <a:solidFill>
                  <a:srgbClr val="20384F"/>
                </a:solidFill>
                <a:latin typeface="Arial"/>
              </a:rPr>
              <a:t>Decoder</a:t>
            </a:r>
          </a:p>
        </p:txBody>
      </p:sp>
      <p:sp>
        <p:nvSpPr>
          <p:cNvPr id="22" name="TextBox 21"/>
          <p:cNvSpPr txBox="1"/>
          <p:nvPr/>
        </p:nvSpPr>
        <p:spPr>
          <a:xfrm>
            <a:off x="6254495" y="2075688"/>
            <a:ext cx="1371600" cy="402336"/>
          </a:xfrm>
          <a:prstGeom prst="rect">
            <a:avLst/>
          </a:prstGeom>
          <a:noFill/>
        </p:spPr>
        <p:txBody>
          <a:bodyPr wrap="none" lIns="36576" rIns="36576" tIns="36576" bIns="36576" anchor="t">
            <a:spAutoFit/>
          </a:bodyPr>
          <a:lstStyle/>
          <a:p>
            <a:pPr algn="ctr"/>
            <a:r>
              <a:rPr sz="1200" b="0">
                <a:solidFill>
                  <a:srgbClr val="5B6773"/>
                </a:solidFill>
                <a:latin typeface="Arial"/>
              </a:rPr>
              <a:t>192 → 71</a:t>
            </a:r>
          </a:p>
        </p:txBody>
      </p:sp>
      <p:cxnSp>
        <p:nvCxnSpPr>
          <p:cNvPr id="23" name="Connector 22"/>
          <p:cNvCxnSpPr/>
          <p:nvPr/>
        </p:nvCxnSpPr>
        <p:spPr>
          <a:xfrm>
            <a:off x="7744967" y="2020824"/>
            <a:ext cx="301752" cy="0"/>
          </a:xfrm>
          <a:prstGeom prst="line">
            <a:avLst/>
          </a:prstGeom>
          <a:ln w="25400">
            <a:solidFill>
              <a:srgbClr val="1976D2"/>
            </a:solidFill>
            <a:tailEnd type="triangle" w="sm" len="sm"/>
          </a:ln>
        </p:spPr>
        <p:style>
          <a:lnRef idx="2">
            <a:schemeClr val="accent1"/>
          </a:lnRef>
          <a:fillRef idx="0">
            <a:schemeClr val="accent1"/>
          </a:fillRef>
          <a:effectRef idx="0">
            <a:schemeClr val="accent1"/>
          </a:effectRef>
          <a:fontRef idx="minor">
            <a:schemeClr val="tx1"/>
          </a:fontRef>
        </p:style>
      </p:cxnSp>
      <p:sp>
        <p:nvSpPr>
          <p:cNvPr id="24" name="Rounded Rectangle 23"/>
          <p:cNvSpPr/>
          <p:nvPr/>
        </p:nvSpPr>
        <p:spPr>
          <a:xfrm>
            <a:off x="8110727" y="1508760"/>
            <a:ext cx="1554480" cy="1024128"/>
          </a:xfrm>
          <a:prstGeom prst="roundRect">
            <a:avLst>
              <a:gd name="adj" fmla="val 12000"/>
            </a:avLst>
          </a:prstGeom>
          <a:solidFill>
            <a:srgbClr val="EAF6EF"/>
          </a:solidFill>
          <a:ln w="12700">
            <a:solidFill>
              <a:srgbClr val="2E8B57"/>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TextBox 24"/>
          <p:cNvSpPr txBox="1"/>
          <p:nvPr/>
        </p:nvSpPr>
        <p:spPr>
          <a:xfrm>
            <a:off x="8202167" y="1618488"/>
            <a:ext cx="1371600" cy="429768"/>
          </a:xfrm>
          <a:prstGeom prst="rect">
            <a:avLst/>
          </a:prstGeom>
          <a:noFill/>
        </p:spPr>
        <p:txBody>
          <a:bodyPr wrap="none" lIns="36576" rIns="36576" tIns="36576" bIns="36576" anchor="t">
            <a:spAutoFit/>
          </a:bodyPr>
          <a:lstStyle/>
          <a:p>
            <a:pPr algn="ctr"/>
            <a:r>
              <a:rPr sz="1400" b="1">
                <a:solidFill>
                  <a:srgbClr val="20384F"/>
                </a:solidFill>
                <a:latin typeface="Arial"/>
              </a:rPr>
              <a:t>Residual update</a:t>
            </a:r>
          </a:p>
        </p:txBody>
      </p:sp>
      <p:sp>
        <p:nvSpPr>
          <p:cNvPr id="26" name="TextBox 25"/>
          <p:cNvSpPr txBox="1"/>
          <p:nvPr/>
        </p:nvSpPr>
        <p:spPr>
          <a:xfrm>
            <a:off x="8202167" y="2075688"/>
            <a:ext cx="1371600" cy="402336"/>
          </a:xfrm>
          <a:prstGeom prst="rect">
            <a:avLst/>
          </a:prstGeom>
          <a:noFill/>
        </p:spPr>
        <p:txBody>
          <a:bodyPr wrap="none" lIns="36576" rIns="36576" tIns="36576" bIns="36576" anchor="t">
            <a:spAutoFit/>
          </a:bodyPr>
          <a:lstStyle/>
          <a:p>
            <a:pPr algn="ctr"/>
            <a:r>
              <a:rPr sz="1200" b="0">
                <a:solidFill>
                  <a:srgbClr val="5B6773"/>
                </a:solidFill>
                <a:latin typeface="Arial"/>
              </a:rPr>
              <a:t>x + s·ẑ</a:t>
            </a:r>
          </a:p>
        </p:txBody>
      </p:sp>
      <p:cxnSp>
        <p:nvCxnSpPr>
          <p:cNvPr id="27" name="Connector 26"/>
          <p:cNvCxnSpPr/>
          <p:nvPr/>
        </p:nvCxnSpPr>
        <p:spPr>
          <a:xfrm>
            <a:off x="9692640" y="2020824"/>
            <a:ext cx="301752" cy="0"/>
          </a:xfrm>
          <a:prstGeom prst="line">
            <a:avLst/>
          </a:prstGeom>
          <a:ln w="25400">
            <a:solidFill>
              <a:srgbClr val="1976D2"/>
            </a:solidFill>
            <a:tailEnd type="triangle" w="sm" len="sm"/>
          </a:ln>
        </p:spPr>
        <p:style>
          <a:lnRef idx="2">
            <a:schemeClr val="accent1"/>
          </a:lnRef>
          <a:fillRef idx="0">
            <a:schemeClr val="accent1"/>
          </a:fillRef>
          <a:effectRef idx="0">
            <a:schemeClr val="accent1"/>
          </a:effectRef>
          <a:fontRef idx="minor">
            <a:schemeClr val="tx1"/>
          </a:fontRef>
        </p:style>
      </p:cxnSp>
      <p:sp>
        <p:nvSpPr>
          <p:cNvPr id="28" name="Rounded Rectangle 27"/>
          <p:cNvSpPr/>
          <p:nvPr/>
        </p:nvSpPr>
        <p:spPr>
          <a:xfrm>
            <a:off x="10058399" y="1508760"/>
            <a:ext cx="1554480" cy="1024128"/>
          </a:xfrm>
          <a:prstGeom prst="roundRect">
            <a:avLst>
              <a:gd name="adj" fmla="val 12000"/>
            </a:avLst>
          </a:prstGeom>
          <a:solidFill>
            <a:srgbClr val="EAF6EF"/>
          </a:solidFill>
          <a:ln w="12700">
            <a:solidFill>
              <a:srgbClr val="2E8B57"/>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10149839" y="1618488"/>
            <a:ext cx="1371600" cy="429768"/>
          </a:xfrm>
          <a:prstGeom prst="rect">
            <a:avLst/>
          </a:prstGeom>
          <a:noFill/>
        </p:spPr>
        <p:txBody>
          <a:bodyPr wrap="none" lIns="36576" rIns="36576" tIns="36576" bIns="36576" anchor="t">
            <a:spAutoFit/>
          </a:bodyPr>
          <a:lstStyle/>
          <a:p>
            <a:pPr algn="ctr"/>
            <a:r>
              <a:rPr sz="1400" b="1">
                <a:solidFill>
                  <a:srgbClr val="20384F"/>
                </a:solidFill>
                <a:latin typeface="Arial"/>
              </a:rPr>
              <a:t>x(t+6h)</a:t>
            </a:r>
          </a:p>
        </p:txBody>
      </p:sp>
      <p:sp>
        <p:nvSpPr>
          <p:cNvPr id="30" name="TextBox 29"/>
          <p:cNvSpPr txBox="1"/>
          <p:nvPr/>
        </p:nvSpPr>
        <p:spPr>
          <a:xfrm>
            <a:off x="10149839" y="2075688"/>
            <a:ext cx="1371600" cy="402336"/>
          </a:xfrm>
          <a:prstGeom prst="rect">
            <a:avLst/>
          </a:prstGeom>
          <a:noFill/>
        </p:spPr>
        <p:txBody>
          <a:bodyPr wrap="none" lIns="36576" rIns="36576" tIns="36576" bIns="36576" anchor="t">
            <a:spAutoFit/>
          </a:bodyPr>
          <a:lstStyle/>
          <a:p>
            <a:pPr algn="ctr"/>
            <a:r>
              <a:rPr sz="1200" b="0">
                <a:solidFill>
                  <a:srgbClr val="5B6773"/>
                </a:solidFill>
                <a:latin typeface="Arial"/>
              </a:rPr>
              <a:t>71 kênh</a:t>
            </a:r>
          </a:p>
        </p:txBody>
      </p:sp>
      <p:sp>
        <p:nvSpPr>
          <p:cNvPr id="31" name="Rounded Rectangle 30"/>
          <p:cNvSpPr/>
          <p:nvPr/>
        </p:nvSpPr>
        <p:spPr>
          <a:xfrm>
            <a:off x="594360" y="3200400"/>
            <a:ext cx="10972800" cy="2331720"/>
          </a:xfrm>
          <a:prstGeom prst="roundRect">
            <a:avLst>
              <a:gd name="adj" fmla="val 12000"/>
            </a:avLst>
          </a:prstGeom>
          <a:solidFill>
            <a:srgbClr val="F7FAFD"/>
          </a:solidFill>
          <a:ln w="12700">
            <a:solidFill>
              <a:srgbClr val="D2DE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914400" y="3547872"/>
            <a:ext cx="10058400" cy="1508760"/>
          </a:xfrm>
          <a:prstGeom prst="rect">
            <a:avLst/>
          </a:prstGeom>
          <a:noFill/>
        </p:spPr>
        <p:txBody>
          <a:bodyPr wrap="none" lIns="73152" rIns="36576" tIns="27432">
            <a:spAutoFit/>
          </a:bodyPr>
          <a:lstStyle/>
          <a:p>
            <a:pPr>
              <a:spcAft>
                <a:spcPts val="900"/>
              </a:spcAft>
              <a:defRPr sz="1450">
                <a:solidFill>
                  <a:srgbClr val="20384F"/>
                </a:solidFill>
                <a:latin typeface="Arial"/>
              </a:defRPr>
            </a:pPr>
            <a:r>
              <a:rPr>
                <a:latin typeface="Arial"/>
              </a:rPr>
              <a:t>•  SFNO chỉ nhận trạng thái hiện tại</a:t>
            </a:r>
          </a:p>
          <a:p>
            <a:pPr>
              <a:spcAft>
                <a:spcPts val="900"/>
              </a:spcAft>
              <a:defRPr sz="1450">
                <a:solidFill>
                  <a:srgbClr val="20384F"/>
                </a:solidFill>
                <a:latin typeface="Arial"/>
              </a:defRPr>
            </a:pPr>
            <a:r>
              <a:rPr>
                <a:latin typeface="Arial"/>
              </a:rPr>
              <a:t>•  Biến đổi phổ sử dụng lưới nội bộ có độ phân giải thấp hơn</a:t>
            </a:r>
          </a:p>
          <a:p>
            <a:pPr>
              <a:spcAft>
                <a:spcPts val="900"/>
              </a:spcAft>
              <a:defRPr sz="1450">
                <a:solidFill>
                  <a:srgbClr val="20384F"/>
                </a:solidFill>
                <a:latin typeface="Arial"/>
              </a:defRPr>
            </a:pPr>
            <a:r>
              <a:rPr>
                <a:latin typeface="Arial"/>
              </a:rPr>
              <a:t>•  Giữ toàn bộ mode trong miền phổ nội bộ; hệ số giảm lưới vẫn giới hạn mode cao</a:t>
            </a:r>
          </a:p>
          <a:p>
            <a:pPr>
              <a:spcAft>
                <a:spcPts val="900"/>
              </a:spcAft>
              <a:defRPr sz="1450">
                <a:solidFill>
                  <a:srgbClr val="20384F"/>
                </a:solidFill>
                <a:latin typeface="Arial"/>
              </a:defRPr>
            </a:pPr>
            <a:r>
              <a:rPr>
                <a:latin typeface="Arial"/>
              </a:rPr>
              <a:t>•  Chuyển standardized tendency về thang trạng thái trước khi cộng vào đầu vào</a:t>
            </a:r>
          </a:p>
        </p:txBody>
      </p:sp>
      <p:sp>
        <p:nvSpPr>
          <p:cNvPr id="33" name="TextBox 32"/>
          <p:cNvSpPr txBox="1"/>
          <p:nvPr/>
        </p:nvSpPr>
        <p:spPr>
          <a:xfrm>
            <a:off x="822960" y="5925312"/>
            <a:ext cx="10515600" cy="274320"/>
          </a:xfrm>
          <a:prstGeom prst="rect">
            <a:avLst/>
          </a:prstGeom>
          <a:noFill/>
        </p:spPr>
        <p:txBody>
          <a:bodyPr wrap="none" lIns="36576" rIns="36576" tIns="36576" bIns="36576" anchor="t">
            <a:spAutoFit/>
          </a:bodyPr>
          <a:lstStyle/>
          <a:p>
            <a:pPr algn="ctr"/>
            <a:r>
              <a:rPr sz="1400" b="1">
                <a:solidFill>
                  <a:srgbClr val="1976D2"/>
                </a:solidFill>
                <a:latin typeface="Arial"/>
              </a:rPr>
              <a:t>scale_factor=2 · lưới phổ nội bộ 181 × 360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hcmute.png"/>
          <p:cNvPicPr>
            <a:picLocks noChangeAspect="1"/>
          </p:cNvPicPr>
          <p:nvPr/>
        </p:nvPicPr>
        <p:blipFill>
          <a:blip r:embed="rId2"/>
          <a:stretch>
            <a:fillRect/>
          </a:stretch>
        </p:blipFill>
        <p:spPr>
          <a:xfrm>
            <a:off x="320040" y="182880"/>
            <a:ext cx="524439" cy="438912"/>
          </a:xfrm>
          <a:prstGeom prst="rect">
            <a:avLst/>
          </a:prstGeom>
        </p:spPr>
      </p:pic>
      <p:sp>
        <p:nvSpPr>
          <p:cNvPr id="3" name="Rectangle 2"/>
          <p:cNvSpPr/>
          <p:nvPr/>
        </p:nvSpPr>
        <p:spPr>
          <a:xfrm>
            <a:off x="292608" y="713232"/>
            <a:ext cx="11594592" cy="41148"/>
          </a:xfrm>
          <a:prstGeom prst="rect">
            <a:avLst/>
          </a:prstGeom>
          <a:solidFill>
            <a:srgbClr val="1976D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 name="TextBox 3"/>
          <p:cNvSpPr txBox="1"/>
          <p:nvPr/>
        </p:nvSpPr>
        <p:spPr>
          <a:xfrm>
            <a:off x="941832" y="182880"/>
            <a:ext cx="9646920" cy="365760"/>
          </a:xfrm>
          <a:prstGeom prst="rect">
            <a:avLst/>
          </a:prstGeom>
          <a:noFill/>
        </p:spPr>
        <p:txBody>
          <a:bodyPr wrap="none" lIns="36576" rIns="36576" tIns="36576" bIns="36576" anchor="t">
            <a:spAutoFit/>
          </a:bodyPr>
          <a:lstStyle/>
          <a:p>
            <a:pPr algn="l"/>
            <a:r>
              <a:rPr sz="2300" b="1">
                <a:solidFill>
                  <a:srgbClr val="20384F"/>
                </a:solidFill>
                <a:latin typeface="Arial"/>
              </a:rPr>
              <a:t>Cấu hình huấn luyện Stage 1</a:t>
            </a:r>
          </a:p>
        </p:txBody>
      </p:sp>
      <p:sp>
        <p:nvSpPr>
          <p:cNvPr id="5" name="TextBox 4"/>
          <p:cNvSpPr txBox="1"/>
          <p:nvPr/>
        </p:nvSpPr>
        <p:spPr>
          <a:xfrm>
            <a:off x="11228832" y="256032"/>
            <a:ext cx="384048" cy="182880"/>
          </a:xfrm>
          <a:prstGeom prst="rect">
            <a:avLst/>
          </a:prstGeom>
          <a:noFill/>
        </p:spPr>
        <p:txBody>
          <a:bodyPr wrap="none" lIns="36576" rIns="36576" tIns="36576" bIns="36576" anchor="t">
            <a:spAutoFit/>
          </a:bodyPr>
          <a:lstStyle/>
          <a:p>
            <a:pPr algn="r"/>
            <a:r>
              <a:rPr sz="1000" b="1">
                <a:solidFill>
                  <a:srgbClr val="1976D2"/>
                </a:solidFill>
                <a:latin typeface="Arial"/>
              </a:rPr>
              <a:t>12</a:t>
            </a:r>
          </a:p>
        </p:txBody>
      </p:sp>
      <p:sp>
        <p:nvSpPr>
          <p:cNvPr id="6" name="TextBox 5"/>
          <p:cNvSpPr txBox="1"/>
          <p:nvPr/>
        </p:nvSpPr>
        <p:spPr>
          <a:xfrm>
            <a:off x="365760" y="6583680"/>
            <a:ext cx="4754880" cy="146304"/>
          </a:xfrm>
          <a:prstGeom prst="rect">
            <a:avLst/>
          </a:prstGeom>
          <a:noFill/>
        </p:spPr>
        <p:txBody>
          <a:bodyPr wrap="none" lIns="36576" rIns="36576" tIns="36576" bIns="36576" anchor="t">
            <a:spAutoFit/>
          </a:bodyPr>
          <a:lstStyle/>
          <a:p>
            <a:pPr algn="l"/>
            <a:r>
              <a:rPr sz="620" b="0">
                <a:solidFill>
                  <a:srgbClr val="8794A1"/>
                </a:solidFill>
                <a:latin typeface="Arial"/>
              </a:rPr>
              <a:t>Lương Nguyễn Thành Hưng · NeuralAtmosphereOperator</a:t>
            </a:r>
          </a:p>
        </p:txBody>
      </p:sp>
      <p:sp>
        <p:nvSpPr>
          <p:cNvPr id="7" name="TextBox 6"/>
          <p:cNvSpPr txBox="1"/>
          <p:nvPr/>
        </p:nvSpPr>
        <p:spPr>
          <a:xfrm>
            <a:off x="10332720" y="6583680"/>
            <a:ext cx="1325880" cy="146304"/>
          </a:xfrm>
          <a:prstGeom prst="rect">
            <a:avLst/>
          </a:prstGeom>
          <a:noFill/>
        </p:spPr>
        <p:txBody>
          <a:bodyPr wrap="none" lIns="36576" rIns="36576" tIns="36576" bIns="36576" anchor="t">
            <a:spAutoFit/>
          </a:bodyPr>
          <a:lstStyle/>
          <a:p>
            <a:pPr algn="r"/>
            <a:r>
              <a:rPr sz="620" b="0">
                <a:solidFill>
                  <a:srgbClr val="8794A1"/>
                </a:solidFill>
                <a:latin typeface="Arial"/>
              </a:rPr>
              <a:t>Stage 1 → Stage 2</a:t>
            </a:r>
          </a:p>
        </p:txBody>
      </p:sp>
      <p:sp>
        <p:nvSpPr>
          <p:cNvPr id="8" name="Rounded Rectangle 7"/>
          <p:cNvSpPr/>
          <p:nvPr/>
        </p:nvSpPr>
        <p:spPr>
          <a:xfrm>
            <a:off x="530352" y="1097280"/>
            <a:ext cx="2542032" cy="1417320"/>
          </a:xfrm>
          <a:prstGeom prst="roundRect">
            <a:avLst>
              <a:gd name="adj" fmla="val 12000"/>
            </a:avLst>
          </a:prstGeom>
          <a:solidFill>
            <a:srgbClr val="F7FAFD"/>
          </a:solidFill>
          <a:ln w="12700">
            <a:solidFill>
              <a:srgbClr val="D5E0EA"/>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Rectangle 8"/>
          <p:cNvSpPr/>
          <p:nvPr/>
        </p:nvSpPr>
        <p:spPr>
          <a:xfrm>
            <a:off x="530352" y="1097280"/>
            <a:ext cx="64008" cy="1417320"/>
          </a:xfrm>
          <a:prstGeom prst="rect">
            <a:avLst/>
          </a:prstGeom>
          <a:solidFill>
            <a:srgbClr val="1976D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694944" y="1188720"/>
            <a:ext cx="2249424" cy="393192"/>
          </a:xfrm>
          <a:prstGeom prst="rect">
            <a:avLst/>
          </a:prstGeom>
          <a:noFill/>
        </p:spPr>
        <p:txBody>
          <a:bodyPr wrap="none" lIns="36576" rIns="36576" tIns="36576" bIns="36576" anchor="t">
            <a:spAutoFit/>
          </a:bodyPr>
          <a:lstStyle/>
          <a:p>
            <a:pPr algn="l"/>
            <a:r>
              <a:rPr sz="1200" b="1">
                <a:solidFill>
                  <a:srgbClr val="5B6773"/>
                </a:solidFill>
                <a:latin typeface="Arial"/>
              </a:rPr>
              <a:t>Số chiều đặc trưng</a:t>
            </a:r>
          </a:p>
        </p:txBody>
      </p:sp>
      <p:sp>
        <p:nvSpPr>
          <p:cNvPr id="11" name="TextBox 10"/>
          <p:cNvSpPr txBox="1"/>
          <p:nvPr/>
        </p:nvSpPr>
        <p:spPr>
          <a:xfrm>
            <a:off x="694944" y="1691640"/>
            <a:ext cx="2249424" cy="457200"/>
          </a:xfrm>
          <a:prstGeom prst="rect">
            <a:avLst/>
          </a:prstGeom>
          <a:noFill/>
        </p:spPr>
        <p:txBody>
          <a:bodyPr wrap="none" lIns="36576" rIns="36576" tIns="36576" bIns="36576" anchor="t">
            <a:spAutoFit/>
          </a:bodyPr>
          <a:lstStyle/>
          <a:p>
            <a:pPr algn="l"/>
            <a:r>
              <a:rPr sz="2400" b="1">
                <a:solidFill>
                  <a:srgbClr val="1976D2"/>
                </a:solidFill>
                <a:latin typeface="Arial"/>
              </a:rPr>
              <a:t>192</a:t>
            </a:r>
          </a:p>
        </p:txBody>
      </p:sp>
      <p:sp>
        <p:nvSpPr>
          <p:cNvPr id="12" name="Rounded Rectangle 11"/>
          <p:cNvSpPr/>
          <p:nvPr/>
        </p:nvSpPr>
        <p:spPr>
          <a:xfrm>
            <a:off x="3383280" y="1097280"/>
            <a:ext cx="2542032" cy="1417320"/>
          </a:xfrm>
          <a:prstGeom prst="roundRect">
            <a:avLst>
              <a:gd name="adj" fmla="val 12000"/>
            </a:avLst>
          </a:prstGeom>
          <a:solidFill>
            <a:srgbClr val="F7FAFD"/>
          </a:solidFill>
          <a:ln w="12700">
            <a:solidFill>
              <a:srgbClr val="D5E0EA"/>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Rectangle 12"/>
          <p:cNvSpPr/>
          <p:nvPr/>
        </p:nvSpPr>
        <p:spPr>
          <a:xfrm>
            <a:off x="3383280" y="1097280"/>
            <a:ext cx="64008" cy="1417320"/>
          </a:xfrm>
          <a:prstGeom prst="rect">
            <a:avLst/>
          </a:prstGeom>
          <a:solidFill>
            <a:srgbClr val="1976D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3547872" y="1188720"/>
            <a:ext cx="2249424" cy="393192"/>
          </a:xfrm>
          <a:prstGeom prst="rect">
            <a:avLst/>
          </a:prstGeom>
          <a:noFill/>
        </p:spPr>
        <p:txBody>
          <a:bodyPr wrap="none" lIns="36576" rIns="36576" tIns="36576" bIns="36576" anchor="t">
            <a:spAutoFit/>
          </a:bodyPr>
          <a:lstStyle/>
          <a:p>
            <a:pPr algn="l"/>
            <a:r>
              <a:rPr sz="1200" b="1">
                <a:solidFill>
                  <a:srgbClr val="5B6773"/>
                </a:solidFill>
                <a:latin typeface="Arial"/>
              </a:rPr>
              <a:t>Số khối SFNO</a:t>
            </a:r>
          </a:p>
        </p:txBody>
      </p:sp>
      <p:sp>
        <p:nvSpPr>
          <p:cNvPr id="15" name="TextBox 14"/>
          <p:cNvSpPr txBox="1"/>
          <p:nvPr/>
        </p:nvSpPr>
        <p:spPr>
          <a:xfrm>
            <a:off x="3547872" y="1691640"/>
            <a:ext cx="2249424" cy="457200"/>
          </a:xfrm>
          <a:prstGeom prst="rect">
            <a:avLst/>
          </a:prstGeom>
          <a:noFill/>
        </p:spPr>
        <p:txBody>
          <a:bodyPr wrap="none" lIns="36576" rIns="36576" tIns="36576" bIns="36576" anchor="t">
            <a:spAutoFit/>
          </a:bodyPr>
          <a:lstStyle/>
          <a:p>
            <a:pPr algn="l"/>
            <a:r>
              <a:rPr sz="2400" b="1">
                <a:solidFill>
                  <a:srgbClr val="1976D2"/>
                </a:solidFill>
                <a:latin typeface="Arial"/>
              </a:rPr>
              <a:t>6</a:t>
            </a:r>
          </a:p>
        </p:txBody>
      </p:sp>
      <p:sp>
        <p:nvSpPr>
          <p:cNvPr id="16" name="Rounded Rectangle 15"/>
          <p:cNvSpPr/>
          <p:nvPr/>
        </p:nvSpPr>
        <p:spPr>
          <a:xfrm>
            <a:off x="6236208" y="1097280"/>
            <a:ext cx="2542032" cy="1417320"/>
          </a:xfrm>
          <a:prstGeom prst="roundRect">
            <a:avLst>
              <a:gd name="adj" fmla="val 12000"/>
            </a:avLst>
          </a:prstGeom>
          <a:solidFill>
            <a:srgbClr val="F7FAFD"/>
          </a:solidFill>
          <a:ln w="12700">
            <a:solidFill>
              <a:srgbClr val="D5E0EA"/>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Rectangle 16"/>
          <p:cNvSpPr/>
          <p:nvPr/>
        </p:nvSpPr>
        <p:spPr>
          <a:xfrm>
            <a:off x="6236208" y="1097280"/>
            <a:ext cx="64008" cy="1417320"/>
          </a:xfrm>
          <a:prstGeom prst="rect">
            <a:avLst/>
          </a:prstGeom>
          <a:solidFill>
            <a:srgbClr val="1976D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6400800" y="1188720"/>
            <a:ext cx="2249424" cy="393192"/>
          </a:xfrm>
          <a:prstGeom prst="rect">
            <a:avLst/>
          </a:prstGeom>
          <a:noFill/>
        </p:spPr>
        <p:txBody>
          <a:bodyPr wrap="none" lIns="36576" rIns="36576" tIns="36576" bIns="36576" anchor="t">
            <a:spAutoFit/>
          </a:bodyPr>
          <a:lstStyle/>
          <a:p>
            <a:pPr algn="l"/>
            <a:r>
              <a:rPr sz="1200" b="1">
                <a:solidFill>
                  <a:srgbClr val="5B6773"/>
                </a:solidFill>
                <a:latin typeface="Arial"/>
              </a:rPr>
              <a:t>Kích thước batch</a:t>
            </a:r>
          </a:p>
        </p:txBody>
      </p:sp>
      <p:sp>
        <p:nvSpPr>
          <p:cNvPr id="19" name="TextBox 18"/>
          <p:cNvSpPr txBox="1"/>
          <p:nvPr/>
        </p:nvSpPr>
        <p:spPr>
          <a:xfrm>
            <a:off x="6400800" y="1691640"/>
            <a:ext cx="2249424" cy="457200"/>
          </a:xfrm>
          <a:prstGeom prst="rect">
            <a:avLst/>
          </a:prstGeom>
          <a:noFill/>
        </p:spPr>
        <p:txBody>
          <a:bodyPr wrap="none" lIns="36576" rIns="36576" tIns="36576" bIns="36576" anchor="t">
            <a:spAutoFit/>
          </a:bodyPr>
          <a:lstStyle/>
          <a:p>
            <a:pPr algn="l"/>
            <a:r>
              <a:rPr sz="2400" b="1">
                <a:solidFill>
                  <a:srgbClr val="1976D2"/>
                </a:solidFill>
                <a:latin typeface="Arial"/>
              </a:rPr>
              <a:t>7</a:t>
            </a:r>
          </a:p>
        </p:txBody>
      </p:sp>
      <p:sp>
        <p:nvSpPr>
          <p:cNvPr id="20" name="Rounded Rectangle 19"/>
          <p:cNvSpPr/>
          <p:nvPr/>
        </p:nvSpPr>
        <p:spPr>
          <a:xfrm>
            <a:off x="9089136" y="1097280"/>
            <a:ext cx="2542032" cy="1417320"/>
          </a:xfrm>
          <a:prstGeom prst="roundRect">
            <a:avLst>
              <a:gd name="adj" fmla="val 12000"/>
            </a:avLst>
          </a:prstGeom>
          <a:solidFill>
            <a:srgbClr val="F7FAFD"/>
          </a:solidFill>
          <a:ln w="12700">
            <a:solidFill>
              <a:srgbClr val="D5E0EA"/>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Rectangle 20"/>
          <p:cNvSpPr/>
          <p:nvPr/>
        </p:nvSpPr>
        <p:spPr>
          <a:xfrm>
            <a:off x="9089136" y="1097280"/>
            <a:ext cx="64008" cy="1417320"/>
          </a:xfrm>
          <a:prstGeom prst="rect">
            <a:avLst/>
          </a:prstGeom>
          <a:solidFill>
            <a:srgbClr val="1976D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9253728" y="1188720"/>
            <a:ext cx="2249424" cy="393192"/>
          </a:xfrm>
          <a:prstGeom prst="rect">
            <a:avLst/>
          </a:prstGeom>
          <a:noFill/>
        </p:spPr>
        <p:txBody>
          <a:bodyPr wrap="none" lIns="36576" rIns="36576" tIns="36576" bIns="36576" anchor="t">
            <a:spAutoFit/>
          </a:bodyPr>
          <a:lstStyle/>
          <a:p>
            <a:pPr algn="l"/>
            <a:r>
              <a:rPr sz="1200" b="1">
                <a:solidFill>
                  <a:srgbClr val="5B6773"/>
                </a:solidFill>
                <a:latin typeface="Arial"/>
              </a:rPr>
              <a:t>Learning rate</a:t>
            </a:r>
          </a:p>
        </p:txBody>
      </p:sp>
      <p:sp>
        <p:nvSpPr>
          <p:cNvPr id="23" name="TextBox 22"/>
          <p:cNvSpPr txBox="1"/>
          <p:nvPr/>
        </p:nvSpPr>
        <p:spPr>
          <a:xfrm>
            <a:off x="9253728" y="1691640"/>
            <a:ext cx="2249424" cy="457200"/>
          </a:xfrm>
          <a:prstGeom prst="rect">
            <a:avLst/>
          </a:prstGeom>
          <a:noFill/>
        </p:spPr>
        <p:txBody>
          <a:bodyPr wrap="none" lIns="36576" rIns="36576" tIns="36576" bIns="36576" anchor="t">
            <a:spAutoFit/>
          </a:bodyPr>
          <a:lstStyle/>
          <a:p>
            <a:pPr algn="l"/>
            <a:r>
              <a:rPr sz="2400" b="1">
                <a:solidFill>
                  <a:srgbClr val="1976D2"/>
                </a:solidFill>
                <a:latin typeface="Arial"/>
              </a:rPr>
              <a:t>5 × 10⁻⁴</a:t>
            </a:r>
          </a:p>
        </p:txBody>
      </p:sp>
      <p:sp>
        <p:nvSpPr>
          <p:cNvPr id="24" name="Rounded Rectangle 23"/>
          <p:cNvSpPr/>
          <p:nvPr/>
        </p:nvSpPr>
        <p:spPr>
          <a:xfrm>
            <a:off x="530352" y="3154680"/>
            <a:ext cx="2542032" cy="1417320"/>
          </a:xfrm>
          <a:prstGeom prst="roundRect">
            <a:avLst>
              <a:gd name="adj" fmla="val 12000"/>
            </a:avLst>
          </a:prstGeom>
          <a:solidFill>
            <a:srgbClr val="F7FAFD"/>
          </a:solidFill>
          <a:ln w="12700">
            <a:solidFill>
              <a:srgbClr val="D5E0EA"/>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Rectangle 24"/>
          <p:cNvSpPr/>
          <p:nvPr/>
        </p:nvSpPr>
        <p:spPr>
          <a:xfrm>
            <a:off x="530352" y="3154680"/>
            <a:ext cx="64008" cy="1417320"/>
          </a:xfrm>
          <a:prstGeom prst="rect">
            <a:avLst/>
          </a:prstGeom>
          <a:solidFill>
            <a:srgbClr val="1976D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694944" y="3246120"/>
            <a:ext cx="2249424" cy="393192"/>
          </a:xfrm>
          <a:prstGeom prst="rect">
            <a:avLst/>
          </a:prstGeom>
          <a:noFill/>
        </p:spPr>
        <p:txBody>
          <a:bodyPr wrap="none" lIns="36576" rIns="36576" tIns="36576" bIns="36576" anchor="t">
            <a:spAutoFit/>
          </a:bodyPr>
          <a:lstStyle/>
          <a:p>
            <a:pPr algn="l"/>
            <a:r>
              <a:rPr sz="1200" b="1">
                <a:solidFill>
                  <a:srgbClr val="5B6773"/>
                </a:solidFill>
                <a:latin typeface="Arial"/>
              </a:rPr>
              <a:t>Weight decay</a:t>
            </a:r>
          </a:p>
        </p:txBody>
      </p:sp>
      <p:sp>
        <p:nvSpPr>
          <p:cNvPr id="27" name="TextBox 26"/>
          <p:cNvSpPr txBox="1"/>
          <p:nvPr/>
        </p:nvSpPr>
        <p:spPr>
          <a:xfrm>
            <a:off x="694944" y="3749040"/>
            <a:ext cx="2249424" cy="457200"/>
          </a:xfrm>
          <a:prstGeom prst="rect">
            <a:avLst/>
          </a:prstGeom>
          <a:noFill/>
        </p:spPr>
        <p:txBody>
          <a:bodyPr wrap="none" lIns="36576" rIns="36576" tIns="36576" bIns="36576" anchor="t">
            <a:spAutoFit/>
          </a:bodyPr>
          <a:lstStyle/>
          <a:p>
            <a:pPr algn="l"/>
            <a:r>
              <a:rPr sz="2400" b="1">
                <a:solidFill>
                  <a:srgbClr val="1976D2"/>
                </a:solidFill>
                <a:latin typeface="Arial"/>
              </a:rPr>
              <a:t>1 × 10⁻⁴</a:t>
            </a:r>
          </a:p>
        </p:txBody>
      </p:sp>
      <p:sp>
        <p:nvSpPr>
          <p:cNvPr id="28" name="Rounded Rectangle 27"/>
          <p:cNvSpPr/>
          <p:nvPr/>
        </p:nvSpPr>
        <p:spPr>
          <a:xfrm>
            <a:off x="3383280" y="3154680"/>
            <a:ext cx="2542032" cy="1417320"/>
          </a:xfrm>
          <a:prstGeom prst="roundRect">
            <a:avLst>
              <a:gd name="adj" fmla="val 12000"/>
            </a:avLst>
          </a:prstGeom>
          <a:solidFill>
            <a:srgbClr val="F7FAFD"/>
          </a:solidFill>
          <a:ln w="12700">
            <a:solidFill>
              <a:srgbClr val="D5E0EA"/>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Rectangle 28"/>
          <p:cNvSpPr/>
          <p:nvPr/>
        </p:nvSpPr>
        <p:spPr>
          <a:xfrm>
            <a:off x="3383280" y="3154680"/>
            <a:ext cx="64008" cy="1417320"/>
          </a:xfrm>
          <a:prstGeom prst="rect">
            <a:avLst/>
          </a:prstGeom>
          <a:solidFill>
            <a:srgbClr val="1976D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TextBox 29"/>
          <p:cNvSpPr txBox="1"/>
          <p:nvPr/>
        </p:nvSpPr>
        <p:spPr>
          <a:xfrm>
            <a:off x="3547872" y="3246120"/>
            <a:ext cx="2249424" cy="393192"/>
          </a:xfrm>
          <a:prstGeom prst="rect">
            <a:avLst/>
          </a:prstGeom>
          <a:noFill/>
        </p:spPr>
        <p:txBody>
          <a:bodyPr wrap="none" lIns="36576" rIns="36576" tIns="36576" bIns="36576" anchor="t">
            <a:spAutoFit/>
          </a:bodyPr>
          <a:lstStyle/>
          <a:p>
            <a:pPr algn="l"/>
            <a:r>
              <a:rPr sz="1200" b="1">
                <a:solidFill>
                  <a:srgbClr val="5B6773"/>
                </a:solidFill>
                <a:latin typeface="Arial"/>
              </a:rPr>
              <a:t>Learning rate schedule</a:t>
            </a:r>
          </a:p>
        </p:txBody>
      </p:sp>
      <p:sp>
        <p:nvSpPr>
          <p:cNvPr id="31" name="TextBox 30"/>
          <p:cNvSpPr txBox="1"/>
          <p:nvPr/>
        </p:nvSpPr>
        <p:spPr>
          <a:xfrm>
            <a:off x="3547872" y="3749040"/>
            <a:ext cx="2249424" cy="457200"/>
          </a:xfrm>
          <a:prstGeom prst="rect">
            <a:avLst/>
          </a:prstGeom>
          <a:noFill/>
        </p:spPr>
        <p:txBody>
          <a:bodyPr wrap="none" lIns="36576" rIns="36576" tIns="36576" bIns="36576" anchor="t">
            <a:spAutoFit/>
          </a:bodyPr>
          <a:lstStyle/>
          <a:p>
            <a:pPr algn="l"/>
            <a:r>
              <a:rPr sz="2400" b="1">
                <a:solidFill>
                  <a:srgbClr val="1976D2"/>
                </a:solidFill>
                <a:latin typeface="Arial"/>
              </a:rPr>
              <a:t>warmup + cosine</a:t>
            </a:r>
          </a:p>
        </p:txBody>
      </p:sp>
      <p:sp>
        <p:nvSpPr>
          <p:cNvPr id="32" name="Rounded Rectangle 31"/>
          <p:cNvSpPr/>
          <p:nvPr/>
        </p:nvSpPr>
        <p:spPr>
          <a:xfrm>
            <a:off x="6236208" y="3154680"/>
            <a:ext cx="2542032" cy="1417320"/>
          </a:xfrm>
          <a:prstGeom prst="roundRect">
            <a:avLst>
              <a:gd name="adj" fmla="val 12000"/>
            </a:avLst>
          </a:prstGeom>
          <a:solidFill>
            <a:srgbClr val="F7FAFD"/>
          </a:solidFill>
          <a:ln w="12700">
            <a:solidFill>
              <a:srgbClr val="D5E0EA"/>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Rectangle 32"/>
          <p:cNvSpPr/>
          <p:nvPr/>
        </p:nvSpPr>
        <p:spPr>
          <a:xfrm>
            <a:off x="6236208" y="3154680"/>
            <a:ext cx="64008" cy="1417320"/>
          </a:xfrm>
          <a:prstGeom prst="rect">
            <a:avLst/>
          </a:prstGeom>
          <a:solidFill>
            <a:srgbClr val="1976D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TextBox 33"/>
          <p:cNvSpPr txBox="1"/>
          <p:nvPr/>
        </p:nvSpPr>
        <p:spPr>
          <a:xfrm>
            <a:off x="6400800" y="3246120"/>
            <a:ext cx="2249424" cy="393192"/>
          </a:xfrm>
          <a:prstGeom prst="rect">
            <a:avLst/>
          </a:prstGeom>
          <a:noFill/>
        </p:spPr>
        <p:txBody>
          <a:bodyPr wrap="none" lIns="36576" rIns="36576" tIns="36576" bIns="36576" anchor="t">
            <a:spAutoFit/>
          </a:bodyPr>
          <a:lstStyle/>
          <a:p>
            <a:pPr algn="l"/>
            <a:r>
              <a:rPr sz="1200" b="1">
                <a:solidFill>
                  <a:srgbClr val="5B6773"/>
                </a:solidFill>
                <a:latin typeface="Arial"/>
              </a:rPr>
              <a:t>History input</a:t>
            </a:r>
          </a:p>
        </p:txBody>
      </p:sp>
      <p:sp>
        <p:nvSpPr>
          <p:cNvPr id="35" name="TextBox 34"/>
          <p:cNvSpPr txBox="1"/>
          <p:nvPr/>
        </p:nvSpPr>
        <p:spPr>
          <a:xfrm>
            <a:off x="6400800" y="3749040"/>
            <a:ext cx="2249424" cy="457200"/>
          </a:xfrm>
          <a:prstGeom prst="rect">
            <a:avLst/>
          </a:prstGeom>
          <a:noFill/>
        </p:spPr>
        <p:txBody>
          <a:bodyPr wrap="none" lIns="36576" rIns="36576" tIns="36576" bIns="36576" anchor="t">
            <a:spAutoFit/>
          </a:bodyPr>
          <a:lstStyle/>
          <a:p>
            <a:pPr algn="l"/>
            <a:r>
              <a:rPr sz="2400" b="1">
                <a:solidFill>
                  <a:srgbClr val="1976D2"/>
                </a:solidFill>
                <a:latin typeface="Arial"/>
              </a:rPr>
              <a:t>0</a:t>
            </a:r>
          </a:p>
        </p:txBody>
      </p:sp>
      <p:sp>
        <p:nvSpPr>
          <p:cNvPr id="36" name="Rounded Rectangle 35"/>
          <p:cNvSpPr/>
          <p:nvPr/>
        </p:nvSpPr>
        <p:spPr>
          <a:xfrm>
            <a:off x="9089136" y="3154680"/>
            <a:ext cx="2542032" cy="1417320"/>
          </a:xfrm>
          <a:prstGeom prst="roundRect">
            <a:avLst>
              <a:gd name="adj" fmla="val 12000"/>
            </a:avLst>
          </a:prstGeom>
          <a:solidFill>
            <a:srgbClr val="F7FAFD"/>
          </a:solidFill>
          <a:ln w="12700">
            <a:solidFill>
              <a:srgbClr val="D5E0EA"/>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Rectangle 36"/>
          <p:cNvSpPr/>
          <p:nvPr/>
        </p:nvSpPr>
        <p:spPr>
          <a:xfrm>
            <a:off x="9089136" y="3154680"/>
            <a:ext cx="64008" cy="1417320"/>
          </a:xfrm>
          <a:prstGeom prst="rect">
            <a:avLst/>
          </a:prstGeom>
          <a:solidFill>
            <a:srgbClr val="1976D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TextBox 37"/>
          <p:cNvSpPr txBox="1"/>
          <p:nvPr/>
        </p:nvSpPr>
        <p:spPr>
          <a:xfrm>
            <a:off x="9253728" y="3246120"/>
            <a:ext cx="2249424" cy="393192"/>
          </a:xfrm>
          <a:prstGeom prst="rect">
            <a:avLst/>
          </a:prstGeom>
          <a:noFill/>
        </p:spPr>
        <p:txBody>
          <a:bodyPr wrap="none" lIns="36576" rIns="36576" tIns="36576" bIns="36576" anchor="t">
            <a:spAutoFit/>
          </a:bodyPr>
          <a:lstStyle/>
          <a:p>
            <a:pPr algn="l"/>
            <a:r>
              <a:rPr sz="1200" b="1">
                <a:solidFill>
                  <a:srgbClr val="5B6773"/>
                </a:solidFill>
                <a:latin typeface="Arial"/>
              </a:rPr>
              <a:t>Rollout steps</a:t>
            </a:r>
          </a:p>
        </p:txBody>
      </p:sp>
      <p:sp>
        <p:nvSpPr>
          <p:cNvPr id="39" name="TextBox 38"/>
          <p:cNvSpPr txBox="1"/>
          <p:nvPr/>
        </p:nvSpPr>
        <p:spPr>
          <a:xfrm>
            <a:off x="9253728" y="3749040"/>
            <a:ext cx="2249424" cy="457200"/>
          </a:xfrm>
          <a:prstGeom prst="rect">
            <a:avLst/>
          </a:prstGeom>
          <a:noFill/>
        </p:spPr>
        <p:txBody>
          <a:bodyPr wrap="none" lIns="36576" rIns="36576" tIns="36576" bIns="36576" anchor="t">
            <a:spAutoFit/>
          </a:bodyPr>
          <a:lstStyle/>
          <a:p>
            <a:pPr algn="l"/>
            <a:r>
              <a:rPr sz="2400" b="1">
                <a:solidFill>
                  <a:srgbClr val="1976D2"/>
                </a:solidFill>
                <a:latin typeface="Arial"/>
              </a:rPr>
              <a:t>K = 1</a:t>
            </a:r>
          </a:p>
        </p:txBody>
      </p:sp>
      <p:sp>
        <p:nvSpPr>
          <p:cNvPr id="40" name="Rounded Rectangle 39"/>
          <p:cNvSpPr/>
          <p:nvPr/>
        </p:nvSpPr>
        <p:spPr>
          <a:xfrm>
            <a:off x="640080" y="5321808"/>
            <a:ext cx="10881360" cy="493776"/>
          </a:xfrm>
          <a:prstGeom prst="roundRect">
            <a:avLst>
              <a:gd name="adj" fmla="val 12000"/>
            </a:avLst>
          </a:prstGeom>
          <a:solidFill>
            <a:srgbClr val="EEF5FB"/>
          </a:solidFill>
          <a:ln w="12700">
            <a:solidFill>
              <a:srgbClr val="CAD8E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 name="TextBox 40"/>
          <p:cNvSpPr txBox="1"/>
          <p:nvPr/>
        </p:nvSpPr>
        <p:spPr>
          <a:xfrm>
            <a:off x="868680" y="5468112"/>
            <a:ext cx="10424160" cy="201168"/>
          </a:xfrm>
          <a:prstGeom prst="rect">
            <a:avLst/>
          </a:prstGeom>
          <a:noFill/>
        </p:spPr>
        <p:txBody>
          <a:bodyPr wrap="none" lIns="36576" rIns="36576" tIns="36576" bIns="36576" anchor="t">
            <a:spAutoFit/>
          </a:bodyPr>
          <a:lstStyle/>
          <a:p>
            <a:pPr algn="ctr"/>
            <a:r>
              <a:rPr sz="1300" b="1">
                <a:solidFill>
                  <a:srgbClr val="20384F"/>
                </a:solidFill>
                <a:latin typeface="Arial"/>
              </a:rPr>
              <a:t>Checkpoint được chọn: epoch 25 (index 24) · 187.850 bước cập nhật · validation loss 0,134443</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hcmute.png"/>
          <p:cNvPicPr>
            <a:picLocks noChangeAspect="1"/>
          </p:cNvPicPr>
          <p:nvPr/>
        </p:nvPicPr>
        <p:blipFill>
          <a:blip r:embed="rId2"/>
          <a:stretch>
            <a:fillRect/>
          </a:stretch>
        </p:blipFill>
        <p:spPr>
          <a:xfrm>
            <a:off x="320040" y="182880"/>
            <a:ext cx="524439" cy="438912"/>
          </a:xfrm>
          <a:prstGeom prst="rect">
            <a:avLst/>
          </a:prstGeom>
        </p:spPr>
      </p:pic>
      <p:sp>
        <p:nvSpPr>
          <p:cNvPr id="3" name="Rectangle 2"/>
          <p:cNvSpPr/>
          <p:nvPr/>
        </p:nvSpPr>
        <p:spPr>
          <a:xfrm>
            <a:off x="292608" y="713232"/>
            <a:ext cx="11594592" cy="41148"/>
          </a:xfrm>
          <a:prstGeom prst="rect">
            <a:avLst/>
          </a:prstGeom>
          <a:solidFill>
            <a:srgbClr val="1976D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 name="TextBox 3"/>
          <p:cNvSpPr txBox="1"/>
          <p:nvPr/>
        </p:nvSpPr>
        <p:spPr>
          <a:xfrm>
            <a:off x="941832" y="182880"/>
            <a:ext cx="9646920" cy="365760"/>
          </a:xfrm>
          <a:prstGeom prst="rect">
            <a:avLst/>
          </a:prstGeom>
          <a:noFill/>
        </p:spPr>
        <p:txBody>
          <a:bodyPr wrap="none" lIns="36576" rIns="36576" tIns="36576" bIns="36576" anchor="t">
            <a:spAutoFit/>
          </a:bodyPr>
          <a:lstStyle/>
          <a:p>
            <a:pPr algn="l"/>
            <a:r>
              <a:rPr sz="2300" b="1">
                <a:solidFill>
                  <a:srgbClr val="20384F"/>
                </a:solidFill>
                <a:latin typeface="Arial"/>
              </a:rPr>
              <a:t>Stage 1 — training và validation loss</a:t>
            </a:r>
          </a:p>
        </p:txBody>
      </p:sp>
      <p:sp>
        <p:nvSpPr>
          <p:cNvPr id="5" name="TextBox 4"/>
          <p:cNvSpPr txBox="1"/>
          <p:nvPr/>
        </p:nvSpPr>
        <p:spPr>
          <a:xfrm>
            <a:off x="11228832" y="256032"/>
            <a:ext cx="384048" cy="182880"/>
          </a:xfrm>
          <a:prstGeom prst="rect">
            <a:avLst/>
          </a:prstGeom>
          <a:noFill/>
        </p:spPr>
        <p:txBody>
          <a:bodyPr wrap="none" lIns="36576" rIns="36576" tIns="36576" bIns="36576" anchor="t">
            <a:spAutoFit/>
          </a:bodyPr>
          <a:lstStyle/>
          <a:p>
            <a:pPr algn="r"/>
            <a:r>
              <a:rPr sz="1000" b="1">
                <a:solidFill>
                  <a:srgbClr val="1976D2"/>
                </a:solidFill>
                <a:latin typeface="Arial"/>
              </a:rPr>
              <a:t>13</a:t>
            </a:r>
          </a:p>
        </p:txBody>
      </p:sp>
      <p:sp>
        <p:nvSpPr>
          <p:cNvPr id="6" name="TextBox 5"/>
          <p:cNvSpPr txBox="1"/>
          <p:nvPr/>
        </p:nvSpPr>
        <p:spPr>
          <a:xfrm>
            <a:off x="365760" y="6583680"/>
            <a:ext cx="4754880" cy="146304"/>
          </a:xfrm>
          <a:prstGeom prst="rect">
            <a:avLst/>
          </a:prstGeom>
          <a:noFill/>
        </p:spPr>
        <p:txBody>
          <a:bodyPr wrap="none" lIns="36576" rIns="36576" tIns="36576" bIns="36576" anchor="t">
            <a:spAutoFit/>
          </a:bodyPr>
          <a:lstStyle/>
          <a:p>
            <a:pPr algn="l"/>
            <a:r>
              <a:rPr sz="620" b="0">
                <a:solidFill>
                  <a:srgbClr val="8794A1"/>
                </a:solidFill>
                <a:latin typeface="Arial"/>
              </a:rPr>
              <a:t>Lương Nguyễn Thành Hưng · NeuralAtmosphereOperator</a:t>
            </a:r>
          </a:p>
        </p:txBody>
      </p:sp>
      <p:sp>
        <p:nvSpPr>
          <p:cNvPr id="7" name="TextBox 6"/>
          <p:cNvSpPr txBox="1"/>
          <p:nvPr/>
        </p:nvSpPr>
        <p:spPr>
          <a:xfrm>
            <a:off x="10332720" y="6583680"/>
            <a:ext cx="1325880" cy="146304"/>
          </a:xfrm>
          <a:prstGeom prst="rect">
            <a:avLst/>
          </a:prstGeom>
          <a:noFill/>
        </p:spPr>
        <p:txBody>
          <a:bodyPr wrap="none" lIns="36576" rIns="36576" tIns="36576" bIns="36576" anchor="t">
            <a:spAutoFit/>
          </a:bodyPr>
          <a:lstStyle/>
          <a:p>
            <a:pPr algn="r"/>
            <a:r>
              <a:rPr sz="620" b="0">
                <a:solidFill>
                  <a:srgbClr val="8794A1"/>
                </a:solidFill>
                <a:latin typeface="Arial"/>
              </a:rPr>
              <a:t>Stage 1 → Stage 2</a:t>
            </a:r>
          </a:p>
        </p:txBody>
      </p:sp>
      <p:pic>
        <p:nvPicPr>
          <p:cNvPr id="8" name="Picture 7" descr="stage1_loss.png"/>
          <p:cNvPicPr>
            <a:picLocks noChangeAspect="1"/>
          </p:cNvPicPr>
          <p:nvPr/>
        </p:nvPicPr>
        <p:blipFill>
          <a:blip r:embed="rId3"/>
          <a:stretch>
            <a:fillRect/>
          </a:stretch>
        </p:blipFill>
        <p:spPr>
          <a:xfrm>
            <a:off x="886980" y="1005840"/>
            <a:ext cx="10387559" cy="4892040"/>
          </a:xfrm>
          <a:prstGeom prst="rect">
            <a:avLst/>
          </a:prstGeom>
        </p:spPr>
      </p:pic>
      <p:sp>
        <p:nvSpPr>
          <p:cNvPr id="9" name="TextBox 8"/>
          <p:cNvSpPr txBox="1"/>
          <p:nvPr/>
        </p:nvSpPr>
        <p:spPr>
          <a:xfrm>
            <a:off x="777240" y="5961888"/>
            <a:ext cx="10607040" cy="365760"/>
          </a:xfrm>
          <a:prstGeom prst="rect">
            <a:avLst/>
          </a:prstGeom>
          <a:noFill/>
        </p:spPr>
        <p:txBody>
          <a:bodyPr wrap="none" lIns="36576" rIns="36576" tIns="36576" bIns="36576" anchor="t">
            <a:spAutoFit/>
          </a:bodyPr>
          <a:lstStyle/>
          <a:p>
            <a:pPr algn="ctr"/>
            <a:r>
              <a:rPr sz="1200" b="0">
                <a:solidFill>
                  <a:srgbClr val="5B6773"/>
                </a:solidFill>
                <a:latin typeface="Arial"/>
              </a:rPr>
              <a:t>25 epoch; chọn epoch 25 (chỉ số lưu: 24). Training loss: 0,465965 → 0,124181; xác thực: 0,315914 → 0,134443.</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hcmute.png"/>
          <p:cNvPicPr>
            <a:picLocks noChangeAspect="1"/>
          </p:cNvPicPr>
          <p:nvPr/>
        </p:nvPicPr>
        <p:blipFill>
          <a:blip r:embed="rId2"/>
          <a:stretch>
            <a:fillRect/>
          </a:stretch>
        </p:blipFill>
        <p:spPr>
          <a:xfrm>
            <a:off x="320040" y="182880"/>
            <a:ext cx="524439" cy="438912"/>
          </a:xfrm>
          <a:prstGeom prst="rect">
            <a:avLst/>
          </a:prstGeom>
        </p:spPr>
      </p:pic>
      <p:sp>
        <p:nvSpPr>
          <p:cNvPr id="3" name="Rectangle 2"/>
          <p:cNvSpPr/>
          <p:nvPr/>
        </p:nvSpPr>
        <p:spPr>
          <a:xfrm>
            <a:off x="292608" y="713232"/>
            <a:ext cx="11594592" cy="41148"/>
          </a:xfrm>
          <a:prstGeom prst="rect">
            <a:avLst/>
          </a:prstGeom>
          <a:solidFill>
            <a:srgbClr val="1976D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 name="TextBox 3"/>
          <p:cNvSpPr txBox="1"/>
          <p:nvPr/>
        </p:nvSpPr>
        <p:spPr>
          <a:xfrm>
            <a:off x="941832" y="182880"/>
            <a:ext cx="9646920" cy="365760"/>
          </a:xfrm>
          <a:prstGeom prst="rect">
            <a:avLst/>
          </a:prstGeom>
          <a:noFill/>
        </p:spPr>
        <p:txBody>
          <a:bodyPr wrap="none" lIns="36576" rIns="36576" tIns="36576" bIns="36576" anchor="t">
            <a:spAutoFit/>
          </a:bodyPr>
          <a:lstStyle/>
          <a:p>
            <a:pPr algn="l"/>
            <a:r>
              <a:rPr sz="2300" b="1">
                <a:solidFill>
                  <a:srgbClr val="20384F"/>
                </a:solidFill>
                <a:latin typeface="Arial"/>
              </a:rPr>
              <a:t>Nguyên lý thiết kế Stage 2</a:t>
            </a:r>
          </a:p>
        </p:txBody>
      </p:sp>
      <p:sp>
        <p:nvSpPr>
          <p:cNvPr id="5" name="TextBox 4"/>
          <p:cNvSpPr txBox="1"/>
          <p:nvPr/>
        </p:nvSpPr>
        <p:spPr>
          <a:xfrm>
            <a:off x="11228832" y="256032"/>
            <a:ext cx="384048" cy="182880"/>
          </a:xfrm>
          <a:prstGeom prst="rect">
            <a:avLst/>
          </a:prstGeom>
          <a:noFill/>
        </p:spPr>
        <p:txBody>
          <a:bodyPr wrap="none" lIns="36576" rIns="36576" tIns="36576" bIns="36576" anchor="t">
            <a:spAutoFit/>
          </a:bodyPr>
          <a:lstStyle/>
          <a:p>
            <a:pPr algn="r"/>
            <a:r>
              <a:rPr sz="1000" b="1">
                <a:solidFill>
                  <a:srgbClr val="1976D2"/>
                </a:solidFill>
                <a:latin typeface="Arial"/>
              </a:rPr>
              <a:t>14</a:t>
            </a:r>
          </a:p>
        </p:txBody>
      </p:sp>
      <p:sp>
        <p:nvSpPr>
          <p:cNvPr id="6" name="TextBox 5"/>
          <p:cNvSpPr txBox="1"/>
          <p:nvPr/>
        </p:nvSpPr>
        <p:spPr>
          <a:xfrm>
            <a:off x="365760" y="6583680"/>
            <a:ext cx="4754880" cy="146304"/>
          </a:xfrm>
          <a:prstGeom prst="rect">
            <a:avLst/>
          </a:prstGeom>
          <a:noFill/>
        </p:spPr>
        <p:txBody>
          <a:bodyPr wrap="none" lIns="36576" rIns="36576" tIns="36576" bIns="36576" anchor="t">
            <a:spAutoFit/>
          </a:bodyPr>
          <a:lstStyle/>
          <a:p>
            <a:pPr algn="l"/>
            <a:r>
              <a:rPr sz="620" b="0">
                <a:solidFill>
                  <a:srgbClr val="8794A1"/>
                </a:solidFill>
                <a:latin typeface="Arial"/>
              </a:rPr>
              <a:t>Lương Nguyễn Thành Hưng · NeuralAtmosphereOperator</a:t>
            </a:r>
          </a:p>
        </p:txBody>
      </p:sp>
      <p:sp>
        <p:nvSpPr>
          <p:cNvPr id="7" name="TextBox 6"/>
          <p:cNvSpPr txBox="1"/>
          <p:nvPr/>
        </p:nvSpPr>
        <p:spPr>
          <a:xfrm>
            <a:off x="10332720" y="6583680"/>
            <a:ext cx="1325880" cy="146304"/>
          </a:xfrm>
          <a:prstGeom prst="rect">
            <a:avLst/>
          </a:prstGeom>
          <a:noFill/>
        </p:spPr>
        <p:txBody>
          <a:bodyPr wrap="none" lIns="36576" rIns="36576" tIns="36576" bIns="36576" anchor="t">
            <a:spAutoFit/>
          </a:bodyPr>
          <a:lstStyle/>
          <a:p>
            <a:pPr algn="r"/>
            <a:r>
              <a:rPr sz="620" b="0">
                <a:solidFill>
                  <a:srgbClr val="8794A1"/>
                </a:solidFill>
                <a:latin typeface="Arial"/>
              </a:rPr>
              <a:t>Stage 1 → Stage 2</a:t>
            </a:r>
          </a:p>
        </p:txBody>
      </p:sp>
      <p:pic>
        <p:nvPicPr>
          <p:cNvPr id="8" name="Picture 7" descr="eq_stage2.png"/>
          <p:cNvPicPr>
            <a:picLocks noChangeAspect="1"/>
          </p:cNvPicPr>
          <p:nvPr/>
        </p:nvPicPr>
        <p:blipFill>
          <a:blip r:embed="rId3"/>
          <a:stretch>
            <a:fillRect/>
          </a:stretch>
        </p:blipFill>
        <p:spPr>
          <a:xfrm>
            <a:off x="3046780" y="1402689"/>
            <a:ext cx="6067958" cy="651052"/>
          </a:xfrm>
          <a:prstGeom prst="rect">
            <a:avLst/>
          </a:prstGeom>
        </p:spPr>
      </p:pic>
      <p:sp>
        <p:nvSpPr>
          <p:cNvPr id="9" name="Rounded Rectangle 8"/>
          <p:cNvSpPr/>
          <p:nvPr/>
        </p:nvSpPr>
        <p:spPr>
          <a:xfrm>
            <a:off x="502920" y="2743200"/>
            <a:ext cx="5440680" cy="3182112"/>
          </a:xfrm>
          <a:prstGeom prst="roundRect">
            <a:avLst>
              <a:gd name="adj" fmla="val 12000"/>
            </a:avLst>
          </a:prstGeom>
          <a:solidFill>
            <a:srgbClr val="F7FAFD"/>
          </a:solidFill>
          <a:ln w="12700">
            <a:solidFill>
              <a:srgbClr val="D2DE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795528" y="2971800"/>
            <a:ext cx="4828032" cy="438912"/>
          </a:xfrm>
          <a:prstGeom prst="rect">
            <a:avLst/>
          </a:prstGeom>
          <a:noFill/>
        </p:spPr>
        <p:txBody>
          <a:bodyPr wrap="none" lIns="36576" rIns="36576" tIns="36576" bIns="36576" anchor="t">
            <a:spAutoFit/>
          </a:bodyPr>
          <a:lstStyle/>
          <a:p>
            <a:pPr algn="l"/>
            <a:r>
              <a:rPr sz="2000" b="1">
                <a:solidFill>
                  <a:srgbClr val="1976D2"/>
                </a:solidFill>
                <a:latin typeface="Arial"/>
              </a:rPr>
              <a:t>Giữ lại từ Stage 1</a:t>
            </a:r>
          </a:p>
        </p:txBody>
      </p:sp>
      <p:sp>
        <p:nvSpPr>
          <p:cNvPr id="11" name="TextBox 10"/>
          <p:cNvSpPr txBox="1"/>
          <p:nvPr/>
        </p:nvSpPr>
        <p:spPr>
          <a:xfrm>
            <a:off x="795528" y="3621024"/>
            <a:ext cx="4663440" cy="2176272"/>
          </a:xfrm>
          <a:prstGeom prst="rect">
            <a:avLst/>
          </a:prstGeom>
          <a:noFill/>
        </p:spPr>
        <p:txBody>
          <a:bodyPr wrap="none" lIns="73152" rIns="36576" tIns="27432">
            <a:spAutoFit/>
          </a:bodyPr>
          <a:lstStyle/>
          <a:p>
            <a:pPr>
              <a:spcAft>
                <a:spcPts val="1000"/>
              </a:spcAft>
              <a:defRPr sz="1600">
                <a:solidFill>
                  <a:srgbClr val="20384F"/>
                </a:solidFill>
                <a:latin typeface="Arial"/>
              </a:defRPr>
            </a:pPr>
            <a:r>
              <a:rPr>
                <a:latin typeface="Arial"/>
              </a:rPr>
              <a:t>•  SFNO E192/L6</a:t>
            </a:r>
          </a:p>
          <a:p>
            <a:pPr>
              <a:spcAft>
                <a:spcPts val="1000"/>
              </a:spcAft>
              <a:defRPr sz="1600">
                <a:solidFill>
                  <a:srgbClr val="20384F"/>
                </a:solidFill>
                <a:latin typeface="Arial"/>
              </a:defRPr>
            </a:pPr>
            <a:r>
              <a:rPr>
                <a:latin typeface="Arial"/>
              </a:rPr>
              <a:t>•  Tendency scale</a:t>
            </a:r>
          </a:p>
          <a:p>
            <a:pPr>
              <a:spcAft>
                <a:spcPts val="1000"/>
              </a:spcAft>
              <a:defRPr sz="1600">
                <a:solidFill>
                  <a:srgbClr val="20384F"/>
                </a:solidFill>
                <a:latin typeface="Arial"/>
              </a:defRPr>
            </a:pPr>
            <a:r>
              <a:rPr>
                <a:latin typeface="Arial"/>
              </a:rPr>
              <a:t>•  Cộng tendency vào trạng thái hiện tại</a:t>
            </a:r>
          </a:p>
          <a:p>
            <a:pPr>
              <a:spcAft>
                <a:spcPts val="1000"/>
              </a:spcAft>
              <a:defRPr sz="1600">
                <a:solidFill>
                  <a:srgbClr val="20384F"/>
                </a:solidFill>
                <a:latin typeface="Arial"/>
              </a:defRPr>
            </a:pPr>
            <a:r>
              <a:rPr>
                <a:latin typeface="Arial"/>
              </a:rPr>
              <a:t>•  Loss function và trọng số theo biến</a:t>
            </a:r>
          </a:p>
        </p:txBody>
      </p:sp>
      <p:sp>
        <p:nvSpPr>
          <p:cNvPr id="12" name="Rounded Rectangle 11"/>
          <p:cNvSpPr/>
          <p:nvPr/>
        </p:nvSpPr>
        <p:spPr>
          <a:xfrm>
            <a:off x="6236208" y="2743200"/>
            <a:ext cx="5440680" cy="3182112"/>
          </a:xfrm>
          <a:prstGeom prst="roundRect">
            <a:avLst>
              <a:gd name="adj" fmla="val 12000"/>
            </a:avLst>
          </a:prstGeom>
          <a:solidFill>
            <a:srgbClr val="F7FAFD"/>
          </a:solidFill>
          <a:ln w="12700">
            <a:solidFill>
              <a:srgbClr val="D2DE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6528816" y="2971800"/>
            <a:ext cx="4828032" cy="438912"/>
          </a:xfrm>
          <a:prstGeom prst="rect">
            <a:avLst/>
          </a:prstGeom>
          <a:noFill/>
        </p:spPr>
        <p:txBody>
          <a:bodyPr wrap="none" lIns="36576" rIns="36576" tIns="36576" bIns="36576" anchor="t">
            <a:spAutoFit/>
          </a:bodyPr>
          <a:lstStyle/>
          <a:p>
            <a:pPr algn="l"/>
            <a:r>
              <a:rPr sz="2000" b="1">
                <a:solidFill>
                  <a:srgbClr val="2E8B57"/>
                </a:solidFill>
                <a:latin typeface="Arial"/>
              </a:rPr>
              <a:t>Bổ sung</a:t>
            </a:r>
          </a:p>
        </p:txBody>
      </p:sp>
      <p:sp>
        <p:nvSpPr>
          <p:cNvPr id="14" name="TextBox 13"/>
          <p:cNvSpPr txBox="1"/>
          <p:nvPr/>
        </p:nvSpPr>
        <p:spPr>
          <a:xfrm>
            <a:off x="6528816" y="3621024"/>
            <a:ext cx="4663440" cy="2176272"/>
          </a:xfrm>
          <a:prstGeom prst="rect">
            <a:avLst/>
          </a:prstGeom>
          <a:noFill/>
        </p:spPr>
        <p:txBody>
          <a:bodyPr wrap="none" lIns="73152" rIns="36576" tIns="27432">
            <a:spAutoFit/>
          </a:bodyPr>
          <a:lstStyle/>
          <a:p>
            <a:pPr>
              <a:spcAft>
                <a:spcPts val="1000"/>
              </a:spcAft>
              <a:defRPr sz="1600">
                <a:solidFill>
                  <a:srgbClr val="20384F"/>
                </a:solidFill>
                <a:latin typeface="Arial"/>
              </a:defRPr>
            </a:pPr>
            <a:r>
              <a:rPr>
                <a:latin typeface="Arial"/>
              </a:rPr>
              <a:t>•  x(t−6h) và tendency gần nhất</a:t>
            </a:r>
          </a:p>
          <a:p>
            <a:pPr>
              <a:spcAft>
                <a:spcPts val="1000"/>
              </a:spcAft>
              <a:defRPr sz="1600">
                <a:solidFill>
                  <a:srgbClr val="20384F"/>
                </a:solidFill>
                <a:latin typeface="Arial"/>
              </a:defRPr>
            </a:pPr>
            <a:r>
              <a:rPr>
                <a:latin typeface="Arial"/>
              </a:rPr>
              <a:t>•  7 kênh static và analytic forcing</a:t>
            </a:r>
          </a:p>
          <a:p>
            <a:pPr>
              <a:spcAft>
                <a:spcPts val="1000"/>
              </a:spcAft>
              <a:defRPr sz="1600">
                <a:solidFill>
                  <a:srgbClr val="20384F"/>
                </a:solidFill>
                <a:latin typeface="Arial"/>
              </a:defRPr>
            </a:pPr>
            <a:r>
              <a:rPr>
                <a:latin typeface="Arial"/>
              </a:rPr>
              <a:t>•  Corrector SFNO trên lưới gốc</a:t>
            </a:r>
          </a:p>
          <a:p>
            <a:pPr>
              <a:spcAft>
                <a:spcPts val="1000"/>
              </a:spcAft>
              <a:defRPr sz="1600">
                <a:solidFill>
                  <a:srgbClr val="20384F"/>
                </a:solidFill>
                <a:latin typeface="Arial"/>
              </a:defRPr>
            </a:pPr>
            <a:r>
              <a:rPr>
                <a:latin typeface="Arial"/>
              </a:rPr>
              <a:t>•  Progressive unfreezing</a:t>
            </a:r>
          </a:p>
        </p:txBody>
      </p:sp>
      <p:sp>
        <p:nvSpPr>
          <p:cNvPr id="15" name="TextBox 14"/>
          <p:cNvSpPr txBox="1"/>
          <p:nvPr/>
        </p:nvSpPr>
        <p:spPr>
          <a:xfrm>
            <a:off x="594360" y="6007608"/>
            <a:ext cx="11018520" cy="393192"/>
          </a:xfrm>
          <a:prstGeom prst="rect">
            <a:avLst/>
          </a:prstGeom>
          <a:noFill/>
        </p:spPr>
        <p:txBody>
          <a:bodyPr wrap="none" lIns="36576" rIns="36576" tIns="36576" bIns="36576" anchor="t">
            <a:spAutoFit/>
          </a:bodyPr>
          <a:lstStyle/>
          <a:p>
            <a:pPr algn="ctr"/>
            <a:r>
              <a:rPr sz="1019" b="0">
                <a:solidFill>
                  <a:srgbClr val="5B6773"/>
                </a:solidFill>
                <a:latin typeface="Arial"/>
              </a:rPr>
              <a:t>Loss tính trên dự báo sau khi cộng correction; corrector không dùng loss riêng.</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hcmute.png"/>
          <p:cNvPicPr>
            <a:picLocks noChangeAspect="1"/>
          </p:cNvPicPr>
          <p:nvPr/>
        </p:nvPicPr>
        <p:blipFill>
          <a:blip r:embed="rId2"/>
          <a:stretch>
            <a:fillRect/>
          </a:stretch>
        </p:blipFill>
        <p:spPr>
          <a:xfrm>
            <a:off x="320040" y="182880"/>
            <a:ext cx="524439" cy="438912"/>
          </a:xfrm>
          <a:prstGeom prst="rect">
            <a:avLst/>
          </a:prstGeom>
        </p:spPr>
      </p:pic>
      <p:sp>
        <p:nvSpPr>
          <p:cNvPr id="3" name="Rectangle 2"/>
          <p:cNvSpPr/>
          <p:nvPr/>
        </p:nvSpPr>
        <p:spPr>
          <a:xfrm>
            <a:off x="292608" y="713232"/>
            <a:ext cx="11594592" cy="41148"/>
          </a:xfrm>
          <a:prstGeom prst="rect">
            <a:avLst/>
          </a:prstGeom>
          <a:solidFill>
            <a:srgbClr val="1976D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 name="TextBox 3"/>
          <p:cNvSpPr txBox="1"/>
          <p:nvPr/>
        </p:nvSpPr>
        <p:spPr>
          <a:xfrm>
            <a:off x="941832" y="182880"/>
            <a:ext cx="9646920" cy="365760"/>
          </a:xfrm>
          <a:prstGeom prst="rect">
            <a:avLst/>
          </a:prstGeom>
          <a:noFill/>
        </p:spPr>
        <p:txBody>
          <a:bodyPr wrap="none" lIns="36576" rIns="36576" tIns="36576" bIns="36576" anchor="t">
            <a:spAutoFit/>
          </a:bodyPr>
          <a:lstStyle/>
          <a:p>
            <a:pPr algn="l"/>
            <a:r>
              <a:rPr sz="2300" b="1">
                <a:solidFill>
                  <a:srgbClr val="20384F"/>
                </a:solidFill>
                <a:latin typeface="Arial"/>
              </a:rPr>
              <a:t>Static và analytic forcing</a:t>
            </a:r>
          </a:p>
        </p:txBody>
      </p:sp>
      <p:sp>
        <p:nvSpPr>
          <p:cNvPr id="5" name="TextBox 4"/>
          <p:cNvSpPr txBox="1"/>
          <p:nvPr/>
        </p:nvSpPr>
        <p:spPr>
          <a:xfrm>
            <a:off x="11228832" y="256032"/>
            <a:ext cx="384048" cy="182880"/>
          </a:xfrm>
          <a:prstGeom prst="rect">
            <a:avLst/>
          </a:prstGeom>
          <a:noFill/>
        </p:spPr>
        <p:txBody>
          <a:bodyPr wrap="none" lIns="36576" rIns="36576" tIns="36576" bIns="36576" anchor="t">
            <a:spAutoFit/>
          </a:bodyPr>
          <a:lstStyle/>
          <a:p>
            <a:pPr algn="r"/>
            <a:r>
              <a:rPr sz="1000" b="1">
                <a:solidFill>
                  <a:srgbClr val="1976D2"/>
                </a:solidFill>
                <a:latin typeface="Arial"/>
              </a:rPr>
              <a:t>15</a:t>
            </a:r>
          </a:p>
        </p:txBody>
      </p:sp>
      <p:sp>
        <p:nvSpPr>
          <p:cNvPr id="6" name="TextBox 5"/>
          <p:cNvSpPr txBox="1"/>
          <p:nvPr/>
        </p:nvSpPr>
        <p:spPr>
          <a:xfrm>
            <a:off x="365760" y="6583680"/>
            <a:ext cx="4754880" cy="146304"/>
          </a:xfrm>
          <a:prstGeom prst="rect">
            <a:avLst/>
          </a:prstGeom>
          <a:noFill/>
        </p:spPr>
        <p:txBody>
          <a:bodyPr wrap="none" lIns="36576" rIns="36576" tIns="36576" bIns="36576" anchor="t">
            <a:spAutoFit/>
          </a:bodyPr>
          <a:lstStyle/>
          <a:p>
            <a:pPr algn="l"/>
            <a:r>
              <a:rPr sz="620" b="0">
                <a:solidFill>
                  <a:srgbClr val="8794A1"/>
                </a:solidFill>
                <a:latin typeface="Arial"/>
              </a:rPr>
              <a:t>Lương Nguyễn Thành Hưng · NeuralAtmosphereOperator</a:t>
            </a:r>
          </a:p>
        </p:txBody>
      </p:sp>
      <p:sp>
        <p:nvSpPr>
          <p:cNvPr id="7" name="TextBox 6"/>
          <p:cNvSpPr txBox="1"/>
          <p:nvPr/>
        </p:nvSpPr>
        <p:spPr>
          <a:xfrm>
            <a:off x="10332720" y="6583680"/>
            <a:ext cx="1325880" cy="146304"/>
          </a:xfrm>
          <a:prstGeom prst="rect">
            <a:avLst/>
          </a:prstGeom>
          <a:noFill/>
        </p:spPr>
        <p:txBody>
          <a:bodyPr wrap="none" lIns="36576" rIns="36576" tIns="36576" bIns="36576" anchor="t">
            <a:spAutoFit/>
          </a:bodyPr>
          <a:lstStyle/>
          <a:p>
            <a:pPr algn="r"/>
            <a:r>
              <a:rPr sz="620" b="0">
                <a:solidFill>
                  <a:srgbClr val="8794A1"/>
                </a:solidFill>
                <a:latin typeface="Arial"/>
              </a:rPr>
              <a:t>Stage 1 → Stage 2</a:t>
            </a:r>
          </a:p>
        </p:txBody>
      </p:sp>
      <p:sp>
        <p:nvSpPr>
          <p:cNvPr id="8" name="Rounded Rectangle 7"/>
          <p:cNvSpPr/>
          <p:nvPr/>
        </p:nvSpPr>
        <p:spPr>
          <a:xfrm>
            <a:off x="438912" y="1234440"/>
            <a:ext cx="1993392" cy="1417320"/>
          </a:xfrm>
          <a:prstGeom prst="roundRect">
            <a:avLst>
              <a:gd name="adj" fmla="val 12000"/>
            </a:avLst>
          </a:prstGeom>
          <a:solidFill>
            <a:srgbClr val="F7FAFD"/>
          </a:solidFill>
          <a:ln w="12700">
            <a:solidFill>
              <a:srgbClr val="D3DE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Rectangle 8"/>
          <p:cNvSpPr/>
          <p:nvPr/>
        </p:nvSpPr>
        <p:spPr>
          <a:xfrm>
            <a:off x="438912" y="1234440"/>
            <a:ext cx="1993392" cy="64008"/>
          </a:xfrm>
          <a:prstGeom prst="rect">
            <a:avLst/>
          </a:prstGeom>
          <a:solidFill>
            <a:srgbClr val="1976D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621792" y="1389888"/>
            <a:ext cx="1627632" cy="429768"/>
          </a:xfrm>
          <a:prstGeom prst="rect">
            <a:avLst/>
          </a:prstGeom>
          <a:noFill/>
        </p:spPr>
        <p:txBody>
          <a:bodyPr wrap="none" lIns="36576" rIns="36576" tIns="36576" bIns="36576" anchor="t">
            <a:spAutoFit/>
          </a:bodyPr>
          <a:lstStyle/>
          <a:p>
            <a:pPr algn="l"/>
            <a:r>
              <a:rPr sz="1600" b="1">
                <a:solidFill>
                  <a:srgbClr val="1976D2"/>
                </a:solidFill>
                <a:latin typeface="Arial"/>
              </a:rPr>
              <a:t>Địa hình</a:t>
            </a:r>
          </a:p>
        </p:txBody>
      </p:sp>
      <p:sp>
        <p:nvSpPr>
          <p:cNvPr id="11" name="TextBox 10"/>
          <p:cNvSpPr txBox="1"/>
          <p:nvPr/>
        </p:nvSpPr>
        <p:spPr>
          <a:xfrm>
            <a:off x="621792" y="2011680"/>
            <a:ext cx="1627632" cy="530352"/>
          </a:xfrm>
          <a:prstGeom prst="rect">
            <a:avLst/>
          </a:prstGeom>
          <a:noFill/>
        </p:spPr>
        <p:txBody>
          <a:bodyPr wrap="none" lIns="36576" rIns="36576" tIns="36576" bIns="36576" anchor="t">
            <a:spAutoFit/>
          </a:bodyPr>
          <a:lstStyle/>
          <a:p>
            <a:pPr algn="l"/>
            <a:r>
              <a:rPr sz="1500" b="0">
                <a:solidFill>
                  <a:srgbClr val="20384F"/>
                </a:solidFill>
                <a:latin typeface="Arial"/>
              </a:rPr>
              <a:t>địa hình chuẩn hóa</a:t>
            </a:r>
          </a:p>
        </p:txBody>
      </p:sp>
      <p:sp>
        <p:nvSpPr>
          <p:cNvPr id="12" name="Rounded Rectangle 11"/>
          <p:cNvSpPr/>
          <p:nvPr/>
        </p:nvSpPr>
        <p:spPr>
          <a:xfrm>
            <a:off x="2743200" y="1234440"/>
            <a:ext cx="1993392" cy="1417320"/>
          </a:xfrm>
          <a:prstGeom prst="roundRect">
            <a:avLst>
              <a:gd name="adj" fmla="val 12000"/>
            </a:avLst>
          </a:prstGeom>
          <a:solidFill>
            <a:srgbClr val="F7FAFD"/>
          </a:solidFill>
          <a:ln w="12700">
            <a:solidFill>
              <a:srgbClr val="D3DE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Rectangle 12"/>
          <p:cNvSpPr/>
          <p:nvPr/>
        </p:nvSpPr>
        <p:spPr>
          <a:xfrm>
            <a:off x="2743200" y="1234440"/>
            <a:ext cx="1993392" cy="64008"/>
          </a:xfrm>
          <a:prstGeom prst="rect">
            <a:avLst/>
          </a:prstGeom>
          <a:solidFill>
            <a:srgbClr val="2E8B5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2926080" y="1389888"/>
            <a:ext cx="1627632" cy="429768"/>
          </a:xfrm>
          <a:prstGeom prst="rect">
            <a:avLst/>
          </a:prstGeom>
          <a:noFill/>
        </p:spPr>
        <p:txBody>
          <a:bodyPr wrap="none" lIns="36576" rIns="36576" tIns="36576" bIns="36576" anchor="t">
            <a:spAutoFit/>
          </a:bodyPr>
          <a:lstStyle/>
          <a:p>
            <a:pPr algn="l"/>
            <a:r>
              <a:rPr sz="1600" b="1">
                <a:solidFill>
                  <a:srgbClr val="2E8B57"/>
                </a:solidFill>
                <a:latin typeface="Arial"/>
              </a:rPr>
              <a:t>Mặt nạ đất–biển</a:t>
            </a:r>
          </a:p>
        </p:txBody>
      </p:sp>
      <p:sp>
        <p:nvSpPr>
          <p:cNvPr id="15" name="TextBox 14"/>
          <p:cNvSpPr txBox="1"/>
          <p:nvPr/>
        </p:nvSpPr>
        <p:spPr>
          <a:xfrm>
            <a:off x="2926080" y="2011680"/>
            <a:ext cx="1627632" cy="530352"/>
          </a:xfrm>
          <a:prstGeom prst="rect">
            <a:avLst/>
          </a:prstGeom>
          <a:noFill/>
        </p:spPr>
        <p:txBody>
          <a:bodyPr wrap="none" lIns="36576" rIns="36576" tIns="36576" bIns="36576" anchor="t">
            <a:spAutoFit/>
          </a:bodyPr>
          <a:lstStyle/>
          <a:p>
            <a:pPr algn="l"/>
            <a:r>
              <a:rPr sz="1500" b="0">
                <a:solidFill>
                  <a:srgbClr val="20384F"/>
                </a:solidFill>
                <a:latin typeface="Arial"/>
              </a:rPr>
              <a:t>khác biệt bề mặt</a:t>
            </a:r>
          </a:p>
        </p:txBody>
      </p:sp>
      <p:sp>
        <p:nvSpPr>
          <p:cNvPr id="16" name="Rounded Rectangle 15"/>
          <p:cNvSpPr/>
          <p:nvPr/>
        </p:nvSpPr>
        <p:spPr>
          <a:xfrm>
            <a:off x="5047488" y="1234440"/>
            <a:ext cx="1993392" cy="1417320"/>
          </a:xfrm>
          <a:prstGeom prst="roundRect">
            <a:avLst>
              <a:gd name="adj" fmla="val 12000"/>
            </a:avLst>
          </a:prstGeom>
          <a:solidFill>
            <a:srgbClr val="F7FAFD"/>
          </a:solidFill>
          <a:ln w="12700">
            <a:solidFill>
              <a:srgbClr val="D3DE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Rectangle 16"/>
          <p:cNvSpPr/>
          <p:nvPr/>
        </p:nvSpPr>
        <p:spPr>
          <a:xfrm>
            <a:off x="5047488" y="1234440"/>
            <a:ext cx="1993392" cy="64008"/>
          </a:xfrm>
          <a:prstGeom prst="rect">
            <a:avLst/>
          </a:prstGeom>
          <a:solidFill>
            <a:srgbClr val="E28A2B"/>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5230368" y="1389888"/>
            <a:ext cx="1627632" cy="429768"/>
          </a:xfrm>
          <a:prstGeom prst="rect">
            <a:avLst/>
          </a:prstGeom>
          <a:noFill/>
        </p:spPr>
        <p:txBody>
          <a:bodyPr wrap="none" lIns="36576" rIns="36576" tIns="36576" bIns="36576" anchor="t">
            <a:spAutoFit/>
          </a:bodyPr>
          <a:lstStyle/>
          <a:p>
            <a:pPr algn="l"/>
            <a:r>
              <a:rPr sz="1600" b="1">
                <a:solidFill>
                  <a:srgbClr val="E28A2B"/>
                </a:solidFill>
                <a:latin typeface="Arial"/>
              </a:rPr>
              <a:t>Góc thiên đỉnh Mặt Trời</a:t>
            </a:r>
          </a:p>
        </p:txBody>
      </p:sp>
      <p:sp>
        <p:nvSpPr>
          <p:cNvPr id="19" name="TextBox 18"/>
          <p:cNvSpPr txBox="1"/>
          <p:nvPr/>
        </p:nvSpPr>
        <p:spPr>
          <a:xfrm>
            <a:off x="5230368" y="2011680"/>
            <a:ext cx="1627632" cy="530352"/>
          </a:xfrm>
          <a:prstGeom prst="rect">
            <a:avLst/>
          </a:prstGeom>
          <a:noFill/>
        </p:spPr>
        <p:txBody>
          <a:bodyPr wrap="none" lIns="36576" rIns="36576" tIns="36576" bIns="36576" anchor="t">
            <a:spAutoFit/>
          </a:bodyPr>
          <a:lstStyle/>
          <a:p>
            <a:pPr algn="l"/>
            <a:r>
              <a:rPr sz="1500" b="0">
                <a:solidFill>
                  <a:srgbClr val="20384F"/>
                </a:solidFill>
                <a:latin typeface="Arial"/>
              </a:rPr>
              <a:t>Cosine góc thiên đỉnh</a:t>
            </a:r>
          </a:p>
        </p:txBody>
      </p:sp>
      <p:sp>
        <p:nvSpPr>
          <p:cNvPr id="20" name="Rounded Rectangle 19"/>
          <p:cNvSpPr/>
          <p:nvPr/>
        </p:nvSpPr>
        <p:spPr>
          <a:xfrm>
            <a:off x="7351776" y="1234440"/>
            <a:ext cx="1993392" cy="1417320"/>
          </a:xfrm>
          <a:prstGeom prst="roundRect">
            <a:avLst>
              <a:gd name="adj" fmla="val 12000"/>
            </a:avLst>
          </a:prstGeom>
          <a:solidFill>
            <a:srgbClr val="F7FAFD"/>
          </a:solidFill>
          <a:ln w="12700">
            <a:solidFill>
              <a:srgbClr val="D3DE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Rectangle 20"/>
          <p:cNvSpPr/>
          <p:nvPr/>
        </p:nvSpPr>
        <p:spPr>
          <a:xfrm>
            <a:off x="7351776" y="1234440"/>
            <a:ext cx="1993392" cy="64008"/>
          </a:xfrm>
          <a:prstGeom prst="rect">
            <a:avLst/>
          </a:prstGeom>
          <a:solidFill>
            <a:srgbClr val="2F95D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7534656" y="1389888"/>
            <a:ext cx="1627632" cy="429768"/>
          </a:xfrm>
          <a:prstGeom prst="rect">
            <a:avLst/>
          </a:prstGeom>
          <a:noFill/>
        </p:spPr>
        <p:txBody>
          <a:bodyPr wrap="none" lIns="36576" rIns="36576" tIns="36576" bIns="36576" anchor="t">
            <a:spAutoFit/>
          </a:bodyPr>
          <a:lstStyle/>
          <a:p>
            <a:pPr algn="l"/>
            <a:r>
              <a:rPr sz="1600" b="1">
                <a:solidFill>
                  <a:srgbClr val="2F95DE"/>
                </a:solidFill>
                <a:latin typeface="Arial"/>
              </a:rPr>
              <a:t>Giờ địa phương</a:t>
            </a:r>
          </a:p>
        </p:txBody>
      </p:sp>
      <p:sp>
        <p:nvSpPr>
          <p:cNvPr id="23" name="TextBox 22"/>
          <p:cNvSpPr txBox="1"/>
          <p:nvPr/>
        </p:nvSpPr>
        <p:spPr>
          <a:xfrm>
            <a:off x="7534656" y="2011680"/>
            <a:ext cx="1627632" cy="530352"/>
          </a:xfrm>
          <a:prstGeom prst="rect">
            <a:avLst/>
          </a:prstGeom>
          <a:noFill/>
        </p:spPr>
        <p:txBody>
          <a:bodyPr wrap="none" lIns="36576" rIns="36576" tIns="36576" bIns="36576" anchor="t">
            <a:spAutoFit/>
          </a:bodyPr>
          <a:lstStyle/>
          <a:p>
            <a:pPr algn="l"/>
            <a:r>
              <a:rPr sz="1500" b="0">
                <a:solidFill>
                  <a:srgbClr val="20384F"/>
                </a:solidFill>
                <a:latin typeface="Arial"/>
              </a:rPr>
              <a:t>sin/cos chu kỳ ngày</a:t>
            </a:r>
          </a:p>
        </p:txBody>
      </p:sp>
      <p:sp>
        <p:nvSpPr>
          <p:cNvPr id="24" name="Rounded Rectangle 23"/>
          <p:cNvSpPr/>
          <p:nvPr/>
        </p:nvSpPr>
        <p:spPr>
          <a:xfrm>
            <a:off x="9656064" y="1234440"/>
            <a:ext cx="1993392" cy="1417320"/>
          </a:xfrm>
          <a:prstGeom prst="roundRect">
            <a:avLst>
              <a:gd name="adj" fmla="val 12000"/>
            </a:avLst>
          </a:prstGeom>
          <a:solidFill>
            <a:srgbClr val="F7FAFD"/>
          </a:solidFill>
          <a:ln w="12700">
            <a:solidFill>
              <a:srgbClr val="D3DE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Rectangle 24"/>
          <p:cNvSpPr/>
          <p:nvPr/>
        </p:nvSpPr>
        <p:spPr>
          <a:xfrm>
            <a:off x="9656064" y="1234440"/>
            <a:ext cx="1993392" cy="64008"/>
          </a:xfrm>
          <a:prstGeom prst="rect">
            <a:avLst/>
          </a:prstGeom>
          <a:solidFill>
            <a:srgbClr val="D94C4C"/>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9838944" y="1389888"/>
            <a:ext cx="1627632" cy="429768"/>
          </a:xfrm>
          <a:prstGeom prst="rect">
            <a:avLst/>
          </a:prstGeom>
          <a:noFill/>
        </p:spPr>
        <p:txBody>
          <a:bodyPr wrap="none" lIns="36576" rIns="36576" tIns="36576" bIns="36576" anchor="t">
            <a:spAutoFit/>
          </a:bodyPr>
          <a:lstStyle/>
          <a:p>
            <a:pPr algn="l"/>
            <a:r>
              <a:rPr sz="1600" b="1">
                <a:solidFill>
                  <a:srgbClr val="D94C4C"/>
                </a:solidFill>
                <a:latin typeface="Arial"/>
              </a:rPr>
              <a:t>Pha trong năm</a:t>
            </a:r>
          </a:p>
        </p:txBody>
      </p:sp>
      <p:sp>
        <p:nvSpPr>
          <p:cNvPr id="27" name="TextBox 26"/>
          <p:cNvSpPr txBox="1"/>
          <p:nvPr/>
        </p:nvSpPr>
        <p:spPr>
          <a:xfrm>
            <a:off x="9838944" y="2011680"/>
            <a:ext cx="1627632" cy="530352"/>
          </a:xfrm>
          <a:prstGeom prst="rect">
            <a:avLst/>
          </a:prstGeom>
          <a:noFill/>
        </p:spPr>
        <p:txBody>
          <a:bodyPr wrap="none" lIns="36576" rIns="36576" tIns="36576" bIns="36576" anchor="t">
            <a:spAutoFit/>
          </a:bodyPr>
          <a:lstStyle/>
          <a:p>
            <a:pPr algn="l"/>
            <a:r>
              <a:rPr sz="1500" b="0">
                <a:solidFill>
                  <a:srgbClr val="20384F"/>
                </a:solidFill>
                <a:latin typeface="Arial"/>
              </a:rPr>
              <a:t>sin/cos mùa</a:t>
            </a:r>
          </a:p>
        </p:txBody>
      </p:sp>
      <p:sp>
        <p:nvSpPr>
          <p:cNvPr id="28" name="Rounded Rectangle 27"/>
          <p:cNvSpPr/>
          <p:nvPr/>
        </p:nvSpPr>
        <p:spPr>
          <a:xfrm>
            <a:off x="640080" y="3246120"/>
            <a:ext cx="10881360" cy="1920240"/>
          </a:xfrm>
          <a:prstGeom prst="roundRect">
            <a:avLst>
              <a:gd name="adj" fmla="val 12000"/>
            </a:avLst>
          </a:prstGeom>
          <a:solidFill>
            <a:srgbClr val="F7FAFD"/>
          </a:solidFill>
          <a:ln w="12700">
            <a:solidFill>
              <a:srgbClr val="D2DE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960120" y="3584448"/>
            <a:ext cx="10058400" cy="1188720"/>
          </a:xfrm>
          <a:prstGeom prst="rect">
            <a:avLst/>
          </a:prstGeom>
          <a:noFill/>
        </p:spPr>
        <p:txBody>
          <a:bodyPr wrap="none" lIns="73152" rIns="36576" tIns="27432">
            <a:spAutoFit/>
          </a:bodyPr>
          <a:lstStyle/>
          <a:p>
            <a:pPr>
              <a:spcAft>
                <a:spcPts val="800"/>
              </a:spcAft>
              <a:defRPr sz="1450">
                <a:solidFill>
                  <a:srgbClr val="20384F"/>
                </a:solidFill>
                <a:latin typeface="Arial"/>
              </a:defRPr>
            </a:pPr>
            <a:r>
              <a:rPr>
                <a:latin typeface="Arial"/>
              </a:rPr>
              <a:t>•  Tạo forcing từ ba pha thời gian trên GPU
•  Kiểm tra hàm băm SHA-256 và tọa độ của các trường tĩnh
•  7 kênh forcing được concatenate trước encoder của corrector
•  Số kênh forcing: 7</a:t>
            </a:r>
          </a:p>
          <a:p>
            <a:pPr>
              <a:spcAft>
                <a:spcPts val="800"/>
              </a:spcAft>
              <a:defRPr sz="1450">
                <a:solidFill>
                  <a:srgbClr val="20384F"/>
                </a:solidFill>
                <a:latin typeface="Arial"/>
              </a:defRPr>
            </a:pPr>
          </a:p>
          <a:p>
            <a:pPr>
              <a:spcAft>
                <a:spcPts val="800"/>
              </a:spcAft>
              <a:defRPr sz="1450">
                <a:solidFill>
                  <a:srgbClr val="20384F"/>
                </a:solidFill>
                <a:latin typeface="Arial"/>
              </a:defRPr>
            </a:pPr>
          </a:p>
          <a:p>
            <a:pPr>
              <a:spcAft>
                <a:spcPts val="800"/>
              </a:spcAft>
              <a:defRPr sz="1450">
                <a:solidFill>
                  <a:srgbClr val="20384F"/>
                </a:solidFill>
                <a:latin typeface="Arial"/>
              </a:defRPr>
            </a:pP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hcmute.png"/>
          <p:cNvPicPr>
            <a:picLocks noChangeAspect="1"/>
          </p:cNvPicPr>
          <p:nvPr/>
        </p:nvPicPr>
        <p:blipFill>
          <a:blip r:embed="rId2"/>
          <a:stretch>
            <a:fillRect/>
          </a:stretch>
        </p:blipFill>
        <p:spPr>
          <a:xfrm>
            <a:off x="320040" y="182880"/>
            <a:ext cx="524439" cy="438912"/>
          </a:xfrm>
          <a:prstGeom prst="rect">
            <a:avLst/>
          </a:prstGeom>
        </p:spPr>
      </p:pic>
      <p:sp>
        <p:nvSpPr>
          <p:cNvPr id="3" name="Rectangle 2"/>
          <p:cNvSpPr/>
          <p:nvPr/>
        </p:nvSpPr>
        <p:spPr>
          <a:xfrm>
            <a:off x="292608" y="713232"/>
            <a:ext cx="11594592" cy="41148"/>
          </a:xfrm>
          <a:prstGeom prst="rect">
            <a:avLst/>
          </a:prstGeom>
          <a:solidFill>
            <a:srgbClr val="1976D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 name="TextBox 3"/>
          <p:cNvSpPr txBox="1"/>
          <p:nvPr/>
        </p:nvSpPr>
        <p:spPr>
          <a:xfrm>
            <a:off x="941832" y="182880"/>
            <a:ext cx="9646920" cy="365760"/>
          </a:xfrm>
          <a:prstGeom prst="rect">
            <a:avLst/>
          </a:prstGeom>
          <a:noFill/>
        </p:spPr>
        <p:txBody>
          <a:bodyPr wrap="none" lIns="36576" rIns="36576" tIns="36576" bIns="36576" anchor="t">
            <a:spAutoFit/>
          </a:bodyPr>
          <a:lstStyle/>
          <a:p>
            <a:pPr algn="l"/>
            <a:r>
              <a:rPr sz="2300" b="1">
                <a:solidFill>
                  <a:srgbClr val="20384F"/>
                </a:solidFill>
                <a:latin typeface="Arial"/>
              </a:rPr>
              <a:t>Luồng dữ liệu đầy đủ của Stage 2</a:t>
            </a:r>
          </a:p>
        </p:txBody>
      </p:sp>
      <p:sp>
        <p:nvSpPr>
          <p:cNvPr id="5" name="TextBox 4"/>
          <p:cNvSpPr txBox="1"/>
          <p:nvPr/>
        </p:nvSpPr>
        <p:spPr>
          <a:xfrm>
            <a:off x="11228832" y="256032"/>
            <a:ext cx="384048" cy="182880"/>
          </a:xfrm>
          <a:prstGeom prst="rect">
            <a:avLst/>
          </a:prstGeom>
          <a:noFill/>
        </p:spPr>
        <p:txBody>
          <a:bodyPr wrap="none" lIns="36576" rIns="36576" tIns="36576" bIns="36576" anchor="t">
            <a:spAutoFit/>
          </a:bodyPr>
          <a:lstStyle/>
          <a:p>
            <a:pPr algn="r"/>
            <a:r>
              <a:rPr sz="1000" b="1">
                <a:solidFill>
                  <a:srgbClr val="1976D2"/>
                </a:solidFill>
                <a:latin typeface="Arial"/>
              </a:rPr>
              <a:t>16</a:t>
            </a:r>
          </a:p>
        </p:txBody>
      </p:sp>
      <p:sp>
        <p:nvSpPr>
          <p:cNvPr id="6" name="TextBox 5"/>
          <p:cNvSpPr txBox="1"/>
          <p:nvPr/>
        </p:nvSpPr>
        <p:spPr>
          <a:xfrm>
            <a:off x="365760" y="6583680"/>
            <a:ext cx="4754880" cy="146304"/>
          </a:xfrm>
          <a:prstGeom prst="rect">
            <a:avLst/>
          </a:prstGeom>
          <a:noFill/>
        </p:spPr>
        <p:txBody>
          <a:bodyPr wrap="none" lIns="36576" rIns="36576" tIns="36576" bIns="36576" anchor="t">
            <a:spAutoFit/>
          </a:bodyPr>
          <a:lstStyle/>
          <a:p>
            <a:pPr algn="l"/>
            <a:r>
              <a:rPr sz="620" b="0">
                <a:solidFill>
                  <a:srgbClr val="8794A1"/>
                </a:solidFill>
                <a:latin typeface="Arial"/>
              </a:rPr>
              <a:t>Lương Nguyễn Thành Hưng · NeuralAtmosphereOperator</a:t>
            </a:r>
          </a:p>
        </p:txBody>
      </p:sp>
      <p:sp>
        <p:nvSpPr>
          <p:cNvPr id="7" name="TextBox 6"/>
          <p:cNvSpPr txBox="1"/>
          <p:nvPr/>
        </p:nvSpPr>
        <p:spPr>
          <a:xfrm>
            <a:off x="10332720" y="6583680"/>
            <a:ext cx="1325880" cy="146304"/>
          </a:xfrm>
          <a:prstGeom prst="rect">
            <a:avLst/>
          </a:prstGeom>
          <a:noFill/>
        </p:spPr>
        <p:txBody>
          <a:bodyPr wrap="none" lIns="36576" rIns="36576" tIns="36576" bIns="36576" anchor="t">
            <a:spAutoFit/>
          </a:bodyPr>
          <a:lstStyle/>
          <a:p>
            <a:pPr algn="r"/>
            <a:r>
              <a:rPr sz="620" b="0">
                <a:solidFill>
                  <a:srgbClr val="8794A1"/>
                </a:solidFill>
                <a:latin typeface="Arial"/>
              </a:rPr>
              <a:t>Stage 1 → Stage 2</a:t>
            </a:r>
          </a:p>
        </p:txBody>
      </p:sp>
      <p:sp>
        <p:nvSpPr>
          <p:cNvPr id="8" name="Rounded Rectangle 7"/>
          <p:cNvSpPr/>
          <p:nvPr/>
        </p:nvSpPr>
        <p:spPr>
          <a:xfrm>
            <a:off x="548640" y="1188720"/>
            <a:ext cx="1874519" cy="1024128"/>
          </a:xfrm>
          <a:prstGeom prst="roundRect">
            <a:avLst>
              <a:gd name="adj" fmla="val 12000"/>
            </a:avLst>
          </a:prstGeom>
          <a:solidFill>
            <a:srgbClr val="EEF5FB"/>
          </a:solidFill>
          <a:ln w="12700">
            <a:solidFill>
              <a:srgbClr val="1976D2"/>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640080" y="1298448"/>
            <a:ext cx="1691639" cy="429768"/>
          </a:xfrm>
          <a:prstGeom prst="rect">
            <a:avLst/>
          </a:prstGeom>
          <a:noFill/>
        </p:spPr>
        <p:txBody>
          <a:bodyPr wrap="none" lIns="36576" rIns="36576" tIns="36576" bIns="36576" anchor="t">
            <a:spAutoFit/>
          </a:bodyPr>
          <a:lstStyle/>
          <a:p>
            <a:pPr algn="ctr"/>
            <a:r>
              <a:rPr sz="1400" b="1">
                <a:solidFill>
                  <a:srgbClr val="20384F"/>
                </a:solidFill>
                <a:latin typeface="Arial"/>
              </a:rPr>
              <a:t>x(t)</a:t>
            </a:r>
          </a:p>
        </p:txBody>
      </p:sp>
      <p:sp>
        <p:nvSpPr>
          <p:cNvPr id="10" name="TextBox 9"/>
          <p:cNvSpPr txBox="1"/>
          <p:nvPr/>
        </p:nvSpPr>
        <p:spPr>
          <a:xfrm>
            <a:off x="640080" y="1755648"/>
            <a:ext cx="1691639" cy="402336"/>
          </a:xfrm>
          <a:prstGeom prst="rect">
            <a:avLst/>
          </a:prstGeom>
          <a:noFill/>
        </p:spPr>
        <p:txBody>
          <a:bodyPr wrap="none" lIns="36576" rIns="36576" tIns="36576" bIns="36576" anchor="t">
            <a:spAutoFit/>
          </a:bodyPr>
          <a:lstStyle/>
          <a:p>
            <a:pPr algn="ctr"/>
            <a:r>
              <a:rPr sz="1200" b="0">
                <a:solidFill>
                  <a:srgbClr val="5B6773"/>
                </a:solidFill>
                <a:latin typeface="Arial"/>
              </a:rPr>
              <a:t>71 kênh</a:t>
            </a:r>
          </a:p>
        </p:txBody>
      </p:sp>
      <p:sp>
        <p:nvSpPr>
          <p:cNvPr id="11" name="Rounded Rectangle 10"/>
          <p:cNvSpPr/>
          <p:nvPr/>
        </p:nvSpPr>
        <p:spPr>
          <a:xfrm>
            <a:off x="2971800" y="1188720"/>
            <a:ext cx="2468880" cy="1024128"/>
          </a:xfrm>
          <a:prstGeom prst="roundRect">
            <a:avLst>
              <a:gd name="adj" fmla="val 12000"/>
            </a:avLst>
          </a:prstGeom>
          <a:solidFill>
            <a:srgbClr val="EEF5FB"/>
          </a:solidFill>
          <a:ln w="12700">
            <a:solidFill>
              <a:srgbClr val="1976D2"/>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3063240" y="1298448"/>
            <a:ext cx="2286000" cy="429768"/>
          </a:xfrm>
          <a:prstGeom prst="rect">
            <a:avLst/>
          </a:prstGeom>
          <a:noFill/>
        </p:spPr>
        <p:txBody>
          <a:bodyPr wrap="none" lIns="36576" rIns="36576" tIns="36576" bIns="36576" anchor="t">
            <a:spAutoFit/>
          </a:bodyPr>
          <a:lstStyle/>
          <a:p>
            <a:pPr algn="ctr"/>
            <a:r>
              <a:rPr sz="1400" b="1">
                <a:solidFill>
                  <a:srgbClr val="20384F"/>
                </a:solidFill>
                <a:latin typeface="Arial"/>
              </a:rPr>
              <a:t>SFNO E192/L6</a:t>
            </a:r>
          </a:p>
        </p:txBody>
      </p:sp>
      <p:sp>
        <p:nvSpPr>
          <p:cNvPr id="13" name="TextBox 12"/>
          <p:cNvSpPr txBox="1"/>
          <p:nvPr/>
        </p:nvSpPr>
        <p:spPr>
          <a:xfrm>
            <a:off x="3063240" y="1755648"/>
            <a:ext cx="2286000" cy="402336"/>
          </a:xfrm>
          <a:prstGeom prst="rect">
            <a:avLst/>
          </a:prstGeom>
          <a:noFill/>
        </p:spPr>
        <p:txBody>
          <a:bodyPr wrap="none" lIns="36576" rIns="36576" tIns="36576" bIns="36576" anchor="t">
            <a:spAutoFit/>
          </a:bodyPr>
          <a:lstStyle/>
          <a:p>
            <a:pPr algn="ctr"/>
            <a:r>
              <a:rPr sz="1200" b="0">
                <a:solidFill>
                  <a:srgbClr val="5B6773"/>
                </a:solidFill>
                <a:latin typeface="Arial"/>
              </a:rPr>
              <a:t>từ Stage 1</a:t>
            </a:r>
          </a:p>
        </p:txBody>
      </p:sp>
      <p:sp>
        <p:nvSpPr>
          <p:cNvPr id="14" name="Rounded Rectangle 13"/>
          <p:cNvSpPr/>
          <p:nvPr/>
        </p:nvSpPr>
        <p:spPr>
          <a:xfrm>
            <a:off x="5943600" y="1188720"/>
            <a:ext cx="2240280" cy="1024128"/>
          </a:xfrm>
          <a:prstGeom prst="roundRect">
            <a:avLst>
              <a:gd name="adj" fmla="val 12000"/>
            </a:avLst>
          </a:prstGeom>
          <a:solidFill>
            <a:srgbClr val="EEF5FB"/>
          </a:solidFill>
          <a:ln w="12700">
            <a:solidFill>
              <a:srgbClr val="1976D2"/>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6035040" y="1298448"/>
            <a:ext cx="2057400" cy="429768"/>
          </a:xfrm>
          <a:prstGeom prst="rect">
            <a:avLst/>
          </a:prstGeom>
          <a:noFill/>
        </p:spPr>
        <p:txBody>
          <a:bodyPr wrap="none" lIns="36576" rIns="36576" tIns="36576" bIns="36576" anchor="t">
            <a:spAutoFit/>
          </a:bodyPr>
          <a:lstStyle/>
          <a:p>
            <a:pPr algn="ctr"/>
            <a:r>
              <a:rPr sz="1400" b="1">
                <a:solidFill>
                  <a:srgbClr val="20384F"/>
                </a:solidFill>
                <a:latin typeface="Arial"/>
              </a:rPr>
              <a:t>Stage 1 tendency</a:t>
            </a:r>
          </a:p>
        </p:txBody>
      </p:sp>
      <p:sp>
        <p:nvSpPr>
          <p:cNvPr id="16" name="TextBox 15"/>
          <p:cNvSpPr txBox="1"/>
          <p:nvPr/>
        </p:nvSpPr>
        <p:spPr>
          <a:xfrm>
            <a:off x="6035040" y="1755648"/>
            <a:ext cx="2057400" cy="402336"/>
          </a:xfrm>
          <a:prstGeom prst="rect">
            <a:avLst/>
          </a:prstGeom>
          <a:noFill/>
        </p:spPr>
        <p:txBody>
          <a:bodyPr wrap="none" lIns="36576" rIns="36576" tIns="36576" bIns="36576" anchor="t">
            <a:spAutoFit/>
          </a:bodyPr>
          <a:lstStyle/>
          <a:p>
            <a:pPr algn="ctr"/>
            <a:r>
              <a:rPr sz="1200" b="0">
                <a:solidFill>
                  <a:srgbClr val="5B6773"/>
                </a:solidFill>
                <a:latin typeface="Arial"/>
              </a:rPr>
              <a:t>71 kênh</a:t>
            </a:r>
          </a:p>
        </p:txBody>
      </p:sp>
      <p:sp>
        <p:nvSpPr>
          <p:cNvPr id="17" name="Rounded Rectangle 16"/>
          <p:cNvSpPr/>
          <p:nvPr/>
        </p:nvSpPr>
        <p:spPr>
          <a:xfrm>
            <a:off x="9281160" y="1188720"/>
            <a:ext cx="2331720" cy="1024128"/>
          </a:xfrm>
          <a:prstGeom prst="roundRect">
            <a:avLst>
              <a:gd name="adj" fmla="val 12000"/>
            </a:avLst>
          </a:prstGeom>
          <a:solidFill>
            <a:srgbClr val="EEF5FB"/>
          </a:solidFill>
          <a:ln w="12700">
            <a:solidFill>
              <a:srgbClr val="1976D2"/>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9372600" y="1298448"/>
            <a:ext cx="2148839" cy="429768"/>
          </a:xfrm>
          <a:prstGeom prst="rect">
            <a:avLst/>
          </a:prstGeom>
          <a:noFill/>
        </p:spPr>
        <p:txBody>
          <a:bodyPr wrap="none" lIns="36576" rIns="36576" tIns="36576" bIns="36576" anchor="t">
            <a:spAutoFit/>
          </a:bodyPr>
          <a:lstStyle/>
          <a:p>
            <a:pPr algn="ctr"/>
            <a:r>
              <a:rPr sz="1400" b="1">
                <a:solidFill>
                  <a:srgbClr val="20384F"/>
                </a:solidFill>
                <a:latin typeface="Arial"/>
              </a:rPr>
              <a:t>Cộng correction</a:t>
            </a:r>
          </a:p>
        </p:txBody>
      </p:sp>
      <p:sp>
        <p:nvSpPr>
          <p:cNvPr id="19" name="TextBox 18"/>
          <p:cNvSpPr txBox="1"/>
          <p:nvPr/>
        </p:nvSpPr>
        <p:spPr>
          <a:xfrm>
            <a:off x="9372600" y="1755648"/>
            <a:ext cx="2148839" cy="402336"/>
          </a:xfrm>
          <a:prstGeom prst="rect">
            <a:avLst/>
          </a:prstGeom>
          <a:noFill/>
        </p:spPr>
        <p:txBody>
          <a:bodyPr wrap="none" lIns="36576" rIns="36576" tIns="36576" bIns="36576" anchor="t">
            <a:spAutoFit/>
          </a:bodyPr>
          <a:lstStyle/>
          <a:p>
            <a:pPr algn="ctr"/>
            <a:r>
              <a:rPr sz="1200" b="0">
                <a:solidFill>
                  <a:srgbClr val="5B6773"/>
                </a:solidFill>
                <a:latin typeface="Arial"/>
              </a:rPr>
              <a:t>Tendency 71 kênh</a:t>
            </a:r>
          </a:p>
        </p:txBody>
      </p:sp>
      <p:cxnSp>
        <p:nvCxnSpPr>
          <p:cNvPr id="20" name="Connector 19"/>
          <p:cNvCxnSpPr/>
          <p:nvPr/>
        </p:nvCxnSpPr>
        <p:spPr>
          <a:xfrm>
            <a:off x="2468880" y="1700784"/>
            <a:ext cx="457200" cy="0"/>
          </a:xfrm>
          <a:prstGeom prst="line">
            <a:avLst/>
          </a:prstGeom>
          <a:ln w="25400">
            <a:solidFill>
              <a:srgbClr val="1976D2"/>
            </a:solidFill>
            <a:tailEnd type="triangle" w="sm" len="sm"/>
          </a:ln>
        </p:spPr>
        <p:style>
          <a:lnRef idx="2">
            <a:schemeClr val="accent1"/>
          </a:lnRef>
          <a:fillRef idx="0">
            <a:schemeClr val="accent1"/>
          </a:fillRef>
          <a:effectRef idx="0">
            <a:schemeClr val="accent1"/>
          </a:effectRef>
          <a:fontRef idx="minor">
            <a:schemeClr val="tx1"/>
          </a:fontRef>
        </p:style>
      </p:cxnSp>
      <p:cxnSp>
        <p:nvCxnSpPr>
          <p:cNvPr id="21" name="Connector 20"/>
          <p:cNvCxnSpPr/>
          <p:nvPr/>
        </p:nvCxnSpPr>
        <p:spPr>
          <a:xfrm>
            <a:off x="5486400" y="1700784"/>
            <a:ext cx="411480" cy="0"/>
          </a:xfrm>
          <a:prstGeom prst="line">
            <a:avLst/>
          </a:prstGeom>
          <a:ln w="25400">
            <a:solidFill>
              <a:srgbClr val="1976D2"/>
            </a:solidFill>
            <a:tailEnd type="triangle" w="sm" len="sm"/>
          </a:ln>
        </p:spPr>
        <p:style>
          <a:lnRef idx="2">
            <a:schemeClr val="accent1"/>
          </a:lnRef>
          <a:fillRef idx="0">
            <a:schemeClr val="accent1"/>
          </a:fillRef>
          <a:effectRef idx="0">
            <a:schemeClr val="accent1"/>
          </a:effectRef>
          <a:fontRef idx="minor">
            <a:schemeClr val="tx1"/>
          </a:fontRef>
        </p:style>
      </p:cxnSp>
      <p:cxnSp>
        <p:nvCxnSpPr>
          <p:cNvPr id="22" name="Connector 21"/>
          <p:cNvCxnSpPr/>
          <p:nvPr/>
        </p:nvCxnSpPr>
        <p:spPr>
          <a:xfrm>
            <a:off x="8229600" y="1700784"/>
            <a:ext cx="1005840" cy="0"/>
          </a:xfrm>
          <a:prstGeom prst="line">
            <a:avLst/>
          </a:prstGeom>
          <a:ln w="25400">
            <a:solidFill>
              <a:srgbClr val="1976D2"/>
            </a:solidFill>
            <a:tailEnd type="triangle" w="sm" len="sm"/>
          </a:ln>
        </p:spPr>
        <p:style>
          <a:lnRef idx="2">
            <a:schemeClr val="accent1"/>
          </a:lnRef>
          <a:fillRef idx="0">
            <a:schemeClr val="accent1"/>
          </a:fillRef>
          <a:effectRef idx="0">
            <a:schemeClr val="accent1"/>
          </a:effectRef>
          <a:fontRef idx="minor">
            <a:schemeClr val="tx1"/>
          </a:fontRef>
        </p:style>
      </p:cxnSp>
      <p:sp>
        <p:nvSpPr>
          <p:cNvPr id="23" name="Rounded Rectangle 22"/>
          <p:cNvSpPr/>
          <p:nvPr/>
        </p:nvSpPr>
        <p:spPr>
          <a:xfrm>
            <a:off x="548640" y="2834640"/>
            <a:ext cx="2651760" cy="1024128"/>
          </a:xfrm>
          <a:prstGeom prst="roundRect">
            <a:avLst>
              <a:gd name="adj" fmla="val 12000"/>
            </a:avLst>
          </a:prstGeom>
          <a:solidFill>
            <a:srgbClr val="EEF5FB"/>
          </a:solidFill>
          <a:ln w="12700">
            <a:solidFill>
              <a:srgbClr val="1976D2"/>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640080" y="2944368"/>
            <a:ext cx="2468879" cy="429768"/>
          </a:xfrm>
          <a:prstGeom prst="rect">
            <a:avLst/>
          </a:prstGeom>
          <a:noFill/>
        </p:spPr>
        <p:txBody>
          <a:bodyPr wrap="none" lIns="36576" rIns="36576" tIns="36576" bIns="36576" anchor="t">
            <a:spAutoFit/>
          </a:bodyPr>
          <a:lstStyle/>
          <a:p>
            <a:pPr algn="ctr"/>
            <a:r>
              <a:rPr sz="1400" b="1">
                <a:solidFill>
                  <a:srgbClr val="20384F"/>
                </a:solidFill>
                <a:latin typeface="Arial"/>
              </a:rPr>
              <a:t>Recent tendency</a:t>
            </a:r>
          </a:p>
        </p:txBody>
      </p:sp>
      <p:sp>
        <p:nvSpPr>
          <p:cNvPr id="25" name="TextBox 24"/>
          <p:cNvSpPr txBox="1"/>
          <p:nvPr/>
        </p:nvSpPr>
        <p:spPr>
          <a:xfrm>
            <a:off x="640080" y="3401568"/>
            <a:ext cx="2468879" cy="402336"/>
          </a:xfrm>
          <a:prstGeom prst="rect">
            <a:avLst/>
          </a:prstGeom>
          <a:noFill/>
        </p:spPr>
        <p:txBody>
          <a:bodyPr wrap="none" lIns="36576" rIns="36576" tIns="36576" bIns="36576" anchor="t">
            <a:spAutoFit/>
          </a:bodyPr>
          <a:lstStyle/>
          <a:p>
            <a:pPr algn="ctr"/>
            <a:r>
              <a:rPr sz="1200" b="0">
                <a:solidFill>
                  <a:srgbClr val="5B6773"/>
                </a:solidFill>
                <a:latin typeface="Arial"/>
              </a:rPr>
              <a:t>[x(t)−x(t−6h)] / s</a:t>
            </a:r>
          </a:p>
        </p:txBody>
      </p:sp>
      <p:sp>
        <p:nvSpPr>
          <p:cNvPr id="26" name="Rounded Rectangle 25"/>
          <p:cNvSpPr/>
          <p:nvPr/>
        </p:nvSpPr>
        <p:spPr>
          <a:xfrm>
            <a:off x="548640" y="4297680"/>
            <a:ext cx="2651760" cy="1024128"/>
          </a:xfrm>
          <a:prstGeom prst="roundRect">
            <a:avLst>
              <a:gd name="adj" fmla="val 12000"/>
            </a:avLst>
          </a:prstGeom>
          <a:solidFill>
            <a:srgbClr val="EEF5FB"/>
          </a:solidFill>
          <a:ln w="12700">
            <a:solidFill>
              <a:srgbClr val="1976D2"/>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TextBox 26"/>
          <p:cNvSpPr txBox="1"/>
          <p:nvPr/>
        </p:nvSpPr>
        <p:spPr>
          <a:xfrm>
            <a:off x="640080" y="4407408"/>
            <a:ext cx="2468879" cy="429768"/>
          </a:xfrm>
          <a:prstGeom prst="rect">
            <a:avLst/>
          </a:prstGeom>
          <a:noFill/>
        </p:spPr>
        <p:txBody>
          <a:bodyPr wrap="none" lIns="36576" rIns="36576" tIns="36576" bIns="36576" anchor="t">
            <a:spAutoFit/>
          </a:bodyPr>
          <a:lstStyle/>
          <a:p>
            <a:pPr algn="ctr"/>
            <a:r>
              <a:rPr sz="1400" b="1">
                <a:solidFill>
                  <a:srgbClr val="20384F"/>
                </a:solidFill>
                <a:latin typeface="Arial"/>
              </a:rPr>
              <a:t>Forcing và latitude features</a:t>
            </a:r>
          </a:p>
        </p:txBody>
      </p:sp>
      <p:sp>
        <p:nvSpPr>
          <p:cNvPr id="28" name="TextBox 27"/>
          <p:cNvSpPr txBox="1"/>
          <p:nvPr/>
        </p:nvSpPr>
        <p:spPr>
          <a:xfrm>
            <a:off x="640080" y="4864608"/>
            <a:ext cx="2468879" cy="402336"/>
          </a:xfrm>
          <a:prstGeom prst="rect">
            <a:avLst/>
          </a:prstGeom>
          <a:noFill/>
        </p:spPr>
        <p:txBody>
          <a:bodyPr wrap="none" lIns="36576" rIns="36576" tIns="36576" bIns="36576" anchor="t">
            <a:spAutoFit/>
          </a:bodyPr>
          <a:lstStyle/>
          <a:p>
            <a:pPr algn="ctr"/>
            <a:r>
              <a:rPr sz="1200" b="0">
                <a:solidFill>
                  <a:srgbClr val="5B6773"/>
                </a:solidFill>
                <a:latin typeface="Arial"/>
              </a:rPr>
              <a:t>7 + 2 kênh</a:t>
            </a:r>
          </a:p>
        </p:txBody>
      </p:sp>
      <p:sp>
        <p:nvSpPr>
          <p:cNvPr id="29" name="Rounded Rectangle 28"/>
          <p:cNvSpPr/>
          <p:nvPr/>
        </p:nvSpPr>
        <p:spPr>
          <a:xfrm>
            <a:off x="4160520" y="3337560"/>
            <a:ext cx="2926080" cy="1097280"/>
          </a:xfrm>
          <a:prstGeom prst="roundRect">
            <a:avLst>
              <a:gd name="adj" fmla="val 12000"/>
            </a:avLst>
          </a:prstGeom>
          <a:solidFill>
            <a:srgbClr val="EEF5FB"/>
          </a:solidFill>
          <a:ln w="12700">
            <a:solidFill>
              <a:srgbClr val="1976D2"/>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TextBox 29"/>
          <p:cNvSpPr txBox="1"/>
          <p:nvPr/>
        </p:nvSpPr>
        <p:spPr>
          <a:xfrm>
            <a:off x="4251959" y="3447288"/>
            <a:ext cx="2743200" cy="429768"/>
          </a:xfrm>
          <a:prstGeom prst="rect">
            <a:avLst/>
          </a:prstGeom>
          <a:noFill/>
        </p:spPr>
        <p:txBody>
          <a:bodyPr wrap="none" lIns="36576" rIns="36576" tIns="36576" bIns="36576" anchor="t">
            <a:spAutoFit/>
          </a:bodyPr>
          <a:lstStyle/>
          <a:p>
            <a:pPr algn="ctr"/>
            <a:r>
              <a:rPr sz="1400" b="1">
                <a:solidFill>
                  <a:srgbClr val="20384F"/>
                </a:solidFill>
                <a:latin typeface="Arial"/>
              </a:rPr>
              <a:t>Concatenate</a:t>
            </a:r>
          </a:p>
        </p:txBody>
      </p:sp>
      <p:sp>
        <p:nvSpPr>
          <p:cNvPr id="31" name="TextBox 30"/>
          <p:cNvSpPr txBox="1"/>
          <p:nvPr/>
        </p:nvSpPr>
        <p:spPr>
          <a:xfrm>
            <a:off x="4251959" y="3904487"/>
            <a:ext cx="2743200" cy="475487"/>
          </a:xfrm>
          <a:prstGeom prst="rect">
            <a:avLst/>
          </a:prstGeom>
          <a:noFill/>
        </p:spPr>
        <p:txBody>
          <a:bodyPr wrap="none" lIns="36576" rIns="36576" tIns="36576" bIns="36576" anchor="t">
            <a:spAutoFit/>
          </a:bodyPr>
          <a:lstStyle/>
          <a:p>
            <a:pPr algn="ctr"/>
            <a:r>
              <a:rPr sz="1200" b="0">
                <a:solidFill>
                  <a:srgbClr val="5B6773"/>
                </a:solidFill>
                <a:latin typeface="Arial"/>
              </a:rPr>
              <a:t>71 + 71 + 71 + 7 + 2</a:t>
            </a:r>
          </a:p>
        </p:txBody>
      </p:sp>
      <p:sp>
        <p:nvSpPr>
          <p:cNvPr id="32" name="Rounded Rectangle 31"/>
          <p:cNvSpPr/>
          <p:nvPr/>
        </p:nvSpPr>
        <p:spPr>
          <a:xfrm>
            <a:off x="8138160" y="3337560"/>
            <a:ext cx="3474720" cy="1097280"/>
          </a:xfrm>
          <a:prstGeom prst="roundRect">
            <a:avLst>
              <a:gd name="adj" fmla="val 12000"/>
            </a:avLst>
          </a:prstGeom>
          <a:solidFill>
            <a:srgbClr val="EEF5FB"/>
          </a:solidFill>
          <a:ln w="12700">
            <a:solidFill>
              <a:srgbClr val="1976D2"/>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TextBox 32"/>
          <p:cNvSpPr txBox="1"/>
          <p:nvPr/>
        </p:nvSpPr>
        <p:spPr>
          <a:xfrm>
            <a:off x="8229600" y="3447288"/>
            <a:ext cx="3291839" cy="429768"/>
          </a:xfrm>
          <a:prstGeom prst="rect">
            <a:avLst/>
          </a:prstGeom>
          <a:noFill/>
        </p:spPr>
        <p:txBody>
          <a:bodyPr wrap="none" lIns="36576" rIns="36576" tIns="36576" bIns="36576" anchor="t">
            <a:spAutoFit/>
          </a:bodyPr>
          <a:lstStyle/>
          <a:p>
            <a:pPr algn="ctr"/>
            <a:r>
              <a:rPr sz="1400" b="1">
                <a:solidFill>
                  <a:srgbClr val="20384F"/>
                </a:solidFill>
                <a:latin typeface="Arial"/>
              </a:rPr>
              <a:t>Corrector E84/L4</a:t>
            </a:r>
          </a:p>
        </p:txBody>
      </p:sp>
      <p:sp>
        <p:nvSpPr>
          <p:cNvPr id="34" name="TextBox 33"/>
          <p:cNvSpPr txBox="1"/>
          <p:nvPr/>
        </p:nvSpPr>
        <p:spPr>
          <a:xfrm>
            <a:off x="8229600" y="3904487"/>
            <a:ext cx="3291839" cy="475487"/>
          </a:xfrm>
          <a:prstGeom prst="rect">
            <a:avLst/>
          </a:prstGeom>
          <a:noFill/>
        </p:spPr>
        <p:txBody>
          <a:bodyPr wrap="none" lIns="36576" rIns="36576" tIns="36576" bIns="36576" anchor="t">
            <a:spAutoFit/>
          </a:bodyPr>
          <a:lstStyle/>
          <a:p>
            <a:pPr algn="ctr"/>
            <a:r>
              <a:rPr sz="1200" b="0">
                <a:solidFill>
                  <a:srgbClr val="5B6773"/>
                </a:solidFill>
                <a:latin typeface="Arial"/>
              </a:rPr>
              <a:t>222 → 71 kênh</a:t>
            </a:r>
          </a:p>
        </p:txBody>
      </p:sp>
      <p:cxnSp>
        <p:nvCxnSpPr>
          <p:cNvPr id="35" name="Connector 34"/>
          <p:cNvCxnSpPr/>
          <p:nvPr/>
        </p:nvCxnSpPr>
        <p:spPr>
          <a:xfrm>
            <a:off x="3246120" y="3346704"/>
            <a:ext cx="868680" cy="310896"/>
          </a:xfrm>
          <a:prstGeom prst="line">
            <a:avLst/>
          </a:prstGeom>
          <a:ln w="25400">
            <a:solidFill>
              <a:srgbClr val="2E8B57"/>
            </a:solidFill>
            <a:tailEnd type="triangle" w="sm" len="sm"/>
          </a:ln>
        </p:spPr>
        <p:style>
          <a:lnRef idx="2">
            <a:schemeClr val="accent1"/>
          </a:lnRef>
          <a:fillRef idx="0">
            <a:schemeClr val="accent1"/>
          </a:fillRef>
          <a:effectRef idx="0">
            <a:schemeClr val="accent1"/>
          </a:effectRef>
          <a:fontRef idx="minor">
            <a:schemeClr val="tx1"/>
          </a:fontRef>
        </p:style>
      </p:cxnSp>
      <p:cxnSp>
        <p:nvCxnSpPr>
          <p:cNvPr id="36" name="Connector 35"/>
          <p:cNvCxnSpPr/>
          <p:nvPr/>
        </p:nvCxnSpPr>
        <p:spPr>
          <a:xfrm flipV="1">
            <a:off x="3246120" y="4114800"/>
            <a:ext cx="868680" cy="694944"/>
          </a:xfrm>
          <a:prstGeom prst="line">
            <a:avLst/>
          </a:prstGeom>
          <a:ln w="25400">
            <a:solidFill>
              <a:srgbClr val="2E8B57"/>
            </a:solidFill>
            <a:tailEnd type="triangle" w="sm" len="sm"/>
          </a:ln>
        </p:spPr>
        <p:style>
          <a:lnRef idx="2">
            <a:schemeClr val="accent1"/>
          </a:lnRef>
          <a:fillRef idx="0">
            <a:schemeClr val="accent1"/>
          </a:fillRef>
          <a:effectRef idx="0">
            <a:schemeClr val="accent1"/>
          </a:effectRef>
          <a:fontRef idx="minor">
            <a:schemeClr val="tx1"/>
          </a:fontRef>
        </p:style>
      </p:cxnSp>
      <p:cxnSp>
        <p:nvCxnSpPr>
          <p:cNvPr id="37" name="Connector 36"/>
          <p:cNvCxnSpPr/>
          <p:nvPr/>
        </p:nvCxnSpPr>
        <p:spPr>
          <a:xfrm>
            <a:off x="1481328" y="2267712"/>
            <a:ext cx="0" cy="292608"/>
          </a:xfrm>
          <a:prstGeom prst="line">
            <a:avLst/>
          </a:prstGeom>
          <a:ln w="25400">
            <a:solidFill>
              <a:srgbClr val="2E8B57"/>
            </a:solidFill>
            <a:tailEnd type="triangle" w="sm" len="sm"/>
          </a:ln>
        </p:spPr>
        <p:style>
          <a:lnRef idx="2">
            <a:schemeClr val="accent1"/>
          </a:lnRef>
          <a:fillRef idx="0">
            <a:schemeClr val="accent1"/>
          </a:fillRef>
          <a:effectRef idx="0">
            <a:schemeClr val="accent1"/>
          </a:effectRef>
          <a:fontRef idx="minor">
            <a:schemeClr val="tx1"/>
          </a:fontRef>
        </p:style>
      </p:cxnSp>
      <p:cxnSp>
        <p:nvCxnSpPr>
          <p:cNvPr id="38" name="Connector 37"/>
          <p:cNvCxnSpPr/>
          <p:nvPr/>
        </p:nvCxnSpPr>
        <p:spPr>
          <a:xfrm>
            <a:off x="1481328" y="2560320"/>
            <a:ext cx="4142232" cy="0"/>
          </a:xfrm>
          <a:prstGeom prst="line">
            <a:avLst/>
          </a:prstGeom>
          <a:ln w="25400">
            <a:solidFill>
              <a:srgbClr val="2E8B57"/>
            </a:solidFill>
            <a:tailEnd type="triangle" w="sm" len="sm"/>
          </a:ln>
        </p:spPr>
        <p:style>
          <a:lnRef idx="2">
            <a:schemeClr val="accent1"/>
          </a:lnRef>
          <a:fillRef idx="0">
            <a:schemeClr val="accent1"/>
          </a:fillRef>
          <a:effectRef idx="0">
            <a:schemeClr val="accent1"/>
          </a:effectRef>
          <a:fontRef idx="minor">
            <a:schemeClr val="tx1"/>
          </a:fontRef>
        </p:style>
      </p:cxnSp>
      <p:cxnSp>
        <p:nvCxnSpPr>
          <p:cNvPr id="39" name="Connector 38"/>
          <p:cNvCxnSpPr/>
          <p:nvPr/>
        </p:nvCxnSpPr>
        <p:spPr>
          <a:xfrm>
            <a:off x="5623560" y="2560320"/>
            <a:ext cx="0" cy="731520"/>
          </a:xfrm>
          <a:prstGeom prst="line">
            <a:avLst/>
          </a:prstGeom>
          <a:ln w="25400">
            <a:solidFill>
              <a:srgbClr val="2E8B57"/>
            </a:solidFill>
            <a:tailEnd type="triangle" w="sm" len="sm"/>
          </a:ln>
        </p:spPr>
        <p:style>
          <a:lnRef idx="2">
            <a:schemeClr val="accent1"/>
          </a:lnRef>
          <a:fillRef idx="0">
            <a:schemeClr val="accent1"/>
          </a:fillRef>
          <a:effectRef idx="0">
            <a:schemeClr val="accent1"/>
          </a:effectRef>
          <a:fontRef idx="minor">
            <a:schemeClr val="tx1"/>
          </a:fontRef>
        </p:style>
      </p:cxnSp>
      <p:cxnSp>
        <p:nvCxnSpPr>
          <p:cNvPr id="40" name="Connector 39"/>
          <p:cNvCxnSpPr/>
          <p:nvPr/>
        </p:nvCxnSpPr>
        <p:spPr>
          <a:xfrm>
            <a:off x="7068312" y="2267712"/>
            <a:ext cx="0" cy="502920"/>
          </a:xfrm>
          <a:prstGeom prst="line">
            <a:avLst/>
          </a:prstGeom>
          <a:ln w="25400">
            <a:solidFill>
              <a:srgbClr val="2E8B57"/>
            </a:solidFill>
            <a:tailEnd type="triangle" w="sm" len="sm"/>
          </a:ln>
        </p:spPr>
        <p:style>
          <a:lnRef idx="2">
            <a:schemeClr val="accent1"/>
          </a:lnRef>
          <a:fillRef idx="0">
            <a:schemeClr val="accent1"/>
          </a:fillRef>
          <a:effectRef idx="0">
            <a:schemeClr val="accent1"/>
          </a:effectRef>
          <a:fontRef idx="minor">
            <a:schemeClr val="tx1"/>
          </a:fontRef>
        </p:style>
      </p:cxnSp>
      <p:cxnSp>
        <p:nvCxnSpPr>
          <p:cNvPr id="41" name="Connector 40"/>
          <p:cNvCxnSpPr/>
          <p:nvPr/>
        </p:nvCxnSpPr>
        <p:spPr>
          <a:xfrm flipH="1">
            <a:off x="6217920" y="2770632"/>
            <a:ext cx="850392" cy="0"/>
          </a:xfrm>
          <a:prstGeom prst="line">
            <a:avLst/>
          </a:prstGeom>
          <a:ln w="25400">
            <a:solidFill>
              <a:srgbClr val="2E8B57"/>
            </a:solidFill>
            <a:tailEnd type="triangle" w="sm" len="sm"/>
          </a:ln>
        </p:spPr>
        <p:style>
          <a:lnRef idx="2">
            <a:schemeClr val="accent1"/>
          </a:lnRef>
          <a:fillRef idx="0">
            <a:schemeClr val="accent1"/>
          </a:fillRef>
          <a:effectRef idx="0">
            <a:schemeClr val="accent1"/>
          </a:effectRef>
          <a:fontRef idx="minor">
            <a:schemeClr val="tx1"/>
          </a:fontRef>
        </p:style>
      </p:cxnSp>
      <p:cxnSp>
        <p:nvCxnSpPr>
          <p:cNvPr id="42" name="Connector 41"/>
          <p:cNvCxnSpPr/>
          <p:nvPr/>
        </p:nvCxnSpPr>
        <p:spPr>
          <a:xfrm>
            <a:off x="6217920" y="2770632"/>
            <a:ext cx="0" cy="521208"/>
          </a:xfrm>
          <a:prstGeom prst="line">
            <a:avLst/>
          </a:prstGeom>
          <a:ln w="25400">
            <a:solidFill>
              <a:srgbClr val="2E8B57"/>
            </a:solidFill>
            <a:tailEnd type="triangle" w="sm" len="sm"/>
          </a:ln>
        </p:spPr>
        <p:style>
          <a:lnRef idx="2">
            <a:schemeClr val="accent1"/>
          </a:lnRef>
          <a:fillRef idx="0">
            <a:schemeClr val="accent1"/>
          </a:fillRef>
          <a:effectRef idx="0">
            <a:schemeClr val="accent1"/>
          </a:effectRef>
          <a:fontRef idx="minor">
            <a:schemeClr val="tx1"/>
          </a:fontRef>
        </p:style>
      </p:cxnSp>
      <p:sp>
        <p:nvSpPr>
          <p:cNvPr id="43" name="TextBox 42"/>
          <p:cNvSpPr txBox="1"/>
          <p:nvPr/>
        </p:nvSpPr>
        <p:spPr>
          <a:xfrm>
            <a:off x="7178040" y="2450592"/>
            <a:ext cx="1783080" cy="219456"/>
          </a:xfrm>
          <a:prstGeom prst="rect">
            <a:avLst/>
          </a:prstGeom>
          <a:noFill/>
        </p:spPr>
        <p:txBody>
          <a:bodyPr wrap="none" lIns="36576" rIns="36576" tIns="36576" bIns="36576" anchor="t">
            <a:spAutoFit/>
          </a:bodyPr>
          <a:lstStyle/>
          <a:p>
            <a:pPr algn="l"/>
            <a:r>
              <a:rPr sz="1200" b="0">
                <a:solidFill>
                  <a:srgbClr val="5B6773"/>
                </a:solidFill>
                <a:latin typeface="Arial"/>
              </a:rPr>
              <a:t>stop-gradient</a:t>
            </a:r>
          </a:p>
        </p:txBody>
      </p:sp>
      <p:cxnSp>
        <p:nvCxnSpPr>
          <p:cNvPr id="44" name="Connector 43"/>
          <p:cNvCxnSpPr/>
          <p:nvPr/>
        </p:nvCxnSpPr>
        <p:spPr>
          <a:xfrm>
            <a:off x="7132320" y="3886200"/>
            <a:ext cx="960120" cy="0"/>
          </a:xfrm>
          <a:prstGeom prst="line">
            <a:avLst/>
          </a:prstGeom>
          <a:ln w="25400">
            <a:solidFill>
              <a:srgbClr val="2E8B57"/>
            </a:solidFill>
            <a:tailEnd type="triangle" w="sm" len="sm"/>
          </a:ln>
        </p:spPr>
        <p:style>
          <a:lnRef idx="2">
            <a:schemeClr val="accent1"/>
          </a:lnRef>
          <a:fillRef idx="0">
            <a:schemeClr val="accent1"/>
          </a:fillRef>
          <a:effectRef idx="0">
            <a:schemeClr val="accent1"/>
          </a:effectRef>
          <a:fontRef idx="minor">
            <a:schemeClr val="tx1"/>
          </a:fontRef>
        </p:style>
      </p:cxnSp>
      <p:cxnSp>
        <p:nvCxnSpPr>
          <p:cNvPr id="45" name="Connector 44"/>
          <p:cNvCxnSpPr/>
          <p:nvPr/>
        </p:nvCxnSpPr>
        <p:spPr>
          <a:xfrm flipV="1">
            <a:off x="10332720" y="2267712"/>
            <a:ext cx="0" cy="1024128"/>
          </a:xfrm>
          <a:prstGeom prst="line">
            <a:avLst/>
          </a:prstGeom>
          <a:ln w="25400">
            <a:solidFill>
              <a:srgbClr val="2E8B57"/>
            </a:solidFill>
            <a:tailEnd type="triangle" w="sm" len="sm"/>
          </a:ln>
        </p:spPr>
        <p:style>
          <a:lnRef idx="2">
            <a:schemeClr val="accent1"/>
          </a:lnRef>
          <a:fillRef idx="0">
            <a:schemeClr val="accent1"/>
          </a:fillRef>
          <a:effectRef idx="0">
            <a:schemeClr val="accent1"/>
          </a:effectRef>
          <a:fontRef idx="minor">
            <a:schemeClr val="tx1"/>
          </a:fontRef>
        </p:style>
      </p:cxnSp>
      <p:sp>
        <p:nvSpPr>
          <p:cNvPr id="46" name="TextBox 45"/>
          <p:cNvSpPr txBox="1"/>
          <p:nvPr/>
        </p:nvSpPr>
        <p:spPr>
          <a:xfrm>
            <a:off x="914400" y="5879592"/>
            <a:ext cx="10241280" cy="310896"/>
          </a:xfrm>
          <a:prstGeom prst="rect">
            <a:avLst/>
          </a:prstGeom>
          <a:noFill/>
        </p:spPr>
        <p:txBody>
          <a:bodyPr wrap="none" lIns="36576" rIns="36576" tIns="36576" bIns="36576" anchor="t">
            <a:spAutoFit/>
          </a:bodyPr>
          <a:lstStyle/>
          <a:p>
            <a:pPr algn="ctr"/>
            <a:r>
              <a:rPr sz="1600" b="1">
                <a:solidFill>
                  <a:srgbClr val="20384F"/>
                </a:solidFill>
                <a:latin typeface="Arial"/>
              </a:rPr>
              <a:t>History input có 142 kênh; backbone nhận 71; corrector nhận 222.</a:t>
            </a:r>
          </a:p>
        </p:txBody>
      </p:sp>
      <p:sp>
        <p:nvSpPr>
          <p:cNvPr id="47" name="TextBox 46"/>
          <p:cNvSpPr txBox="1"/>
          <p:nvPr/>
        </p:nvSpPr>
        <p:spPr>
          <a:xfrm>
            <a:off x="731520" y="6108192"/>
            <a:ext cx="10789920" cy="228600"/>
          </a:xfrm>
          <a:prstGeom prst="rect">
            <a:avLst/>
          </a:prstGeom>
          <a:noFill/>
        </p:spPr>
        <p:txBody>
          <a:bodyPr wrap="none" lIns="36576" rIns="36576" tIns="36576" bIns="36576" anchor="t">
            <a:spAutoFit/>
          </a:bodyPr>
          <a:lstStyle/>
          <a:p>
            <a:pPr algn="ctr"/>
            <a:r>
              <a:rPr sz="1200" b="0">
                <a:solidFill>
                  <a:srgbClr val="5B6773"/>
                </a:solidFill>
                <a:latin typeface="Arial"/>
              </a:rPr>
              <a:t>Corrector: scale_factor=1 · 361 × 720 · decoder khởi tạo bằng 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hcmute.png"/>
          <p:cNvPicPr>
            <a:picLocks noChangeAspect="1"/>
          </p:cNvPicPr>
          <p:nvPr/>
        </p:nvPicPr>
        <p:blipFill>
          <a:blip r:embed="rId2"/>
          <a:stretch>
            <a:fillRect/>
          </a:stretch>
        </p:blipFill>
        <p:spPr>
          <a:xfrm>
            <a:off x="320040" y="182880"/>
            <a:ext cx="524439" cy="438912"/>
          </a:xfrm>
          <a:prstGeom prst="rect">
            <a:avLst/>
          </a:prstGeom>
        </p:spPr>
      </p:pic>
      <p:sp>
        <p:nvSpPr>
          <p:cNvPr id="3" name="Rectangle 2"/>
          <p:cNvSpPr/>
          <p:nvPr/>
        </p:nvSpPr>
        <p:spPr>
          <a:xfrm>
            <a:off x="292608" y="713232"/>
            <a:ext cx="11594592" cy="41148"/>
          </a:xfrm>
          <a:prstGeom prst="rect">
            <a:avLst/>
          </a:prstGeom>
          <a:solidFill>
            <a:srgbClr val="1976D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 name="TextBox 3"/>
          <p:cNvSpPr txBox="1"/>
          <p:nvPr/>
        </p:nvSpPr>
        <p:spPr>
          <a:xfrm>
            <a:off x="941832" y="182880"/>
            <a:ext cx="9646920" cy="365760"/>
          </a:xfrm>
          <a:prstGeom prst="rect">
            <a:avLst/>
          </a:prstGeom>
          <a:noFill/>
        </p:spPr>
        <p:txBody>
          <a:bodyPr wrap="none" lIns="36576" rIns="36576" tIns="36576" bIns="36576" anchor="t">
            <a:spAutoFit/>
          </a:bodyPr>
          <a:lstStyle/>
          <a:p>
            <a:pPr algn="l"/>
            <a:r>
              <a:rPr sz="2300" b="1">
                <a:solidFill>
                  <a:srgbClr val="20384F"/>
                </a:solidFill>
                <a:latin typeface="Arial"/>
              </a:rPr>
              <a:t>Fine-tuning theo hai giai đoạn</a:t>
            </a:r>
          </a:p>
        </p:txBody>
      </p:sp>
      <p:sp>
        <p:nvSpPr>
          <p:cNvPr id="5" name="TextBox 4"/>
          <p:cNvSpPr txBox="1"/>
          <p:nvPr/>
        </p:nvSpPr>
        <p:spPr>
          <a:xfrm>
            <a:off x="11228832" y="256032"/>
            <a:ext cx="384048" cy="182880"/>
          </a:xfrm>
          <a:prstGeom prst="rect">
            <a:avLst/>
          </a:prstGeom>
          <a:noFill/>
        </p:spPr>
        <p:txBody>
          <a:bodyPr wrap="none" lIns="36576" rIns="36576" tIns="36576" bIns="36576" anchor="t">
            <a:spAutoFit/>
          </a:bodyPr>
          <a:lstStyle/>
          <a:p>
            <a:pPr algn="r"/>
            <a:r>
              <a:rPr sz="1000" b="1">
                <a:solidFill>
                  <a:srgbClr val="1976D2"/>
                </a:solidFill>
                <a:latin typeface="Arial"/>
              </a:rPr>
              <a:t>17</a:t>
            </a:r>
          </a:p>
        </p:txBody>
      </p:sp>
      <p:sp>
        <p:nvSpPr>
          <p:cNvPr id="6" name="TextBox 5"/>
          <p:cNvSpPr txBox="1"/>
          <p:nvPr/>
        </p:nvSpPr>
        <p:spPr>
          <a:xfrm>
            <a:off x="365760" y="6583680"/>
            <a:ext cx="4754880" cy="146304"/>
          </a:xfrm>
          <a:prstGeom prst="rect">
            <a:avLst/>
          </a:prstGeom>
          <a:noFill/>
        </p:spPr>
        <p:txBody>
          <a:bodyPr wrap="none" lIns="36576" rIns="36576" tIns="36576" bIns="36576" anchor="t">
            <a:spAutoFit/>
          </a:bodyPr>
          <a:lstStyle/>
          <a:p>
            <a:pPr algn="l"/>
            <a:r>
              <a:rPr sz="620" b="0">
                <a:solidFill>
                  <a:srgbClr val="8794A1"/>
                </a:solidFill>
                <a:latin typeface="Arial"/>
              </a:rPr>
              <a:t>Lương Nguyễn Thành Hưng · NeuralAtmosphereOperator</a:t>
            </a:r>
          </a:p>
        </p:txBody>
      </p:sp>
      <p:sp>
        <p:nvSpPr>
          <p:cNvPr id="7" name="TextBox 6"/>
          <p:cNvSpPr txBox="1"/>
          <p:nvPr/>
        </p:nvSpPr>
        <p:spPr>
          <a:xfrm>
            <a:off x="10332720" y="6583680"/>
            <a:ext cx="1325880" cy="146304"/>
          </a:xfrm>
          <a:prstGeom prst="rect">
            <a:avLst/>
          </a:prstGeom>
          <a:noFill/>
        </p:spPr>
        <p:txBody>
          <a:bodyPr wrap="none" lIns="36576" rIns="36576" tIns="36576" bIns="36576" anchor="t">
            <a:spAutoFit/>
          </a:bodyPr>
          <a:lstStyle/>
          <a:p>
            <a:pPr algn="r"/>
            <a:r>
              <a:rPr sz="620" b="0">
                <a:solidFill>
                  <a:srgbClr val="8794A1"/>
                </a:solidFill>
                <a:latin typeface="Arial"/>
              </a:rPr>
              <a:t>Stage 1 → Stage 2</a:t>
            </a:r>
          </a:p>
        </p:txBody>
      </p:sp>
      <p:sp>
        <p:nvSpPr>
          <p:cNvPr id="8" name="Rectangle 7"/>
          <p:cNvSpPr/>
          <p:nvPr/>
        </p:nvSpPr>
        <p:spPr>
          <a:xfrm>
            <a:off x="1005840" y="1993392"/>
            <a:ext cx="9966960" cy="91440"/>
          </a:xfrm>
          <a:prstGeom prst="rect">
            <a:avLst/>
          </a:prstGeom>
          <a:solidFill>
            <a:srgbClr val="A9B7C6"/>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Oval 8"/>
          <p:cNvSpPr/>
          <p:nvPr/>
        </p:nvSpPr>
        <p:spPr>
          <a:xfrm>
            <a:off x="1051560" y="1719072"/>
            <a:ext cx="566928" cy="566928"/>
          </a:xfrm>
          <a:prstGeom prst="ellipse">
            <a:avLst/>
          </a:prstGeom>
          <a:solidFill>
            <a:srgbClr val="1976D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667512" y="2487168"/>
            <a:ext cx="1325880" cy="219456"/>
          </a:xfrm>
          <a:prstGeom prst="rect">
            <a:avLst/>
          </a:prstGeom>
          <a:noFill/>
        </p:spPr>
        <p:txBody>
          <a:bodyPr wrap="none" lIns="36576" rIns="36576" tIns="36576" bIns="36576" anchor="t">
            <a:spAutoFit/>
          </a:bodyPr>
          <a:lstStyle/>
          <a:p>
            <a:pPr algn="ctr"/>
            <a:r>
              <a:rPr sz="1200" b="1">
                <a:solidFill>
                  <a:srgbClr val="1976D2"/>
                </a:solidFill>
                <a:latin typeface="Arial"/>
              </a:rPr>
              <a:t>Khởi tạo</a:t>
            </a:r>
          </a:p>
        </p:txBody>
      </p:sp>
      <p:sp>
        <p:nvSpPr>
          <p:cNvPr id="11" name="TextBox 10"/>
          <p:cNvSpPr txBox="1"/>
          <p:nvPr/>
        </p:nvSpPr>
        <p:spPr>
          <a:xfrm>
            <a:off x="548639" y="2816352"/>
            <a:ext cx="1600200" cy="182880"/>
          </a:xfrm>
          <a:prstGeom prst="rect">
            <a:avLst/>
          </a:prstGeom>
          <a:noFill/>
        </p:spPr>
        <p:txBody>
          <a:bodyPr wrap="none" lIns="36576" rIns="36576" tIns="36576" bIns="36576" anchor="t">
            <a:spAutoFit/>
          </a:bodyPr>
          <a:lstStyle/>
          <a:p>
            <a:pPr algn="ctr"/>
            <a:r>
              <a:rPr sz="1000" b="0">
                <a:solidFill>
                  <a:srgbClr val="20384F"/>
                </a:solidFill>
                <a:latin typeface="Arial"/>
              </a:rPr>
              <a:t>Sao chép từ Stage 1</a:t>
            </a:r>
          </a:p>
        </p:txBody>
      </p:sp>
      <p:sp>
        <p:nvSpPr>
          <p:cNvPr id="12" name="Oval 11"/>
          <p:cNvSpPr/>
          <p:nvPr/>
        </p:nvSpPr>
        <p:spPr>
          <a:xfrm>
            <a:off x="4114800" y="1719072"/>
            <a:ext cx="566928" cy="566928"/>
          </a:xfrm>
          <a:prstGeom prst="ellipse">
            <a:avLst/>
          </a:prstGeom>
          <a:solidFill>
            <a:srgbClr val="1976D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3730752" y="2487168"/>
            <a:ext cx="1325880" cy="219456"/>
          </a:xfrm>
          <a:prstGeom prst="rect">
            <a:avLst/>
          </a:prstGeom>
          <a:noFill/>
        </p:spPr>
        <p:txBody>
          <a:bodyPr wrap="none" lIns="36576" rIns="36576" tIns="36576" bIns="36576" anchor="t">
            <a:spAutoFit/>
          </a:bodyPr>
          <a:lstStyle/>
          <a:p>
            <a:pPr algn="ctr"/>
            <a:r>
              <a:rPr sz="1200" b="1">
                <a:solidFill>
                  <a:srgbClr val="1976D2"/>
                </a:solidFill>
                <a:latin typeface="Arial"/>
              </a:rPr>
              <a:t>Epoch 1–2</a:t>
            </a:r>
          </a:p>
        </p:txBody>
      </p:sp>
      <p:sp>
        <p:nvSpPr>
          <p:cNvPr id="14" name="TextBox 13"/>
          <p:cNvSpPr txBox="1"/>
          <p:nvPr/>
        </p:nvSpPr>
        <p:spPr>
          <a:xfrm>
            <a:off x="3611880" y="2816352"/>
            <a:ext cx="1600200" cy="182880"/>
          </a:xfrm>
          <a:prstGeom prst="rect">
            <a:avLst/>
          </a:prstGeom>
          <a:noFill/>
        </p:spPr>
        <p:txBody>
          <a:bodyPr wrap="none" lIns="36576" rIns="36576" tIns="36576" bIns="36576" anchor="t">
            <a:spAutoFit/>
          </a:bodyPr>
          <a:lstStyle/>
          <a:p>
            <a:pPr algn="ctr"/>
            <a:r>
              <a:rPr sz="1000" b="0">
                <a:solidFill>
                  <a:srgbClr val="20384F"/>
                </a:solidFill>
                <a:latin typeface="Arial"/>
              </a:rPr>
              <a:t>Chỉ học corrector</a:t>
            </a:r>
          </a:p>
        </p:txBody>
      </p:sp>
      <p:sp>
        <p:nvSpPr>
          <p:cNvPr id="15" name="Oval 14"/>
          <p:cNvSpPr/>
          <p:nvPr/>
        </p:nvSpPr>
        <p:spPr>
          <a:xfrm>
            <a:off x="7315200" y="1719072"/>
            <a:ext cx="566928" cy="566928"/>
          </a:xfrm>
          <a:prstGeom prst="ellipse">
            <a:avLst/>
          </a:prstGeom>
          <a:solidFill>
            <a:srgbClr val="2E8B5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6931152" y="2487168"/>
            <a:ext cx="1325880" cy="219456"/>
          </a:xfrm>
          <a:prstGeom prst="rect">
            <a:avLst/>
          </a:prstGeom>
          <a:noFill/>
        </p:spPr>
        <p:txBody>
          <a:bodyPr wrap="none" lIns="36576" rIns="36576" tIns="36576" bIns="36576" anchor="t">
            <a:spAutoFit/>
          </a:bodyPr>
          <a:lstStyle/>
          <a:p>
            <a:pPr algn="ctr"/>
            <a:r>
              <a:rPr sz="1200" b="1">
                <a:solidFill>
                  <a:srgbClr val="2E8B57"/>
                </a:solidFill>
                <a:latin typeface="Arial"/>
              </a:rPr>
              <a:t>Epoch 3–4</a:t>
            </a:r>
          </a:p>
        </p:txBody>
      </p:sp>
      <p:sp>
        <p:nvSpPr>
          <p:cNvPr id="17" name="TextBox 16"/>
          <p:cNvSpPr txBox="1"/>
          <p:nvPr/>
        </p:nvSpPr>
        <p:spPr>
          <a:xfrm>
            <a:off x="6812280" y="2816352"/>
            <a:ext cx="1600200" cy="182880"/>
          </a:xfrm>
          <a:prstGeom prst="rect">
            <a:avLst/>
          </a:prstGeom>
          <a:noFill/>
        </p:spPr>
        <p:txBody>
          <a:bodyPr wrap="none" lIns="36576" rIns="36576" tIns="36576" bIns="36576" anchor="t">
            <a:spAutoFit/>
          </a:bodyPr>
          <a:lstStyle/>
          <a:p>
            <a:pPr algn="ctr"/>
            <a:r>
              <a:rPr sz="1000" b="0">
                <a:solidFill>
                  <a:srgbClr val="20384F"/>
                </a:solidFill>
                <a:latin typeface="Arial"/>
              </a:rPr>
              <a:t>Corrector + backbone tail</a:t>
            </a:r>
          </a:p>
        </p:txBody>
      </p:sp>
      <p:sp>
        <p:nvSpPr>
          <p:cNvPr id="18" name="Oval 17"/>
          <p:cNvSpPr/>
          <p:nvPr/>
        </p:nvSpPr>
        <p:spPr>
          <a:xfrm>
            <a:off x="10469880" y="1719072"/>
            <a:ext cx="566928" cy="566928"/>
          </a:xfrm>
          <a:prstGeom prst="ellipse">
            <a:avLst/>
          </a:prstGeom>
          <a:solidFill>
            <a:srgbClr val="2E8B5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10085832" y="2487168"/>
            <a:ext cx="1325880" cy="219456"/>
          </a:xfrm>
          <a:prstGeom prst="rect">
            <a:avLst/>
          </a:prstGeom>
          <a:noFill/>
        </p:spPr>
        <p:txBody>
          <a:bodyPr wrap="none" lIns="36576" rIns="36576" tIns="36576" bIns="36576" anchor="t">
            <a:spAutoFit/>
          </a:bodyPr>
          <a:lstStyle/>
          <a:p>
            <a:pPr algn="ctr"/>
            <a:r>
              <a:rPr sz="1200" b="1">
                <a:solidFill>
                  <a:srgbClr val="2E8B57"/>
                </a:solidFill>
                <a:latin typeface="Arial"/>
              </a:rPr>
              <a:t>Được chọn</a:t>
            </a:r>
          </a:p>
        </p:txBody>
      </p:sp>
      <p:sp>
        <p:nvSpPr>
          <p:cNvPr id="20" name="TextBox 19"/>
          <p:cNvSpPr txBox="1"/>
          <p:nvPr/>
        </p:nvSpPr>
        <p:spPr>
          <a:xfrm>
            <a:off x="9966959" y="2816352"/>
            <a:ext cx="1600200" cy="182880"/>
          </a:xfrm>
          <a:prstGeom prst="rect">
            <a:avLst/>
          </a:prstGeom>
          <a:noFill/>
        </p:spPr>
        <p:txBody>
          <a:bodyPr wrap="none" lIns="36576" rIns="36576" tIns="36576" bIns="36576" anchor="t">
            <a:spAutoFit/>
          </a:bodyPr>
          <a:lstStyle/>
          <a:p>
            <a:pPr algn="ctr"/>
            <a:r>
              <a:rPr sz="1000" b="0">
                <a:solidFill>
                  <a:srgbClr val="20384F"/>
                </a:solidFill>
                <a:latin typeface="Arial"/>
              </a:rPr>
              <a:t>epoch 4 (index 3)</a:t>
            </a:r>
          </a:p>
        </p:txBody>
      </p:sp>
      <p:sp>
        <p:nvSpPr>
          <p:cNvPr id="21" name="Rounded Rectangle 20"/>
          <p:cNvSpPr/>
          <p:nvPr/>
        </p:nvSpPr>
        <p:spPr>
          <a:xfrm>
            <a:off x="914400" y="3794760"/>
            <a:ext cx="3154680" cy="1207008"/>
          </a:xfrm>
          <a:prstGeom prst="roundRect">
            <a:avLst>
              <a:gd name="adj" fmla="val 12000"/>
            </a:avLst>
          </a:prstGeom>
          <a:solidFill>
            <a:srgbClr val="F7FAFD"/>
          </a:solidFill>
          <a:ln w="12700">
            <a:solidFill>
              <a:srgbClr val="D3DE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Rectangle 21"/>
          <p:cNvSpPr/>
          <p:nvPr/>
        </p:nvSpPr>
        <p:spPr>
          <a:xfrm>
            <a:off x="914400" y="3794760"/>
            <a:ext cx="3154680" cy="64008"/>
          </a:xfrm>
          <a:prstGeom prst="rect">
            <a:avLst/>
          </a:prstGeom>
          <a:solidFill>
            <a:srgbClr val="1976D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1097280" y="3950208"/>
            <a:ext cx="2788920" cy="429768"/>
          </a:xfrm>
          <a:prstGeom prst="rect">
            <a:avLst/>
          </a:prstGeom>
          <a:noFill/>
        </p:spPr>
        <p:txBody>
          <a:bodyPr wrap="none" lIns="36576" rIns="36576" tIns="36576" bIns="36576" anchor="t">
            <a:spAutoFit/>
          </a:bodyPr>
          <a:lstStyle/>
          <a:p>
            <a:pPr algn="l"/>
            <a:r>
              <a:rPr sz="1600" b="1">
                <a:solidFill>
                  <a:srgbClr val="1976D2"/>
                </a:solidFill>
                <a:latin typeface="Arial"/>
              </a:rPr>
              <a:t>Corrector</a:t>
            </a:r>
          </a:p>
        </p:txBody>
      </p:sp>
      <p:sp>
        <p:nvSpPr>
          <p:cNvPr id="24" name="TextBox 23"/>
          <p:cNvSpPr txBox="1"/>
          <p:nvPr/>
        </p:nvSpPr>
        <p:spPr>
          <a:xfrm>
            <a:off x="1097280" y="4572000"/>
            <a:ext cx="2788920" cy="365760"/>
          </a:xfrm>
          <a:prstGeom prst="rect">
            <a:avLst/>
          </a:prstGeom>
          <a:noFill/>
        </p:spPr>
        <p:txBody>
          <a:bodyPr wrap="none" lIns="36576" rIns="36576" tIns="36576" bIns="36576" anchor="t">
            <a:spAutoFit/>
          </a:bodyPr>
          <a:lstStyle/>
          <a:p>
            <a:pPr algn="l"/>
            <a:r>
              <a:rPr sz="1500" b="0">
                <a:solidFill>
                  <a:srgbClr val="20384F"/>
                </a:solidFill>
                <a:latin typeface="Arial"/>
              </a:rPr>
              <a:t>LR = 1×10⁻⁴ · WD = 1×10⁻⁴</a:t>
            </a:r>
          </a:p>
        </p:txBody>
      </p:sp>
      <p:sp>
        <p:nvSpPr>
          <p:cNvPr id="25" name="Rounded Rectangle 24"/>
          <p:cNvSpPr/>
          <p:nvPr/>
        </p:nvSpPr>
        <p:spPr>
          <a:xfrm>
            <a:off x="4498848" y="3794760"/>
            <a:ext cx="3154680" cy="1207008"/>
          </a:xfrm>
          <a:prstGeom prst="roundRect">
            <a:avLst>
              <a:gd name="adj" fmla="val 12000"/>
            </a:avLst>
          </a:prstGeom>
          <a:solidFill>
            <a:srgbClr val="F7FAFD"/>
          </a:solidFill>
          <a:ln w="12700">
            <a:solidFill>
              <a:srgbClr val="D3DE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Rectangle 25"/>
          <p:cNvSpPr/>
          <p:nvPr/>
        </p:nvSpPr>
        <p:spPr>
          <a:xfrm>
            <a:off x="4498848" y="3794760"/>
            <a:ext cx="3154680" cy="64008"/>
          </a:xfrm>
          <a:prstGeom prst="rect">
            <a:avLst/>
          </a:prstGeom>
          <a:solidFill>
            <a:srgbClr val="2E8B5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TextBox 26"/>
          <p:cNvSpPr txBox="1"/>
          <p:nvPr/>
        </p:nvSpPr>
        <p:spPr>
          <a:xfrm>
            <a:off x="4681728" y="3950208"/>
            <a:ext cx="2788920" cy="429768"/>
          </a:xfrm>
          <a:prstGeom prst="rect">
            <a:avLst/>
          </a:prstGeom>
          <a:noFill/>
        </p:spPr>
        <p:txBody>
          <a:bodyPr wrap="none" lIns="36576" rIns="36576" tIns="36576" bIns="36576" anchor="t">
            <a:spAutoFit/>
          </a:bodyPr>
          <a:lstStyle/>
          <a:p>
            <a:pPr algn="l"/>
            <a:r>
              <a:rPr sz="1600" b="1">
                <a:solidFill>
                  <a:srgbClr val="2E8B57"/>
                </a:solidFill>
                <a:latin typeface="Arial"/>
              </a:rPr>
              <a:t>Backbone tail</a:t>
            </a:r>
          </a:p>
        </p:txBody>
      </p:sp>
      <p:sp>
        <p:nvSpPr>
          <p:cNvPr id="28" name="TextBox 27"/>
          <p:cNvSpPr txBox="1"/>
          <p:nvPr/>
        </p:nvSpPr>
        <p:spPr>
          <a:xfrm>
            <a:off x="4681728" y="4572000"/>
            <a:ext cx="2788920" cy="365760"/>
          </a:xfrm>
          <a:prstGeom prst="rect">
            <a:avLst/>
          </a:prstGeom>
          <a:noFill/>
        </p:spPr>
        <p:txBody>
          <a:bodyPr wrap="none" lIns="36576" rIns="36576" tIns="36576" bIns="36576" anchor="t">
            <a:spAutoFit/>
          </a:bodyPr>
          <a:lstStyle/>
          <a:p>
            <a:pPr algn="l"/>
            <a:r>
              <a:rPr sz="1500" b="0">
                <a:solidFill>
                  <a:srgbClr val="20384F"/>
                </a:solidFill>
                <a:latin typeface="Arial"/>
              </a:rPr>
              <a:t>LR = 1×10⁻⁵ · WD = 0</a:t>
            </a:r>
          </a:p>
        </p:txBody>
      </p:sp>
      <p:sp>
        <p:nvSpPr>
          <p:cNvPr id="29" name="Rounded Rectangle 28"/>
          <p:cNvSpPr/>
          <p:nvPr/>
        </p:nvSpPr>
        <p:spPr>
          <a:xfrm>
            <a:off x="8074152" y="3794760"/>
            <a:ext cx="3154680" cy="1207008"/>
          </a:xfrm>
          <a:prstGeom prst="roundRect">
            <a:avLst>
              <a:gd name="adj" fmla="val 12000"/>
            </a:avLst>
          </a:prstGeom>
          <a:solidFill>
            <a:srgbClr val="F7FAFD"/>
          </a:solidFill>
          <a:ln w="12700">
            <a:solidFill>
              <a:srgbClr val="D3DE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Rectangle 29"/>
          <p:cNvSpPr/>
          <p:nvPr/>
        </p:nvSpPr>
        <p:spPr>
          <a:xfrm>
            <a:off x="8074152" y="3794760"/>
            <a:ext cx="3154680" cy="64008"/>
          </a:xfrm>
          <a:prstGeom prst="rect">
            <a:avLst/>
          </a:prstGeom>
          <a:solidFill>
            <a:srgbClr val="E28A2B"/>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TextBox 30"/>
          <p:cNvSpPr txBox="1"/>
          <p:nvPr/>
        </p:nvSpPr>
        <p:spPr>
          <a:xfrm>
            <a:off x="8257031" y="3950208"/>
            <a:ext cx="2788920" cy="429768"/>
          </a:xfrm>
          <a:prstGeom prst="rect">
            <a:avLst/>
          </a:prstGeom>
          <a:noFill/>
        </p:spPr>
        <p:txBody>
          <a:bodyPr wrap="none" lIns="36576" rIns="36576" tIns="36576" bIns="36576" anchor="t">
            <a:spAutoFit/>
          </a:bodyPr>
          <a:lstStyle/>
          <a:p>
            <a:pPr algn="l"/>
            <a:r>
              <a:rPr sz="1600" b="1">
                <a:solidFill>
                  <a:srgbClr val="E28A2B"/>
                </a:solidFill>
                <a:latin typeface="Arial"/>
              </a:rPr>
              <a:t>Phần được mở khóa</a:t>
            </a:r>
          </a:p>
        </p:txBody>
      </p:sp>
      <p:sp>
        <p:nvSpPr>
          <p:cNvPr id="32" name="TextBox 31"/>
          <p:cNvSpPr txBox="1"/>
          <p:nvPr/>
        </p:nvSpPr>
        <p:spPr>
          <a:xfrm>
            <a:off x="8257031" y="4572000"/>
            <a:ext cx="2788920" cy="365760"/>
          </a:xfrm>
          <a:prstGeom prst="rect">
            <a:avLst/>
          </a:prstGeom>
          <a:noFill/>
        </p:spPr>
        <p:txBody>
          <a:bodyPr wrap="none" lIns="36576" rIns="36576" tIns="36576" bIns="36576" anchor="t">
            <a:spAutoFit/>
          </a:bodyPr>
          <a:lstStyle/>
          <a:p>
            <a:pPr algn="l"/>
            <a:r>
              <a:rPr sz="1500" b="0">
                <a:solidFill>
                  <a:srgbClr val="20384F"/>
                </a:solidFill>
                <a:latin typeface="Arial"/>
              </a:rPr>
              <a:t>Khối cuối và decoder</a:t>
            </a:r>
          </a:p>
        </p:txBody>
      </p:sp>
      <p:sp>
        <p:nvSpPr>
          <p:cNvPr id="33" name="TextBox 32"/>
          <p:cNvSpPr txBox="1"/>
          <p:nvPr/>
        </p:nvSpPr>
        <p:spPr>
          <a:xfrm>
            <a:off x="1097280" y="5394960"/>
            <a:ext cx="9875520" cy="237744"/>
          </a:xfrm>
          <a:prstGeom prst="rect">
            <a:avLst/>
          </a:prstGeom>
          <a:noFill/>
        </p:spPr>
        <p:txBody>
          <a:bodyPr wrap="none" lIns="36576" rIns="36576" tIns="36576" bIns="36576" anchor="t">
            <a:spAutoFit/>
          </a:bodyPr>
          <a:lstStyle/>
          <a:p>
            <a:pPr algn="ctr"/>
            <a:r>
              <a:rPr sz="1400" b="1">
                <a:solidFill>
                  <a:srgbClr val="20384F"/>
                </a:solidFill>
                <a:latin typeface="Arial"/>
              </a:rPr>
              <a:t>Backbone tail dùng learning rate bằng 1/10 corrector để hạn chế thay đổi trọng số đã học.</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hcmute.png"/>
          <p:cNvPicPr>
            <a:picLocks noChangeAspect="1"/>
          </p:cNvPicPr>
          <p:nvPr/>
        </p:nvPicPr>
        <p:blipFill>
          <a:blip r:embed="rId2"/>
          <a:stretch>
            <a:fillRect/>
          </a:stretch>
        </p:blipFill>
        <p:spPr>
          <a:xfrm>
            <a:off x="320040" y="182880"/>
            <a:ext cx="524439" cy="438912"/>
          </a:xfrm>
          <a:prstGeom prst="rect">
            <a:avLst/>
          </a:prstGeom>
        </p:spPr>
      </p:pic>
      <p:sp>
        <p:nvSpPr>
          <p:cNvPr id="3" name="Rectangle 2"/>
          <p:cNvSpPr/>
          <p:nvPr/>
        </p:nvSpPr>
        <p:spPr>
          <a:xfrm>
            <a:off x="292608" y="713232"/>
            <a:ext cx="11594592" cy="41148"/>
          </a:xfrm>
          <a:prstGeom prst="rect">
            <a:avLst/>
          </a:prstGeom>
          <a:solidFill>
            <a:srgbClr val="1976D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 name="TextBox 3"/>
          <p:cNvSpPr txBox="1"/>
          <p:nvPr/>
        </p:nvSpPr>
        <p:spPr>
          <a:xfrm>
            <a:off x="941832" y="182880"/>
            <a:ext cx="9646920" cy="365760"/>
          </a:xfrm>
          <a:prstGeom prst="rect">
            <a:avLst/>
          </a:prstGeom>
          <a:noFill/>
        </p:spPr>
        <p:txBody>
          <a:bodyPr wrap="none" lIns="36576" rIns="36576" tIns="36576" bIns="36576" anchor="t">
            <a:spAutoFit/>
          </a:bodyPr>
          <a:lstStyle/>
          <a:p>
            <a:pPr algn="l"/>
            <a:r>
              <a:rPr sz="2300" b="1">
                <a:solidFill>
                  <a:srgbClr val="20384F"/>
                </a:solidFill>
                <a:latin typeface="Arial"/>
              </a:rPr>
              <a:t>Stage 2 — training và validation loss</a:t>
            </a:r>
          </a:p>
        </p:txBody>
      </p:sp>
      <p:sp>
        <p:nvSpPr>
          <p:cNvPr id="5" name="TextBox 4"/>
          <p:cNvSpPr txBox="1"/>
          <p:nvPr/>
        </p:nvSpPr>
        <p:spPr>
          <a:xfrm>
            <a:off x="11228832" y="256032"/>
            <a:ext cx="384048" cy="182880"/>
          </a:xfrm>
          <a:prstGeom prst="rect">
            <a:avLst/>
          </a:prstGeom>
          <a:noFill/>
        </p:spPr>
        <p:txBody>
          <a:bodyPr wrap="none" lIns="36576" rIns="36576" tIns="36576" bIns="36576" anchor="t">
            <a:spAutoFit/>
          </a:bodyPr>
          <a:lstStyle/>
          <a:p>
            <a:pPr algn="r"/>
            <a:r>
              <a:rPr sz="1000" b="1">
                <a:solidFill>
                  <a:srgbClr val="1976D2"/>
                </a:solidFill>
                <a:latin typeface="Arial"/>
              </a:rPr>
              <a:t>18</a:t>
            </a:r>
          </a:p>
        </p:txBody>
      </p:sp>
      <p:sp>
        <p:nvSpPr>
          <p:cNvPr id="6" name="TextBox 5"/>
          <p:cNvSpPr txBox="1"/>
          <p:nvPr/>
        </p:nvSpPr>
        <p:spPr>
          <a:xfrm>
            <a:off x="365760" y="6583680"/>
            <a:ext cx="4754880" cy="146304"/>
          </a:xfrm>
          <a:prstGeom prst="rect">
            <a:avLst/>
          </a:prstGeom>
          <a:noFill/>
        </p:spPr>
        <p:txBody>
          <a:bodyPr wrap="none" lIns="36576" rIns="36576" tIns="36576" bIns="36576" anchor="t">
            <a:spAutoFit/>
          </a:bodyPr>
          <a:lstStyle/>
          <a:p>
            <a:pPr algn="l"/>
            <a:r>
              <a:rPr sz="620" b="0">
                <a:solidFill>
                  <a:srgbClr val="8794A1"/>
                </a:solidFill>
                <a:latin typeface="Arial"/>
              </a:rPr>
              <a:t>Lương Nguyễn Thành Hưng · NeuralAtmosphereOperator</a:t>
            </a:r>
          </a:p>
        </p:txBody>
      </p:sp>
      <p:sp>
        <p:nvSpPr>
          <p:cNvPr id="7" name="TextBox 6"/>
          <p:cNvSpPr txBox="1"/>
          <p:nvPr/>
        </p:nvSpPr>
        <p:spPr>
          <a:xfrm>
            <a:off x="10332720" y="6583680"/>
            <a:ext cx="1325880" cy="146304"/>
          </a:xfrm>
          <a:prstGeom prst="rect">
            <a:avLst/>
          </a:prstGeom>
          <a:noFill/>
        </p:spPr>
        <p:txBody>
          <a:bodyPr wrap="none" lIns="36576" rIns="36576" tIns="36576" bIns="36576" anchor="t">
            <a:spAutoFit/>
          </a:bodyPr>
          <a:lstStyle/>
          <a:p>
            <a:pPr algn="r"/>
            <a:r>
              <a:rPr sz="620" b="0">
                <a:solidFill>
                  <a:srgbClr val="8794A1"/>
                </a:solidFill>
                <a:latin typeface="Arial"/>
              </a:rPr>
              <a:t>Stage 1 → Stage 2</a:t>
            </a:r>
          </a:p>
        </p:txBody>
      </p:sp>
      <p:pic>
        <p:nvPicPr>
          <p:cNvPr id="8" name="Picture 7" descr="stage2_loss.png"/>
          <p:cNvPicPr>
            <a:picLocks noChangeAspect="1"/>
          </p:cNvPicPr>
          <p:nvPr/>
        </p:nvPicPr>
        <p:blipFill>
          <a:blip r:embed="rId3"/>
          <a:stretch>
            <a:fillRect/>
          </a:stretch>
        </p:blipFill>
        <p:spPr>
          <a:xfrm>
            <a:off x="886980" y="1005840"/>
            <a:ext cx="10387559" cy="4892040"/>
          </a:xfrm>
          <a:prstGeom prst="rect">
            <a:avLst/>
          </a:prstGeom>
        </p:spPr>
      </p:pic>
      <p:sp>
        <p:nvSpPr>
          <p:cNvPr id="9" name="TextBox 8"/>
          <p:cNvSpPr txBox="1"/>
          <p:nvPr/>
        </p:nvSpPr>
        <p:spPr>
          <a:xfrm>
            <a:off x="777240" y="5961888"/>
            <a:ext cx="10607040" cy="365760"/>
          </a:xfrm>
          <a:prstGeom prst="rect">
            <a:avLst/>
          </a:prstGeom>
          <a:noFill/>
        </p:spPr>
        <p:txBody>
          <a:bodyPr wrap="none" lIns="36576" rIns="36576" tIns="36576" bIns="36576" anchor="t">
            <a:spAutoFit/>
          </a:bodyPr>
          <a:lstStyle/>
          <a:p>
            <a:pPr algn="ctr"/>
            <a:r>
              <a:rPr sz="1200" b="0">
                <a:solidFill>
                  <a:srgbClr val="5B6773"/>
                </a:solidFill>
                <a:latin typeface="Arial"/>
              </a:rPr>
              <a:t>4 epoch. Epoch 1–2 học corrector; epoch 3–4 mở backbone tail. Validation loss thấp nhất: 0,125384.</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20384F"/>
        </a:solidFill>
        <a:effectLst/>
      </p:bgPr>
    </p:bg>
    <p:spTree>
      <p:nvGrpSpPr>
        <p:cNvPr id="1" name=""/>
        <p:cNvGrpSpPr/>
        <p:nvPr/>
      </p:nvGrpSpPr>
      <p:grpSpPr/>
      <p:pic>
        <p:nvPicPr>
          <p:cNvPr id="2" name="Picture 1" descr="hcmute.png"/>
          <p:cNvPicPr>
            <a:picLocks noChangeAspect="1"/>
          </p:cNvPicPr>
          <p:nvPr/>
        </p:nvPicPr>
        <p:blipFill>
          <a:blip r:embed="rId2"/>
          <a:stretch>
            <a:fillRect/>
          </a:stretch>
        </p:blipFill>
        <p:spPr>
          <a:xfrm>
            <a:off x="685800" y="566928"/>
            <a:ext cx="928694" cy="777240"/>
          </a:xfrm>
          <a:prstGeom prst="rect">
            <a:avLst/>
          </a:prstGeom>
        </p:spPr>
      </p:pic>
      <p:sp>
        <p:nvSpPr>
          <p:cNvPr id="3" name="Rectangle 2"/>
          <p:cNvSpPr/>
          <p:nvPr/>
        </p:nvSpPr>
        <p:spPr>
          <a:xfrm>
            <a:off x="4800600" y="2011680"/>
            <a:ext cx="2560320" cy="54864"/>
          </a:xfrm>
          <a:prstGeom prst="rect">
            <a:avLst/>
          </a:prstGeom>
          <a:solidFill>
            <a:srgbClr val="2F95D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 name="TextBox 3"/>
          <p:cNvSpPr txBox="1"/>
          <p:nvPr/>
        </p:nvSpPr>
        <p:spPr>
          <a:xfrm>
            <a:off x="1005840" y="2423160"/>
            <a:ext cx="10149840" cy="502920"/>
          </a:xfrm>
          <a:prstGeom prst="rect">
            <a:avLst/>
          </a:prstGeom>
          <a:noFill/>
        </p:spPr>
        <p:txBody>
          <a:bodyPr wrap="none" lIns="36576" rIns="36576" tIns="36576" bIns="36576" anchor="t">
            <a:spAutoFit/>
          </a:bodyPr>
          <a:lstStyle/>
          <a:p>
            <a:pPr algn="ctr"/>
            <a:r>
              <a:rPr sz="2600" b="1">
                <a:solidFill>
                  <a:srgbClr val="FFFFFF"/>
                </a:solidFill>
                <a:latin typeface="Arial"/>
              </a:rPr>
              <a:t>CẢM ƠN THẦY/CÔ VÀ CÁC BẠN ĐÃ THEO DÕI</a:t>
            </a:r>
          </a:p>
        </p:txBody>
      </p:sp>
      <p:sp>
        <p:nvSpPr>
          <p:cNvPr id="5" name="TextBox 4"/>
          <p:cNvSpPr txBox="1"/>
          <p:nvPr/>
        </p:nvSpPr>
        <p:spPr>
          <a:xfrm>
            <a:off x="4480560" y="3429000"/>
            <a:ext cx="3200400" cy="502920"/>
          </a:xfrm>
          <a:prstGeom prst="rect">
            <a:avLst/>
          </a:prstGeom>
          <a:noFill/>
        </p:spPr>
        <p:txBody>
          <a:bodyPr wrap="none" lIns="36576" rIns="36576" tIns="36576" bIns="36576" anchor="t">
            <a:spAutoFit/>
          </a:bodyPr>
          <a:lstStyle/>
          <a:p>
            <a:pPr algn="ctr"/>
            <a:r>
              <a:rPr sz="2800" b="1">
                <a:solidFill>
                  <a:srgbClr val="2F95DE"/>
                </a:solidFill>
                <a:latin typeface="Arial"/>
              </a:rPr>
              <a:t>Q &amp; A</a:t>
            </a:r>
          </a:p>
        </p:txBody>
      </p:sp>
      <p:sp>
        <p:nvSpPr>
          <p:cNvPr id="6" name="TextBox 5"/>
          <p:cNvSpPr txBox="1"/>
          <p:nvPr/>
        </p:nvSpPr>
        <p:spPr>
          <a:xfrm>
            <a:off x="2834640" y="4754880"/>
            <a:ext cx="6492240" cy="256032"/>
          </a:xfrm>
          <a:prstGeom prst="rect">
            <a:avLst/>
          </a:prstGeom>
          <a:noFill/>
        </p:spPr>
        <p:txBody>
          <a:bodyPr wrap="none" lIns="36576" rIns="36576" tIns="36576" bIns="36576" anchor="t">
            <a:spAutoFit/>
          </a:bodyPr>
          <a:lstStyle/>
          <a:p>
            <a:pPr algn="ctr"/>
            <a:r>
              <a:rPr sz="1300" b="0">
                <a:solidFill>
                  <a:srgbClr val="D8E7F4"/>
                </a:solidFill>
                <a:latin typeface="Arial"/>
              </a:rPr>
              <a:t>NeuralAtmosphereOperator · Stage 1 &amp; Stage 2</a:t>
            </a:r>
          </a:p>
        </p:txBody>
      </p:sp>
      <p:sp>
        <p:nvSpPr>
          <p:cNvPr id="7" name="TextBox 6"/>
          <p:cNvSpPr txBox="1"/>
          <p:nvPr/>
        </p:nvSpPr>
        <p:spPr>
          <a:xfrm>
            <a:off x="10972800" y="6217920"/>
            <a:ext cx="502920" cy="228600"/>
          </a:xfrm>
          <a:prstGeom prst="rect">
            <a:avLst/>
          </a:prstGeom>
          <a:noFill/>
        </p:spPr>
        <p:txBody>
          <a:bodyPr wrap="none" lIns="36576" rIns="36576" tIns="36576" bIns="36576" anchor="t">
            <a:spAutoFit/>
          </a:bodyPr>
          <a:lstStyle/>
          <a:p>
            <a:pPr algn="r"/>
            <a:r>
              <a:rPr sz="1000" b="1">
                <a:solidFill>
                  <a:srgbClr val="2F95DE"/>
                </a:solidFill>
                <a:latin typeface="Arial"/>
              </a:rPr>
              <a:t>30</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320040" y="182880"/>
            <a:ext cx="524439" cy="438912"/>
          </a:xfrm>
          <a:prstGeom prst="rect">
            <a:avLst/>
          </a:prstGeom>
        </p:spPr>
      </p:pic>
      <p:sp>
        <p:nvSpPr>
          <p:cNvPr id="3" name="Rectangle 2"/>
          <p:cNvSpPr/>
          <p:nvPr/>
        </p:nvSpPr>
        <p:spPr>
          <a:xfrm>
            <a:off x="292608" y="713232"/>
            <a:ext cx="11594592" cy="41148"/>
          </a:xfrm>
          <a:prstGeom prst="rect">
            <a:avLst/>
          </a:prstGeom>
          <a:solidFill>
            <a:srgbClr val="1976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41832" y="182880"/>
            <a:ext cx="9646920" cy="365760"/>
          </a:xfrm>
          <a:prstGeom prst="rect">
            <a:avLst/>
          </a:prstGeom>
          <a:noFill/>
        </p:spPr>
        <p:txBody>
          <a:bodyPr wrap="none" lIns="36576" rIns="36576" tIns="36576" bIns="36576" anchor="t">
            <a:spAutoFit/>
          </a:bodyPr>
          <a:lstStyle/>
          <a:p>
            <a:pPr algn="l"/>
            <a:r>
              <a:rPr sz="2300" b="1">
                <a:solidFill>
                  <a:srgbClr val="20384F"/>
                </a:solidFill>
                <a:latin typeface="Arial"/>
              </a:rPr>
              <a:t>Chia dữ liệu và hai phép kiểm thử</a:t>
            </a:r>
          </a:p>
        </p:txBody>
      </p:sp>
      <p:sp>
        <p:nvSpPr>
          <p:cNvPr id="5" name="TextBox 4"/>
          <p:cNvSpPr txBox="1"/>
          <p:nvPr/>
        </p:nvSpPr>
        <p:spPr>
          <a:xfrm>
            <a:off x="11228832" y="256032"/>
            <a:ext cx="384048" cy="182880"/>
          </a:xfrm>
          <a:prstGeom prst="rect">
            <a:avLst/>
          </a:prstGeom>
          <a:noFill/>
        </p:spPr>
        <p:txBody>
          <a:bodyPr wrap="none" lIns="36576" rIns="36576" tIns="36576" bIns="36576" anchor="t">
            <a:spAutoFit/>
          </a:bodyPr>
          <a:lstStyle/>
          <a:p>
            <a:pPr algn="r"/>
            <a:r>
              <a:rPr sz="900" b="1">
                <a:solidFill>
                  <a:srgbClr val="1976D2"/>
                </a:solidFill>
                <a:latin typeface="Arial"/>
              </a:rPr>
              <a:t>05</a:t>
            </a:r>
          </a:p>
        </p:txBody>
      </p:sp>
      <p:sp>
        <p:nvSpPr>
          <p:cNvPr id="6" name="TextBox 5"/>
          <p:cNvSpPr txBox="1"/>
          <p:nvPr/>
        </p:nvSpPr>
        <p:spPr>
          <a:xfrm>
            <a:off x="365760" y="6583680"/>
            <a:ext cx="4754880" cy="146304"/>
          </a:xfrm>
          <a:prstGeom prst="rect">
            <a:avLst/>
          </a:prstGeom>
          <a:noFill/>
        </p:spPr>
        <p:txBody>
          <a:bodyPr wrap="none" lIns="36576" rIns="36576" tIns="36576" bIns="36576" anchor="t">
            <a:spAutoFit/>
          </a:bodyPr>
          <a:lstStyle/>
          <a:p>
            <a:pPr algn="l"/>
            <a:r>
              <a:rPr sz="620" b="0">
                <a:solidFill>
                  <a:srgbClr val="8794A1"/>
                </a:solidFill>
                <a:latin typeface="Arial"/>
              </a:rPr>
              <a:t>Lương Nguyễn Thành Hưng · NeuralAtmosphereOperator</a:t>
            </a:r>
          </a:p>
        </p:txBody>
      </p:sp>
      <p:sp>
        <p:nvSpPr>
          <p:cNvPr id="7" name="TextBox 6"/>
          <p:cNvSpPr txBox="1"/>
          <p:nvPr/>
        </p:nvSpPr>
        <p:spPr>
          <a:xfrm>
            <a:off x="10332720" y="6583680"/>
            <a:ext cx="1325880" cy="146304"/>
          </a:xfrm>
          <a:prstGeom prst="rect">
            <a:avLst/>
          </a:prstGeom>
          <a:noFill/>
        </p:spPr>
        <p:txBody>
          <a:bodyPr wrap="none" lIns="36576" rIns="36576" tIns="36576" bIns="36576" anchor="t">
            <a:spAutoFit/>
          </a:bodyPr>
          <a:lstStyle/>
          <a:p>
            <a:pPr algn="r"/>
            <a:r>
              <a:rPr sz="620" b="0">
                <a:solidFill>
                  <a:srgbClr val="8794A1"/>
                </a:solidFill>
                <a:latin typeface="Arial"/>
              </a:rPr>
              <a:t>Stage 1 → Stage 2</a:t>
            </a:r>
          </a:p>
        </p:txBody>
      </p:sp>
      <p:sp>
        <p:nvSpPr>
          <p:cNvPr id="8" name="Rounded Rectangle 7"/>
          <p:cNvSpPr/>
          <p:nvPr/>
        </p:nvSpPr>
        <p:spPr>
          <a:xfrm>
            <a:off x="594360" y="1417320"/>
            <a:ext cx="3291840" cy="1463040"/>
          </a:xfrm>
          <a:prstGeom prst="roundRect">
            <a:avLst>
              <a:gd name="adj" fmla="val 12000"/>
            </a:avLst>
          </a:prstGeom>
          <a:solidFill>
            <a:srgbClr val="EEF5FB"/>
          </a:solidFill>
          <a:ln w="12700">
            <a:solidFill>
              <a:srgbClr val="1976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618488"/>
            <a:ext cx="2926080" cy="320040"/>
          </a:xfrm>
          <a:prstGeom prst="rect">
            <a:avLst/>
          </a:prstGeom>
          <a:noFill/>
        </p:spPr>
        <p:txBody>
          <a:bodyPr wrap="none" lIns="36576" rIns="36576" tIns="36576" bIns="36576" anchor="t">
            <a:spAutoFit/>
          </a:bodyPr>
          <a:lstStyle/>
          <a:p>
            <a:pPr algn="l"/>
            <a:r>
              <a:rPr sz="1900" b="1">
                <a:solidFill>
                  <a:srgbClr val="1976D2"/>
                </a:solidFill>
                <a:latin typeface="Arial"/>
              </a:rPr>
              <a:t>TRAIN</a:t>
            </a:r>
          </a:p>
        </p:txBody>
      </p:sp>
      <p:sp>
        <p:nvSpPr>
          <p:cNvPr id="10" name="TextBox 9"/>
          <p:cNvSpPr txBox="1"/>
          <p:nvPr/>
        </p:nvSpPr>
        <p:spPr>
          <a:xfrm>
            <a:off x="777240" y="2103120"/>
            <a:ext cx="2926080" cy="640080"/>
          </a:xfrm>
          <a:prstGeom prst="rect">
            <a:avLst/>
          </a:prstGeom>
          <a:noFill/>
        </p:spPr>
        <p:txBody>
          <a:bodyPr wrap="none" lIns="36576" rIns="36576" tIns="36576" bIns="36576" anchor="t">
            <a:spAutoFit/>
          </a:bodyPr>
          <a:lstStyle/>
          <a:p>
            <a:pPr algn="l"/>
            <a:r>
              <a:rPr sz="1600" b="0">
                <a:solidFill>
                  <a:srgbClr val="20384F"/>
                </a:solidFill>
                <a:latin typeface="Arial"/>
              </a:rPr>
              <a:t>1983–2018
Train và tính thống kê</a:t>
            </a:r>
          </a:p>
        </p:txBody>
      </p:sp>
      <p:sp>
        <p:nvSpPr>
          <p:cNvPr id="11" name="Rounded Rectangle 10"/>
          <p:cNvSpPr/>
          <p:nvPr/>
        </p:nvSpPr>
        <p:spPr>
          <a:xfrm>
            <a:off x="4434840" y="1417320"/>
            <a:ext cx="3291840" cy="1463040"/>
          </a:xfrm>
          <a:prstGeom prst="roundRect">
            <a:avLst>
              <a:gd name="adj" fmla="val 12000"/>
            </a:avLst>
          </a:prstGeom>
          <a:solidFill>
            <a:srgbClr val="EEF5FB"/>
          </a:solidFill>
          <a:ln w="12700">
            <a:solidFill>
              <a:srgbClr val="1976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17720" y="1618488"/>
            <a:ext cx="2926080" cy="320040"/>
          </a:xfrm>
          <a:prstGeom prst="rect">
            <a:avLst/>
          </a:prstGeom>
          <a:noFill/>
        </p:spPr>
        <p:txBody>
          <a:bodyPr wrap="none" lIns="36576" rIns="36576" tIns="36576" bIns="36576" anchor="t">
            <a:spAutoFit/>
          </a:bodyPr>
          <a:lstStyle/>
          <a:p>
            <a:pPr algn="l"/>
            <a:r>
              <a:rPr sz="1900" b="1">
                <a:solidFill>
                  <a:srgbClr val="1976D2"/>
                </a:solidFill>
                <a:latin typeface="Arial"/>
              </a:rPr>
              <a:t>VALIDATION</a:t>
            </a:r>
          </a:p>
        </p:txBody>
      </p:sp>
      <p:sp>
        <p:nvSpPr>
          <p:cNvPr id="13" name="TextBox 12"/>
          <p:cNvSpPr txBox="1"/>
          <p:nvPr/>
        </p:nvSpPr>
        <p:spPr>
          <a:xfrm>
            <a:off x="4617720" y="2103120"/>
            <a:ext cx="2926080" cy="640080"/>
          </a:xfrm>
          <a:prstGeom prst="rect">
            <a:avLst/>
          </a:prstGeom>
          <a:noFill/>
        </p:spPr>
        <p:txBody>
          <a:bodyPr wrap="none" lIns="36576" rIns="36576" tIns="36576" bIns="36576" anchor="t">
            <a:spAutoFit/>
          </a:bodyPr>
          <a:lstStyle/>
          <a:p>
            <a:pPr algn="l"/>
            <a:r>
              <a:rPr sz="1600" b="0">
                <a:solidFill>
                  <a:srgbClr val="20384F"/>
                </a:solidFill>
                <a:latin typeface="Arial"/>
              </a:rPr>
              <a:t>2019
Chọn checkpoint</a:t>
            </a:r>
          </a:p>
        </p:txBody>
      </p:sp>
      <p:sp>
        <p:nvSpPr>
          <p:cNvPr id="14" name="Rounded Rectangle 13"/>
          <p:cNvSpPr/>
          <p:nvPr/>
        </p:nvSpPr>
        <p:spPr>
          <a:xfrm>
            <a:off x="8275320" y="1417320"/>
            <a:ext cx="3291840" cy="1463040"/>
          </a:xfrm>
          <a:prstGeom prst="roundRect">
            <a:avLst>
              <a:gd name="adj" fmla="val 12000"/>
            </a:avLst>
          </a:prstGeom>
          <a:solidFill>
            <a:srgbClr val="EEF5FB"/>
          </a:solidFill>
          <a:ln w="12700">
            <a:solidFill>
              <a:srgbClr val="1976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458200" y="1618488"/>
            <a:ext cx="2926080" cy="320040"/>
          </a:xfrm>
          <a:prstGeom prst="rect">
            <a:avLst/>
          </a:prstGeom>
          <a:noFill/>
        </p:spPr>
        <p:txBody>
          <a:bodyPr wrap="none" lIns="36576" rIns="36576" tIns="36576" bIns="36576" anchor="t">
            <a:spAutoFit/>
          </a:bodyPr>
          <a:lstStyle/>
          <a:p>
            <a:pPr algn="l"/>
            <a:r>
              <a:rPr sz="1900" b="1">
                <a:solidFill>
                  <a:srgbClr val="1976D2"/>
                </a:solidFill>
                <a:latin typeface="Arial"/>
              </a:rPr>
              <a:t>TEST</a:t>
            </a:r>
          </a:p>
        </p:txBody>
      </p:sp>
      <p:sp>
        <p:nvSpPr>
          <p:cNvPr id="16" name="TextBox 15"/>
          <p:cNvSpPr txBox="1"/>
          <p:nvPr/>
        </p:nvSpPr>
        <p:spPr>
          <a:xfrm>
            <a:off x="8458200" y="2103120"/>
            <a:ext cx="2926080" cy="640080"/>
          </a:xfrm>
          <a:prstGeom prst="rect">
            <a:avLst/>
          </a:prstGeom>
          <a:noFill/>
        </p:spPr>
        <p:txBody>
          <a:bodyPr wrap="none" lIns="36576" rIns="36576" tIns="36576" bIns="36576" anchor="t">
            <a:spAutoFit/>
          </a:bodyPr>
          <a:lstStyle/>
          <a:p>
            <a:pPr algn="l"/>
            <a:r>
              <a:rPr sz="1600" b="0">
                <a:solidFill>
                  <a:srgbClr val="20384F"/>
                </a:solidFill>
                <a:latin typeface="Arial"/>
              </a:rPr>
              <a:t>2020
Benchmark lưu trữ</a:t>
            </a:r>
          </a:p>
        </p:txBody>
      </p:sp>
      <p:sp>
        <p:nvSpPr>
          <p:cNvPr id="17" name="TextBox 16"/>
          <p:cNvSpPr txBox="1"/>
          <p:nvPr/>
        </p:nvSpPr>
        <p:spPr>
          <a:xfrm>
            <a:off x="822960" y="3474720"/>
            <a:ext cx="10607040" cy="1737360"/>
          </a:xfrm>
          <a:prstGeom prst="rect">
            <a:avLst/>
          </a:prstGeom>
          <a:noFill/>
        </p:spPr>
        <p:txBody>
          <a:bodyPr wrap="none" lIns="73152" rIns="36576" tIns="27432">
            <a:spAutoFit/>
          </a:bodyPr>
          <a:lstStyle/>
          <a:p>
            <a:pPr>
              <a:spcAft>
                <a:spcPts val="1600"/>
              </a:spcAft>
              <a:defRPr sz="1700">
                <a:solidFill>
                  <a:srgbClr val="20384F"/>
                </a:solidFill>
                <a:latin typeface="Arial"/>
              </a:defRPr>
            </a:pPr>
            <a:r>
              <a:t>•  Benchmark gốc: 60 khởi tạo · rollout 6 giờ → 7 ngày · Stage 1 và Stage 2</a:t>
            </a:r>
          </a:p>
          <a:p>
            <a:pPr>
              <a:spcAft>
                <a:spcPts val="1600"/>
              </a:spcAft>
              <a:defRPr sz="1700">
                <a:solidFill>
                  <a:srgbClr val="20384F"/>
                </a:solidFill>
                <a:latin typeface="Arial"/>
              </a:defRPr>
            </a:pPr>
            <a:r>
              <a:t>•  Smoke test riêng: tháng 7/2020 · 12 khởi tạo/stage · thời hạn 6 giờ</a:t>
            </a:r>
          </a:p>
          <a:p>
            <a:pPr>
              <a:spcAft>
                <a:spcPts val="1600"/>
              </a:spcAft>
              <a:defRPr sz="1700">
                <a:solidFill>
                  <a:srgbClr val="20384F"/>
                </a:solidFill>
                <a:latin typeface="Arial"/>
              </a:defRPr>
            </a:pPr>
            <a:r>
              <a:t>•  Thống kê chuẩn hóa và climatology lấy từ tập train, không từ test</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320040" y="182880"/>
            <a:ext cx="524439" cy="438912"/>
          </a:xfrm>
          <a:prstGeom prst="rect">
            <a:avLst/>
          </a:prstGeom>
        </p:spPr>
      </p:pic>
      <p:sp>
        <p:nvSpPr>
          <p:cNvPr id="3" name="Rectangle 2"/>
          <p:cNvSpPr/>
          <p:nvPr/>
        </p:nvSpPr>
        <p:spPr>
          <a:xfrm>
            <a:off x="292608" y="713232"/>
            <a:ext cx="11594592" cy="41148"/>
          </a:xfrm>
          <a:prstGeom prst="rect">
            <a:avLst/>
          </a:prstGeom>
          <a:solidFill>
            <a:srgbClr val="1976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41832" y="182880"/>
            <a:ext cx="9646920" cy="365760"/>
          </a:xfrm>
          <a:prstGeom prst="rect">
            <a:avLst/>
          </a:prstGeom>
          <a:noFill/>
        </p:spPr>
        <p:txBody>
          <a:bodyPr wrap="none" lIns="36576" rIns="36576" tIns="36576" bIns="36576" anchor="t">
            <a:spAutoFit/>
          </a:bodyPr>
          <a:lstStyle/>
          <a:p>
            <a:pPr algn="l"/>
            <a:r>
              <a:rPr sz="2300" b="1">
                <a:solidFill>
                  <a:srgbClr val="20384F"/>
                </a:solidFill>
                <a:latin typeface="Arial"/>
              </a:rPr>
              <a:t>Đọc các chỉ số đánh giá</a:t>
            </a:r>
          </a:p>
        </p:txBody>
      </p:sp>
      <p:sp>
        <p:nvSpPr>
          <p:cNvPr id="5" name="TextBox 4"/>
          <p:cNvSpPr txBox="1"/>
          <p:nvPr/>
        </p:nvSpPr>
        <p:spPr>
          <a:xfrm>
            <a:off x="11228832" y="256032"/>
            <a:ext cx="384048" cy="182880"/>
          </a:xfrm>
          <a:prstGeom prst="rect">
            <a:avLst/>
          </a:prstGeom>
          <a:noFill/>
        </p:spPr>
        <p:txBody>
          <a:bodyPr wrap="none" lIns="36576" rIns="36576" tIns="36576" bIns="36576" anchor="t">
            <a:spAutoFit/>
          </a:bodyPr>
          <a:lstStyle/>
          <a:p>
            <a:pPr algn="r"/>
            <a:r>
              <a:rPr sz="900" b="1">
                <a:solidFill>
                  <a:srgbClr val="1976D2"/>
                </a:solidFill>
                <a:latin typeface="Arial"/>
              </a:rPr>
              <a:t>07</a:t>
            </a:r>
          </a:p>
        </p:txBody>
      </p:sp>
      <p:sp>
        <p:nvSpPr>
          <p:cNvPr id="6" name="TextBox 5"/>
          <p:cNvSpPr txBox="1"/>
          <p:nvPr/>
        </p:nvSpPr>
        <p:spPr>
          <a:xfrm>
            <a:off x="365760" y="6583680"/>
            <a:ext cx="4754880" cy="146304"/>
          </a:xfrm>
          <a:prstGeom prst="rect">
            <a:avLst/>
          </a:prstGeom>
          <a:noFill/>
        </p:spPr>
        <p:txBody>
          <a:bodyPr wrap="none" lIns="36576" rIns="36576" tIns="36576" bIns="36576" anchor="t">
            <a:spAutoFit/>
          </a:bodyPr>
          <a:lstStyle/>
          <a:p>
            <a:pPr algn="l"/>
            <a:r>
              <a:rPr sz="620" b="0">
                <a:solidFill>
                  <a:srgbClr val="8794A1"/>
                </a:solidFill>
                <a:latin typeface="Arial"/>
              </a:rPr>
              <a:t>Lương Nguyễn Thành Hưng · NeuralAtmosphereOperator</a:t>
            </a:r>
          </a:p>
        </p:txBody>
      </p:sp>
      <p:sp>
        <p:nvSpPr>
          <p:cNvPr id="7" name="TextBox 6"/>
          <p:cNvSpPr txBox="1"/>
          <p:nvPr/>
        </p:nvSpPr>
        <p:spPr>
          <a:xfrm>
            <a:off x="10332720" y="6583680"/>
            <a:ext cx="1325880" cy="146304"/>
          </a:xfrm>
          <a:prstGeom prst="rect">
            <a:avLst/>
          </a:prstGeom>
          <a:noFill/>
        </p:spPr>
        <p:txBody>
          <a:bodyPr wrap="none" lIns="36576" rIns="36576" tIns="36576" bIns="36576" anchor="t">
            <a:spAutoFit/>
          </a:bodyPr>
          <a:lstStyle/>
          <a:p>
            <a:pPr algn="r"/>
            <a:r>
              <a:rPr sz="620" b="0">
                <a:solidFill>
                  <a:srgbClr val="8794A1"/>
                </a:solidFill>
                <a:latin typeface="Arial"/>
              </a:rPr>
              <a:t>Stage 1 → Stage 2</a:t>
            </a:r>
          </a:p>
        </p:txBody>
      </p:sp>
      <p:sp>
        <p:nvSpPr>
          <p:cNvPr id="8" name="Rounded Rectangle 7"/>
          <p:cNvSpPr/>
          <p:nvPr/>
        </p:nvSpPr>
        <p:spPr>
          <a:xfrm>
            <a:off x="685800" y="1133856"/>
            <a:ext cx="10835640" cy="731520"/>
          </a:xfrm>
          <a:prstGeom prst="roundRect">
            <a:avLst>
              <a:gd name="adj" fmla="val 12000"/>
            </a:avLst>
          </a:prstGeom>
          <a:solidFill>
            <a:srgbClr val="EEF5FB"/>
          </a:solidFill>
          <a:ln w="12700">
            <a:solidFill>
              <a:srgbClr val="D3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316736"/>
            <a:ext cx="2377440" cy="320040"/>
          </a:xfrm>
          <a:prstGeom prst="rect">
            <a:avLst/>
          </a:prstGeom>
          <a:noFill/>
        </p:spPr>
        <p:txBody>
          <a:bodyPr wrap="none" lIns="36576" rIns="36576" tIns="36576" bIns="36576" anchor="t">
            <a:spAutoFit/>
          </a:bodyPr>
          <a:lstStyle/>
          <a:p>
            <a:pPr algn="l"/>
            <a:r>
              <a:rPr sz="1800" b="1">
                <a:solidFill>
                  <a:srgbClr val="1976D2"/>
                </a:solidFill>
                <a:latin typeface="Arial"/>
              </a:rPr>
              <a:t>RMSE ↓</a:t>
            </a:r>
          </a:p>
        </p:txBody>
      </p:sp>
      <p:sp>
        <p:nvSpPr>
          <p:cNvPr id="10" name="TextBox 9"/>
          <p:cNvSpPr txBox="1"/>
          <p:nvPr/>
        </p:nvSpPr>
        <p:spPr>
          <a:xfrm>
            <a:off x="3291840" y="1316736"/>
            <a:ext cx="7955279" cy="365760"/>
          </a:xfrm>
          <a:prstGeom prst="rect">
            <a:avLst/>
          </a:prstGeom>
          <a:noFill/>
        </p:spPr>
        <p:txBody>
          <a:bodyPr wrap="none" lIns="36576" rIns="36576" tIns="36576" bIns="36576" anchor="t">
            <a:spAutoFit/>
          </a:bodyPr>
          <a:lstStyle/>
          <a:p>
            <a:pPr algn="l"/>
            <a:r>
              <a:rPr sz="1600" b="0">
                <a:solidFill>
                  <a:srgbClr val="20384F"/>
                </a:solidFill>
                <a:latin typeface="Arial"/>
              </a:rPr>
              <a:t>Sai số theo đơn vị vật lý; không so trực tiếp giữa các biến</a:t>
            </a:r>
          </a:p>
        </p:txBody>
      </p:sp>
      <p:sp>
        <p:nvSpPr>
          <p:cNvPr id="11" name="Rounded Rectangle 10"/>
          <p:cNvSpPr/>
          <p:nvPr/>
        </p:nvSpPr>
        <p:spPr>
          <a:xfrm>
            <a:off x="685800" y="2029967"/>
            <a:ext cx="10835640" cy="731520"/>
          </a:xfrm>
          <a:prstGeom prst="roundRect">
            <a:avLst>
              <a:gd name="adj" fmla="val 12000"/>
            </a:avLst>
          </a:prstGeom>
          <a:solidFill>
            <a:srgbClr val="EEF5FB"/>
          </a:solidFill>
          <a:ln w="12700">
            <a:solidFill>
              <a:srgbClr val="D3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2212848"/>
            <a:ext cx="2377440" cy="320040"/>
          </a:xfrm>
          <a:prstGeom prst="rect">
            <a:avLst/>
          </a:prstGeom>
          <a:noFill/>
        </p:spPr>
        <p:txBody>
          <a:bodyPr wrap="none" lIns="36576" rIns="36576" tIns="36576" bIns="36576" anchor="t">
            <a:spAutoFit/>
          </a:bodyPr>
          <a:lstStyle/>
          <a:p>
            <a:pPr algn="l"/>
            <a:r>
              <a:rPr sz="1800" b="1">
                <a:solidFill>
                  <a:srgbClr val="1976D2"/>
                </a:solidFill>
                <a:latin typeface="Arial"/>
              </a:rPr>
              <a:t>ACC ↑</a:t>
            </a:r>
          </a:p>
        </p:txBody>
      </p:sp>
      <p:sp>
        <p:nvSpPr>
          <p:cNvPr id="13" name="TextBox 12"/>
          <p:cNvSpPr txBox="1"/>
          <p:nvPr/>
        </p:nvSpPr>
        <p:spPr>
          <a:xfrm>
            <a:off x="3291840" y="2212848"/>
            <a:ext cx="7955279" cy="365760"/>
          </a:xfrm>
          <a:prstGeom prst="rect">
            <a:avLst/>
          </a:prstGeom>
          <a:noFill/>
        </p:spPr>
        <p:txBody>
          <a:bodyPr wrap="none" lIns="36576" rIns="36576" tIns="36576" bIns="36576" anchor="t">
            <a:spAutoFit/>
          </a:bodyPr>
          <a:lstStyle/>
          <a:p>
            <a:pPr algn="l"/>
            <a:r>
              <a:rPr sz="1600" b="0">
                <a:solidFill>
                  <a:srgbClr val="20384F"/>
                </a:solidFill>
                <a:latin typeface="Arial"/>
              </a:rPr>
              <a:t>Tương quan không gian của dị thường; gần 1 là tốt hơn</a:t>
            </a:r>
          </a:p>
        </p:txBody>
      </p:sp>
      <p:sp>
        <p:nvSpPr>
          <p:cNvPr id="14" name="Rounded Rectangle 13"/>
          <p:cNvSpPr/>
          <p:nvPr/>
        </p:nvSpPr>
        <p:spPr>
          <a:xfrm>
            <a:off x="685800" y="2926080"/>
            <a:ext cx="10835640" cy="731520"/>
          </a:xfrm>
          <a:prstGeom prst="roundRect">
            <a:avLst>
              <a:gd name="adj" fmla="val 12000"/>
            </a:avLst>
          </a:prstGeom>
          <a:solidFill>
            <a:srgbClr val="EEF5FB"/>
          </a:solidFill>
          <a:ln w="12700">
            <a:solidFill>
              <a:srgbClr val="D3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3108960"/>
            <a:ext cx="2377440" cy="320040"/>
          </a:xfrm>
          <a:prstGeom prst="rect">
            <a:avLst/>
          </a:prstGeom>
          <a:noFill/>
        </p:spPr>
        <p:txBody>
          <a:bodyPr wrap="none" lIns="36576" rIns="36576" tIns="36576" bIns="36576" anchor="t">
            <a:spAutoFit/>
          </a:bodyPr>
          <a:lstStyle/>
          <a:p>
            <a:pPr algn="l"/>
            <a:r>
              <a:rPr sz="1800" b="1">
                <a:solidFill>
                  <a:srgbClr val="1976D2"/>
                </a:solidFill>
                <a:latin typeface="Arial"/>
              </a:rPr>
              <a:t>Bias → 0</a:t>
            </a:r>
          </a:p>
        </p:txBody>
      </p:sp>
      <p:sp>
        <p:nvSpPr>
          <p:cNvPr id="16" name="TextBox 15"/>
          <p:cNvSpPr txBox="1"/>
          <p:nvPr/>
        </p:nvSpPr>
        <p:spPr>
          <a:xfrm>
            <a:off x="3291840" y="3108960"/>
            <a:ext cx="7955279" cy="365760"/>
          </a:xfrm>
          <a:prstGeom prst="rect">
            <a:avLst/>
          </a:prstGeom>
          <a:noFill/>
        </p:spPr>
        <p:txBody>
          <a:bodyPr wrap="none" lIns="36576" rIns="36576" tIns="36576" bIns="36576" anchor="t">
            <a:spAutoFit/>
          </a:bodyPr>
          <a:lstStyle/>
          <a:p>
            <a:pPr algn="l"/>
            <a:r>
              <a:rPr sz="1600" b="0">
                <a:solidFill>
                  <a:srgbClr val="20384F"/>
                </a:solidFill>
                <a:latin typeface="Arial"/>
              </a:rPr>
              <a:t>Lệch trung bình có dấu; dương và âm có thể triệt tiêu</a:t>
            </a:r>
          </a:p>
        </p:txBody>
      </p:sp>
      <p:sp>
        <p:nvSpPr>
          <p:cNvPr id="17" name="Rounded Rectangle 16"/>
          <p:cNvSpPr/>
          <p:nvPr/>
        </p:nvSpPr>
        <p:spPr>
          <a:xfrm>
            <a:off x="685800" y="3822191"/>
            <a:ext cx="10835640" cy="731520"/>
          </a:xfrm>
          <a:prstGeom prst="roundRect">
            <a:avLst>
              <a:gd name="adj" fmla="val 12000"/>
            </a:avLst>
          </a:prstGeom>
          <a:solidFill>
            <a:srgbClr val="EEF5FB"/>
          </a:solidFill>
          <a:ln w="12700">
            <a:solidFill>
              <a:srgbClr val="D3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4005072"/>
            <a:ext cx="2377440" cy="320040"/>
          </a:xfrm>
          <a:prstGeom prst="rect">
            <a:avLst/>
          </a:prstGeom>
          <a:noFill/>
        </p:spPr>
        <p:txBody>
          <a:bodyPr wrap="none" lIns="36576" rIns="36576" tIns="36576" bIns="36576" anchor="t">
            <a:spAutoFit/>
          </a:bodyPr>
          <a:lstStyle/>
          <a:p>
            <a:pPr algn="l"/>
            <a:r>
              <a:rPr sz="1800" b="1">
                <a:solidFill>
                  <a:srgbClr val="1976D2"/>
                </a:solidFill>
                <a:latin typeface="Arial"/>
              </a:rPr>
              <a:t>MSE skill ↑</a:t>
            </a:r>
          </a:p>
        </p:txBody>
      </p:sp>
      <p:sp>
        <p:nvSpPr>
          <p:cNvPr id="19" name="TextBox 18"/>
          <p:cNvSpPr txBox="1"/>
          <p:nvPr/>
        </p:nvSpPr>
        <p:spPr>
          <a:xfrm>
            <a:off x="3291840" y="4005072"/>
            <a:ext cx="7955279" cy="365760"/>
          </a:xfrm>
          <a:prstGeom prst="rect">
            <a:avLst/>
          </a:prstGeom>
          <a:noFill/>
        </p:spPr>
        <p:txBody>
          <a:bodyPr wrap="none" lIns="36576" rIns="36576" tIns="36576" bIns="36576" anchor="t">
            <a:spAutoFit/>
          </a:bodyPr>
          <a:lstStyle/>
          <a:p>
            <a:pPr algn="l"/>
            <a:r>
              <a:rPr sz="1600" b="0">
                <a:solidFill>
                  <a:srgbClr val="20384F"/>
                </a:solidFill>
                <a:latin typeface="Arial"/>
              </a:rPr>
              <a:t>1 − MSE model / MSE baseline; không phải % giảm RMSE</a:t>
            </a:r>
          </a:p>
        </p:txBody>
      </p:sp>
      <p:sp>
        <p:nvSpPr>
          <p:cNvPr id="20" name="Rounded Rectangle 19"/>
          <p:cNvSpPr/>
          <p:nvPr/>
        </p:nvSpPr>
        <p:spPr>
          <a:xfrm>
            <a:off x="685800" y="4718304"/>
            <a:ext cx="10835640" cy="731520"/>
          </a:xfrm>
          <a:prstGeom prst="roundRect">
            <a:avLst>
              <a:gd name="adj" fmla="val 12000"/>
            </a:avLst>
          </a:prstGeom>
          <a:solidFill>
            <a:srgbClr val="EEF5FB"/>
          </a:solidFill>
          <a:ln w="12700">
            <a:solidFill>
              <a:srgbClr val="D3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400" y="4901184"/>
            <a:ext cx="2377440" cy="320040"/>
          </a:xfrm>
          <a:prstGeom prst="rect">
            <a:avLst/>
          </a:prstGeom>
          <a:noFill/>
        </p:spPr>
        <p:txBody>
          <a:bodyPr wrap="none" lIns="36576" rIns="36576" tIns="36576" bIns="36576" anchor="t">
            <a:spAutoFit/>
          </a:bodyPr>
          <a:lstStyle/>
          <a:p>
            <a:pPr algn="l"/>
            <a:r>
              <a:rPr sz="1800" b="1">
                <a:solidFill>
                  <a:srgbClr val="1976D2"/>
                </a:solidFill>
                <a:latin typeface="Arial"/>
              </a:rPr>
              <a:t>Spectral ratio → 1</a:t>
            </a:r>
          </a:p>
        </p:txBody>
      </p:sp>
      <p:sp>
        <p:nvSpPr>
          <p:cNvPr id="22" name="TextBox 21"/>
          <p:cNvSpPr txBox="1"/>
          <p:nvPr/>
        </p:nvSpPr>
        <p:spPr>
          <a:xfrm>
            <a:off x="3291840" y="4901184"/>
            <a:ext cx="7955279" cy="365760"/>
          </a:xfrm>
          <a:prstGeom prst="rect">
            <a:avLst/>
          </a:prstGeom>
          <a:noFill/>
        </p:spPr>
        <p:txBody>
          <a:bodyPr wrap="none" lIns="36576" rIns="36576" tIns="36576" bIns="36576" anchor="t">
            <a:spAutoFit/>
          </a:bodyPr>
          <a:lstStyle/>
          <a:p>
            <a:pPr algn="l"/>
            <a:r>
              <a:rPr sz="1600" b="0">
                <a:solidFill>
                  <a:srgbClr val="20384F"/>
                </a:solidFill>
                <a:latin typeface="Arial"/>
              </a:rPr>
              <a:t>Năng lượng phổ model / ERA5 tại từng bậc điều hòa cầu</a:t>
            </a:r>
          </a:p>
        </p:txBody>
      </p:sp>
      <p:sp>
        <p:nvSpPr>
          <p:cNvPr id="23" name="TextBox 22"/>
          <p:cNvSpPr txBox="1"/>
          <p:nvPr/>
        </p:nvSpPr>
        <p:spPr>
          <a:xfrm>
            <a:off x="594360" y="6007608"/>
            <a:ext cx="11018520" cy="393192"/>
          </a:xfrm>
          <a:prstGeom prst="rect">
            <a:avLst/>
          </a:prstGeom>
          <a:noFill/>
        </p:spPr>
        <p:txBody>
          <a:bodyPr wrap="none" lIns="36576" rIns="36576" tIns="36576" bIns="36576" anchor="t">
            <a:spAutoFit/>
          </a:bodyPr>
          <a:lstStyle/>
          <a:p>
            <a:pPr algn="ctr"/>
            <a:r>
              <a:rPr sz="1019" b="0">
                <a:solidFill>
                  <a:srgbClr val="5B6773"/>
                </a:solidFill>
                <a:latin typeface="Arial"/>
              </a:rPr>
              <a:t>Variance ratio không gian khác spectral ratio; benchmark rollout không cung cấp variance ratio.</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320040" y="182880"/>
            <a:ext cx="524439" cy="438912"/>
          </a:xfrm>
          <a:prstGeom prst="rect">
            <a:avLst/>
          </a:prstGeom>
        </p:spPr>
      </p:pic>
      <p:sp>
        <p:nvSpPr>
          <p:cNvPr id="3" name="Rectangle 2"/>
          <p:cNvSpPr/>
          <p:nvPr/>
        </p:nvSpPr>
        <p:spPr>
          <a:xfrm>
            <a:off x="292608" y="713232"/>
            <a:ext cx="11594592" cy="41148"/>
          </a:xfrm>
          <a:prstGeom prst="rect">
            <a:avLst/>
          </a:prstGeom>
          <a:solidFill>
            <a:srgbClr val="1976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41832" y="182880"/>
            <a:ext cx="9646920" cy="365760"/>
          </a:xfrm>
          <a:prstGeom prst="rect">
            <a:avLst/>
          </a:prstGeom>
          <a:noFill/>
        </p:spPr>
        <p:txBody>
          <a:bodyPr wrap="none" lIns="36576" rIns="36576" tIns="36576" bIns="36576" anchor="t">
            <a:spAutoFit/>
          </a:bodyPr>
          <a:lstStyle/>
          <a:p>
            <a:pPr algn="l"/>
            <a:r>
              <a:rPr sz="2300" b="1">
                <a:solidFill>
                  <a:srgbClr val="20384F"/>
                </a:solidFill>
                <a:latin typeface="Arial"/>
              </a:rPr>
              <a:t>Benchmark rollout: 28 bước đến 7 ngày</a:t>
            </a:r>
          </a:p>
        </p:txBody>
      </p:sp>
      <p:sp>
        <p:nvSpPr>
          <p:cNvPr id="5" name="TextBox 4"/>
          <p:cNvSpPr txBox="1"/>
          <p:nvPr/>
        </p:nvSpPr>
        <p:spPr>
          <a:xfrm>
            <a:off x="11228832" y="256032"/>
            <a:ext cx="384048" cy="182880"/>
          </a:xfrm>
          <a:prstGeom prst="rect">
            <a:avLst/>
          </a:prstGeom>
          <a:noFill/>
        </p:spPr>
        <p:txBody>
          <a:bodyPr wrap="none" lIns="36576" rIns="36576" tIns="36576" bIns="36576" anchor="t">
            <a:spAutoFit/>
          </a:bodyPr>
          <a:lstStyle/>
          <a:p>
            <a:pPr algn="r"/>
            <a:r>
              <a:rPr sz="900" b="1">
                <a:solidFill>
                  <a:srgbClr val="1976D2"/>
                </a:solidFill>
                <a:latin typeface="Arial"/>
              </a:rPr>
              <a:t>19</a:t>
            </a:r>
          </a:p>
        </p:txBody>
      </p:sp>
      <p:sp>
        <p:nvSpPr>
          <p:cNvPr id="6" name="TextBox 5"/>
          <p:cNvSpPr txBox="1"/>
          <p:nvPr/>
        </p:nvSpPr>
        <p:spPr>
          <a:xfrm>
            <a:off x="365760" y="6583680"/>
            <a:ext cx="4754880" cy="146304"/>
          </a:xfrm>
          <a:prstGeom prst="rect">
            <a:avLst/>
          </a:prstGeom>
          <a:noFill/>
        </p:spPr>
        <p:txBody>
          <a:bodyPr wrap="none" lIns="36576" rIns="36576" tIns="36576" bIns="36576" anchor="t">
            <a:spAutoFit/>
          </a:bodyPr>
          <a:lstStyle/>
          <a:p>
            <a:pPr algn="l"/>
            <a:r>
              <a:rPr sz="620" b="0">
                <a:solidFill>
                  <a:srgbClr val="8794A1"/>
                </a:solidFill>
                <a:latin typeface="Arial"/>
              </a:rPr>
              <a:t>Lương Nguyễn Thành Hưng · NeuralAtmosphereOperator</a:t>
            </a:r>
          </a:p>
        </p:txBody>
      </p:sp>
      <p:sp>
        <p:nvSpPr>
          <p:cNvPr id="7" name="TextBox 6"/>
          <p:cNvSpPr txBox="1"/>
          <p:nvPr/>
        </p:nvSpPr>
        <p:spPr>
          <a:xfrm>
            <a:off x="10332720" y="6583680"/>
            <a:ext cx="1325880" cy="146304"/>
          </a:xfrm>
          <a:prstGeom prst="rect">
            <a:avLst/>
          </a:prstGeom>
          <a:noFill/>
        </p:spPr>
        <p:txBody>
          <a:bodyPr wrap="none" lIns="36576" rIns="36576" tIns="36576" bIns="36576" anchor="t">
            <a:spAutoFit/>
          </a:bodyPr>
          <a:lstStyle/>
          <a:p>
            <a:pPr algn="r"/>
            <a:r>
              <a:rPr sz="620" b="0">
                <a:solidFill>
                  <a:srgbClr val="8794A1"/>
                </a:solidFill>
                <a:latin typeface="Arial"/>
              </a:rPr>
              <a:t>Stage 1 → Stage 2</a:t>
            </a:r>
          </a:p>
        </p:txBody>
      </p:sp>
      <p:sp>
        <p:nvSpPr>
          <p:cNvPr id="8" name="Rounded Rectangle 7"/>
          <p:cNvSpPr/>
          <p:nvPr/>
        </p:nvSpPr>
        <p:spPr>
          <a:xfrm>
            <a:off x="548640" y="1417320"/>
            <a:ext cx="1673352" cy="1115568"/>
          </a:xfrm>
          <a:prstGeom prst="roundRect">
            <a:avLst>
              <a:gd name="adj" fmla="val 12000"/>
            </a:avLst>
          </a:prstGeom>
          <a:solidFill>
            <a:srgbClr val="EEF5FB"/>
          </a:solidFill>
          <a:ln w="12700">
            <a:solidFill>
              <a:srgbClr val="1976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1609344"/>
            <a:ext cx="1463040" cy="320040"/>
          </a:xfrm>
          <a:prstGeom prst="rect">
            <a:avLst/>
          </a:prstGeom>
          <a:noFill/>
        </p:spPr>
        <p:txBody>
          <a:bodyPr wrap="none" lIns="36576" rIns="36576" tIns="36576" bIns="36576" anchor="t">
            <a:spAutoFit/>
          </a:bodyPr>
          <a:lstStyle/>
          <a:p>
            <a:pPr algn="ctr"/>
            <a:r>
              <a:rPr sz="2000" b="1">
                <a:solidFill>
                  <a:srgbClr val="1976D2"/>
                </a:solidFill>
                <a:latin typeface="Arial"/>
              </a:rPr>
              <a:t>6 giờ</a:t>
            </a:r>
          </a:p>
        </p:txBody>
      </p:sp>
      <p:sp>
        <p:nvSpPr>
          <p:cNvPr id="10" name="TextBox 9"/>
          <p:cNvSpPr txBox="1"/>
          <p:nvPr/>
        </p:nvSpPr>
        <p:spPr>
          <a:xfrm>
            <a:off x="658368" y="2057400"/>
            <a:ext cx="1463040" cy="228600"/>
          </a:xfrm>
          <a:prstGeom prst="rect">
            <a:avLst/>
          </a:prstGeom>
          <a:noFill/>
        </p:spPr>
        <p:txBody>
          <a:bodyPr wrap="none" lIns="36576" rIns="36576" tIns="36576" bIns="36576" anchor="t">
            <a:spAutoFit/>
          </a:bodyPr>
          <a:lstStyle/>
          <a:p>
            <a:pPr algn="ctr"/>
            <a:r>
              <a:rPr sz="1400" b="0">
                <a:solidFill>
                  <a:srgbClr val="20384F"/>
                </a:solidFill>
                <a:latin typeface="Arial"/>
              </a:rPr>
              <a:t>1 bước</a:t>
            </a:r>
          </a:p>
        </p:txBody>
      </p:sp>
      <p:sp>
        <p:nvSpPr>
          <p:cNvPr id="11" name="Rounded Rectangle 10"/>
          <p:cNvSpPr/>
          <p:nvPr/>
        </p:nvSpPr>
        <p:spPr>
          <a:xfrm>
            <a:off x="2487168" y="1417320"/>
            <a:ext cx="1673352" cy="1115568"/>
          </a:xfrm>
          <a:prstGeom prst="roundRect">
            <a:avLst>
              <a:gd name="adj" fmla="val 12000"/>
            </a:avLst>
          </a:prstGeom>
          <a:solidFill>
            <a:srgbClr val="EEF5FB"/>
          </a:solidFill>
          <a:ln w="12700">
            <a:solidFill>
              <a:srgbClr val="1976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96896" y="1609344"/>
            <a:ext cx="1463040" cy="320040"/>
          </a:xfrm>
          <a:prstGeom prst="rect">
            <a:avLst/>
          </a:prstGeom>
          <a:noFill/>
        </p:spPr>
        <p:txBody>
          <a:bodyPr wrap="none" lIns="36576" rIns="36576" tIns="36576" bIns="36576" anchor="t">
            <a:spAutoFit/>
          </a:bodyPr>
          <a:lstStyle/>
          <a:p>
            <a:pPr algn="ctr"/>
            <a:r>
              <a:rPr sz="2000" b="1">
                <a:solidFill>
                  <a:srgbClr val="1976D2"/>
                </a:solidFill>
                <a:latin typeface="Arial"/>
              </a:rPr>
              <a:t>12 giờ</a:t>
            </a:r>
          </a:p>
        </p:txBody>
      </p:sp>
      <p:sp>
        <p:nvSpPr>
          <p:cNvPr id="13" name="TextBox 12"/>
          <p:cNvSpPr txBox="1"/>
          <p:nvPr/>
        </p:nvSpPr>
        <p:spPr>
          <a:xfrm>
            <a:off x="2596896" y="2057400"/>
            <a:ext cx="1463040" cy="228600"/>
          </a:xfrm>
          <a:prstGeom prst="rect">
            <a:avLst/>
          </a:prstGeom>
          <a:noFill/>
        </p:spPr>
        <p:txBody>
          <a:bodyPr wrap="none" lIns="36576" rIns="36576" tIns="36576" bIns="36576" anchor="t">
            <a:spAutoFit/>
          </a:bodyPr>
          <a:lstStyle/>
          <a:p>
            <a:pPr algn="ctr"/>
            <a:r>
              <a:rPr sz="1400" b="0">
                <a:solidFill>
                  <a:srgbClr val="20384F"/>
                </a:solidFill>
                <a:latin typeface="Arial"/>
              </a:rPr>
              <a:t>2 bước</a:t>
            </a:r>
          </a:p>
        </p:txBody>
      </p:sp>
      <p:sp>
        <p:nvSpPr>
          <p:cNvPr id="14" name="Rounded Rectangle 13"/>
          <p:cNvSpPr/>
          <p:nvPr/>
        </p:nvSpPr>
        <p:spPr>
          <a:xfrm>
            <a:off x="4425696" y="1417320"/>
            <a:ext cx="1673352" cy="1115568"/>
          </a:xfrm>
          <a:prstGeom prst="roundRect">
            <a:avLst>
              <a:gd name="adj" fmla="val 12000"/>
            </a:avLst>
          </a:prstGeom>
          <a:solidFill>
            <a:srgbClr val="EEF5FB"/>
          </a:solidFill>
          <a:ln w="12700">
            <a:solidFill>
              <a:srgbClr val="1976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35424" y="1609344"/>
            <a:ext cx="1463040" cy="320040"/>
          </a:xfrm>
          <a:prstGeom prst="rect">
            <a:avLst/>
          </a:prstGeom>
          <a:noFill/>
        </p:spPr>
        <p:txBody>
          <a:bodyPr wrap="none" lIns="36576" rIns="36576" tIns="36576" bIns="36576" anchor="t">
            <a:spAutoFit/>
          </a:bodyPr>
          <a:lstStyle/>
          <a:p>
            <a:pPr algn="ctr"/>
            <a:r>
              <a:rPr sz="2000" b="1">
                <a:solidFill>
                  <a:srgbClr val="1976D2"/>
                </a:solidFill>
                <a:latin typeface="Arial"/>
              </a:rPr>
              <a:t>1 ngày</a:t>
            </a:r>
          </a:p>
        </p:txBody>
      </p:sp>
      <p:sp>
        <p:nvSpPr>
          <p:cNvPr id="16" name="TextBox 15"/>
          <p:cNvSpPr txBox="1"/>
          <p:nvPr/>
        </p:nvSpPr>
        <p:spPr>
          <a:xfrm>
            <a:off x="4535424" y="2057400"/>
            <a:ext cx="1463040" cy="228600"/>
          </a:xfrm>
          <a:prstGeom prst="rect">
            <a:avLst/>
          </a:prstGeom>
          <a:noFill/>
        </p:spPr>
        <p:txBody>
          <a:bodyPr wrap="none" lIns="36576" rIns="36576" tIns="36576" bIns="36576" anchor="t">
            <a:spAutoFit/>
          </a:bodyPr>
          <a:lstStyle/>
          <a:p>
            <a:pPr algn="ctr"/>
            <a:r>
              <a:rPr sz="1400" b="0">
                <a:solidFill>
                  <a:srgbClr val="20384F"/>
                </a:solidFill>
                <a:latin typeface="Arial"/>
              </a:rPr>
              <a:t>4 bước</a:t>
            </a:r>
          </a:p>
        </p:txBody>
      </p:sp>
      <p:sp>
        <p:nvSpPr>
          <p:cNvPr id="17" name="Rounded Rectangle 16"/>
          <p:cNvSpPr/>
          <p:nvPr/>
        </p:nvSpPr>
        <p:spPr>
          <a:xfrm>
            <a:off x="6364224" y="1417320"/>
            <a:ext cx="1673352" cy="1115568"/>
          </a:xfrm>
          <a:prstGeom prst="roundRect">
            <a:avLst>
              <a:gd name="adj" fmla="val 12000"/>
            </a:avLst>
          </a:prstGeom>
          <a:solidFill>
            <a:srgbClr val="EEF5FB"/>
          </a:solidFill>
          <a:ln w="12700">
            <a:solidFill>
              <a:srgbClr val="1976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73952" y="1609344"/>
            <a:ext cx="1463040" cy="320040"/>
          </a:xfrm>
          <a:prstGeom prst="rect">
            <a:avLst/>
          </a:prstGeom>
          <a:noFill/>
        </p:spPr>
        <p:txBody>
          <a:bodyPr wrap="none" lIns="36576" rIns="36576" tIns="36576" bIns="36576" anchor="t">
            <a:spAutoFit/>
          </a:bodyPr>
          <a:lstStyle/>
          <a:p>
            <a:pPr algn="ctr"/>
            <a:r>
              <a:rPr sz="2000" b="1">
                <a:solidFill>
                  <a:srgbClr val="1976D2"/>
                </a:solidFill>
                <a:latin typeface="Arial"/>
              </a:rPr>
              <a:t>3 ngày</a:t>
            </a:r>
          </a:p>
        </p:txBody>
      </p:sp>
      <p:sp>
        <p:nvSpPr>
          <p:cNvPr id="19" name="TextBox 18"/>
          <p:cNvSpPr txBox="1"/>
          <p:nvPr/>
        </p:nvSpPr>
        <p:spPr>
          <a:xfrm>
            <a:off x="6473952" y="2057400"/>
            <a:ext cx="1463040" cy="228600"/>
          </a:xfrm>
          <a:prstGeom prst="rect">
            <a:avLst/>
          </a:prstGeom>
          <a:noFill/>
        </p:spPr>
        <p:txBody>
          <a:bodyPr wrap="none" lIns="36576" rIns="36576" tIns="36576" bIns="36576" anchor="t">
            <a:spAutoFit/>
          </a:bodyPr>
          <a:lstStyle/>
          <a:p>
            <a:pPr algn="ctr"/>
            <a:r>
              <a:rPr sz="1400" b="0">
                <a:solidFill>
                  <a:srgbClr val="20384F"/>
                </a:solidFill>
                <a:latin typeface="Arial"/>
              </a:rPr>
              <a:t>12 bước</a:t>
            </a:r>
          </a:p>
        </p:txBody>
      </p:sp>
      <p:sp>
        <p:nvSpPr>
          <p:cNvPr id="20" name="Rounded Rectangle 19"/>
          <p:cNvSpPr/>
          <p:nvPr/>
        </p:nvSpPr>
        <p:spPr>
          <a:xfrm>
            <a:off x="8302752" y="1417320"/>
            <a:ext cx="1673352" cy="1115568"/>
          </a:xfrm>
          <a:prstGeom prst="roundRect">
            <a:avLst>
              <a:gd name="adj" fmla="val 12000"/>
            </a:avLst>
          </a:prstGeom>
          <a:solidFill>
            <a:srgbClr val="EEF5FB"/>
          </a:solidFill>
          <a:ln w="12700">
            <a:solidFill>
              <a:srgbClr val="1976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412480" y="1609344"/>
            <a:ext cx="1463040" cy="320040"/>
          </a:xfrm>
          <a:prstGeom prst="rect">
            <a:avLst/>
          </a:prstGeom>
          <a:noFill/>
        </p:spPr>
        <p:txBody>
          <a:bodyPr wrap="none" lIns="36576" rIns="36576" tIns="36576" bIns="36576" anchor="t">
            <a:spAutoFit/>
          </a:bodyPr>
          <a:lstStyle/>
          <a:p>
            <a:pPr algn="ctr"/>
            <a:r>
              <a:rPr sz="2000" b="1">
                <a:solidFill>
                  <a:srgbClr val="1976D2"/>
                </a:solidFill>
                <a:latin typeface="Arial"/>
              </a:rPr>
              <a:t>5 ngày</a:t>
            </a:r>
          </a:p>
        </p:txBody>
      </p:sp>
      <p:sp>
        <p:nvSpPr>
          <p:cNvPr id="22" name="TextBox 21"/>
          <p:cNvSpPr txBox="1"/>
          <p:nvPr/>
        </p:nvSpPr>
        <p:spPr>
          <a:xfrm>
            <a:off x="8412480" y="2057400"/>
            <a:ext cx="1463040" cy="228600"/>
          </a:xfrm>
          <a:prstGeom prst="rect">
            <a:avLst/>
          </a:prstGeom>
          <a:noFill/>
        </p:spPr>
        <p:txBody>
          <a:bodyPr wrap="none" lIns="36576" rIns="36576" tIns="36576" bIns="36576" anchor="t">
            <a:spAutoFit/>
          </a:bodyPr>
          <a:lstStyle/>
          <a:p>
            <a:pPr algn="ctr"/>
            <a:r>
              <a:rPr sz="1400" b="0">
                <a:solidFill>
                  <a:srgbClr val="20384F"/>
                </a:solidFill>
                <a:latin typeface="Arial"/>
              </a:rPr>
              <a:t>20 bước</a:t>
            </a:r>
          </a:p>
        </p:txBody>
      </p:sp>
      <p:sp>
        <p:nvSpPr>
          <p:cNvPr id="23" name="Rounded Rectangle 22"/>
          <p:cNvSpPr/>
          <p:nvPr/>
        </p:nvSpPr>
        <p:spPr>
          <a:xfrm>
            <a:off x="10241280" y="1417320"/>
            <a:ext cx="1673352" cy="1115568"/>
          </a:xfrm>
          <a:prstGeom prst="roundRect">
            <a:avLst>
              <a:gd name="adj" fmla="val 12000"/>
            </a:avLst>
          </a:prstGeom>
          <a:solidFill>
            <a:srgbClr val="EEF5FB"/>
          </a:solidFill>
          <a:ln w="12700">
            <a:solidFill>
              <a:srgbClr val="1976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351008" y="1609344"/>
            <a:ext cx="1463040" cy="320040"/>
          </a:xfrm>
          <a:prstGeom prst="rect">
            <a:avLst/>
          </a:prstGeom>
          <a:noFill/>
        </p:spPr>
        <p:txBody>
          <a:bodyPr wrap="none" lIns="36576" rIns="36576" tIns="36576" bIns="36576" anchor="t">
            <a:spAutoFit/>
          </a:bodyPr>
          <a:lstStyle/>
          <a:p>
            <a:pPr algn="ctr"/>
            <a:r>
              <a:rPr sz="2000" b="1">
                <a:solidFill>
                  <a:srgbClr val="1976D2"/>
                </a:solidFill>
                <a:latin typeface="Arial"/>
              </a:rPr>
              <a:t>7 ngày</a:t>
            </a:r>
          </a:p>
        </p:txBody>
      </p:sp>
      <p:sp>
        <p:nvSpPr>
          <p:cNvPr id="25" name="TextBox 24"/>
          <p:cNvSpPr txBox="1"/>
          <p:nvPr/>
        </p:nvSpPr>
        <p:spPr>
          <a:xfrm>
            <a:off x="10351008" y="2057400"/>
            <a:ext cx="1463040" cy="228600"/>
          </a:xfrm>
          <a:prstGeom prst="rect">
            <a:avLst/>
          </a:prstGeom>
          <a:noFill/>
        </p:spPr>
        <p:txBody>
          <a:bodyPr wrap="none" lIns="36576" rIns="36576" tIns="36576" bIns="36576" anchor="t">
            <a:spAutoFit/>
          </a:bodyPr>
          <a:lstStyle/>
          <a:p>
            <a:pPr algn="ctr"/>
            <a:r>
              <a:rPr sz="1400" b="0">
                <a:solidFill>
                  <a:srgbClr val="20384F"/>
                </a:solidFill>
                <a:latin typeface="Arial"/>
              </a:rPr>
              <a:t>28 bước</a:t>
            </a:r>
          </a:p>
        </p:txBody>
      </p:sp>
      <p:sp>
        <p:nvSpPr>
          <p:cNvPr id="26" name="TextBox 25"/>
          <p:cNvSpPr txBox="1"/>
          <p:nvPr/>
        </p:nvSpPr>
        <p:spPr>
          <a:xfrm>
            <a:off x="822960" y="3108960"/>
            <a:ext cx="10561320" cy="2194560"/>
          </a:xfrm>
          <a:prstGeom prst="rect">
            <a:avLst/>
          </a:prstGeom>
          <a:noFill/>
        </p:spPr>
        <p:txBody>
          <a:bodyPr wrap="none" lIns="73152" rIns="36576" tIns="27432">
            <a:spAutoFit/>
          </a:bodyPr>
          <a:lstStyle/>
          <a:p>
            <a:pPr>
              <a:spcAft>
                <a:spcPts val="1700"/>
              </a:spcAft>
              <a:defRPr sz="1800">
                <a:solidFill>
                  <a:srgbClr val="20384F"/>
                </a:solidFill>
                <a:latin typeface="Arial"/>
              </a:defRPr>
            </a:pPr>
            <a:r>
              <a:t>•  Autoregressive rollout: dự báo bước trước trở thành đầu vào bước sau</a:t>
            </a:r>
          </a:p>
          <a:p>
            <a:pPr>
              <a:spcAft>
                <a:spcPts val="1700"/>
              </a:spcAft>
              <a:defRPr sz="1800">
                <a:solidFill>
                  <a:srgbClr val="20384F"/>
                </a:solidFill>
                <a:latin typeface="Arial"/>
              </a:defRPr>
            </a:pPr>
            <a:r>
              <a:t>•  Model và baselines được chấm trên cùng khởi tạo trong benchmark gốc</a:t>
            </a:r>
          </a:p>
          <a:p>
            <a:pPr>
              <a:spcAft>
                <a:spcPts val="1700"/>
              </a:spcAft>
              <a:defRPr sz="1800">
                <a:solidFill>
                  <a:srgbClr val="20384F"/>
                </a:solidFill>
                <a:latin typeface="Arial"/>
              </a:defRPr>
            </a:pPr>
            <a:r>
              <a:t>•  Trọng số cos(vĩ độ); ACC trừ climatology từ tập train</a:t>
            </a:r>
          </a:p>
          <a:p>
            <a:pPr>
              <a:spcAft>
                <a:spcPts val="1700"/>
              </a:spcAft>
              <a:defRPr sz="1800">
                <a:solidFill>
                  <a:srgbClr val="20384F"/>
                </a:solidFill>
                <a:latin typeface="Arial"/>
              </a:defRPr>
            </a:pPr>
            <a:r>
              <a:t>•  Dải tô trên RMSE: khoảng tin cậy bootstrap 95% đã lưu trong CSV</a:t>
            </a:r>
          </a:p>
        </p:txBody>
      </p:sp>
      <p:sp>
        <p:nvSpPr>
          <p:cNvPr id="27" name="TextBox 26"/>
          <p:cNvSpPr txBox="1"/>
          <p:nvPr/>
        </p:nvSpPr>
        <p:spPr>
          <a:xfrm>
            <a:off x="594360" y="6007608"/>
            <a:ext cx="11018520" cy="393192"/>
          </a:xfrm>
          <a:prstGeom prst="rect">
            <a:avLst/>
          </a:prstGeom>
          <a:noFill/>
        </p:spPr>
        <p:txBody>
          <a:bodyPr wrap="none" lIns="36576" rIns="36576" tIns="36576" bIns="36576" anchor="t">
            <a:spAutoFit/>
          </a:bodyPr>
          <a:lstStyle/>
          <a:p>
            <a:pPr algn="ctr"/>
            <a:r>
              <a:rPr sz="1019" b="0">
                <a:solidFill>
                  <a:srgbClr val="5B6773"/>
                </a:solidFill>
                <a:latin typeface="Arial"/>
              </a:rPr>
              <a:t>Nguồn: benchmark gốc ngày 15/09/2026 · 60 khởi tạo · không phải smoke test 12 mẫu.</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320040" y="182880"/>
            <a:ext cx="524439" cy="438912"/>
          </a:xfrm>
          <a:prstGeom prst="rect">
            <a:avLst/>
          </a:prstGeom>
        </p:spPr>
      </p:pic>
      <p:sp>
        <p:nvSpPr>
          <p:cNvPr id="3" name="Rectangle 2"/>
          <p:cNvSpPr/>
          <p:nvPr/>
        </p:nvSpPr>
        <p:spPr>
          <a:xfrm>
            <a:off x="292608" y="713232"/>
            <a:ext cx="11594592" cy="41148"/>
          </a:xfrm>
          <a:prstGeom prst="rect">
            <a:avLst/>
          </a:prstGeom>
          <a:solidFill>
            <a:srgbClr val="1976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41832" y="182880"/>
            <a:ext cx="9646920" cy="365760"/>
          </a:xfrm>
          <a:prstGeom prst="rect">
            <a:avLst/>
          </a:prstGeom>
          <a:noFill/>
        </p:spPr>
        <p:txBody>
          <a:bodyPr wrap="none" lIns="36576" rIns="36576" tIns="36576" bIns="36576" anchor="t">
            <a:spAutoFit/>
          </a:bodyPr>
          <a:lstStyle/>
          <a:p>
            <a:pPr algn="l"/>
            <a:r>
              <a:rPr sz="2300" b="1">
                <a:solidFill>
                  <a:srgbClr val="20384F"/>
                </a:solidFill>
                <a:latin typeface="Arial"/>
              </a:rPr>
              <a:t>RMSE theo thời hạn dự báo</a:t>
            </a:r>
          </a:p>
        </p:txBody>
      </p:sp>
      <p:sp>
        <p:nvSpPr>
          <p:cNvPr id="5" name="TextBox 4"/>
          <p:cNvSpPr txBox="1"/>
          <p:nvPr/>
        </p:nvSpPr>
        <p:spPr>
          <a:xfrm>
            <a:off x="11228832" y="256032"/>
            <a:ext cx="384048" cy="182880"/>
          </a:xfrm>
          <a:prstGeom prst="rect">
            <a:avLst/>
          </a:prstGeom>
          <a:noFill/>
        </p:spPr>
        <p:txBody>
          <a:bodyPr wrap="none" lIns="36576" rIns="36576" tIns="36576" bIns="36576" anchor="t">
            <a:spAutoFit/>
          </a:bodyPr>
          <a:lstStyle/>
          <a:p>
            <a:pPr algn="r"/>
            <a:r>
              <a:rPr sz="900" b="1">
                <a:solidFill>
                  <a:srgbClr val="1976D2"/>
                </a:solidFill>
                <a:latin typeface="Arial"/>
              </a:rPr>
              <a:t>20</a:t>
            </a:r>
          </a:p>
        </p:txBody>
      </p:sp>
      <p:sp>
        <p:nvSpPr>
          <p:cNvPr id="6" name="TextBox 5"/>
          <p:cNvSpPr txBox="1"/>
          <p:nvPr/>
        </p:nvSpPr>
        <p:spPr>
          <a:xfrm>
            <a:off x="365760" y="6583680"/>
            <a:ext cx="4754880" cy="146304"/>
          </a:xfrm>
          <a:prstGeom prst="rect">
            <a:avLst/>
          </a:prstGeom>
          <a:noFill/>
        </p:spPr>
        <p:txBody>
          <a:bodyPr wrap="none" lIns="36576" rIns="36576" tIns="36576" bIns="36576" anchor="t">
            <a:spAutoFit/>
          </a:bodyPr>
          <a:lstStyle/>
          <a:p>
            <a:pPr algn="l"/>
            <a:r>
              <a:rPr sz="620" b="0">
                <a:solidFill>
                  <a:srgbClr val="8794A1"/>
                </a:solidFill>
                <a:latin typeface="Arial"/>
              </a:rPr>
              <a:t>Lương Nguyễn Thành Hưng · NeuralAtmosphereOperator</a:t>
            </a:r>
          </a:p>
        </p:txBody>
      </p:sp>
      <p:sp>
        <p:nvSpPr>
          <p:cNvPr id="7" name="TextBox 6"/>
          <p:cNvSpPr txBox="1"/>
          <p:nvPr/>
        </p:nvSpPr>
        <p:spPr>
          <a:xfrm>
            <a:off x="10332720" y="6583680"/>
            <a:ext cx="1325880" cy="146304"/>
          </a:xfrm>
          <a:prstGeom prst="rect">
            <a:avLst/>
          </a:prstGeom>
          <a:noFill/>
        </p:spPr>
        <p:txBody>
          <a:bodyPr wrap="none" lIns="36576" rIns="36576" tIns="36576" bIns="36576" anchor="t">
            <a:spAutoFit/>
          </a:bodyPr>
          <a:lstStyle/>
          <a:p>
            <a:pPr algn="r"/>
            <a:r>
              <a:rPr sz="620" b="0">
                <a:solidFill>
                  <a:srgbClr val="8794A1"/>
                </a:solidFill>
                <a:latin typeface="Arial"/>
              </a:rPr>
              <a:t>Stage 1 → Stage 2</a:t>
            </a:r>
          </a:p>
        </p:txBody>
      </p:sp>
      <p:pic>
        <p:nvPicPr>
          <p:cNvPr id="8" name="Picture 7" descr="rollout_rmse.png"/>
          <p:cNvPicPr>
            <a:picLocks noChangeAspect="1"/>
          </p:cNvPicPr>
          <p:nvPr/>
        </p:nvPicPr>
        <p:blipFill>
          <a:blip r:embed="rId3"/>
          <a:stretch>
            <a:fillRect/>
          </a:stretch>
        </p:blipFill>
        <p:spPr>
          <a:xfrm>
            <a:off x="1072928" y="1042415"/>
            <a:ext cx="10045837" cy="4892040"/>
          </a:xfrm>
          <a:prstGeom prst="rect">
            <a:avLst/>
          </a:prstGeom>
        </p:spPr>
      </p:pic>
      <p:sp>
        <p:nvSpPr>
          <p:cNvPr id="9" name="TextBox 8"/>
          <p:cNvSpPr txBox="1"/>
          <p:nvPr/>
        </p:nvSpPr>
        <p:spPr>
          <a:xfrm>
            <a:off x="594360" y="6007608"/>
            <a:ext cx="11018520" cy="393192"/>
          </a:xfrm>
          <a:prstGeom prst="rect">
            <a:avLst/>
          </a:prstGeom>
          <a:noFill/>
        </p:spPr>
        <p:txBody>
          <a:bodyPr wrap="none" lIns="36576" rIns="36576" tIns="36576" bIns="36576" anchor="t">
            <a:spAutoFit/>
          </a:bodyPr>
          <a:lstStyle/>
          <a:p>
            <a:pPr algn="ctr"/>
            <a:r>
              <a:rPr sz="1019" b="0">
                <a:solidFill>
                  <a:srgbClr val="5B6773"/>
                </a:solidFill>
                <a:latin typeface="Arial"/>
              </a:rPr>
              <a:t>Benchmark 60 khởi tạo · test 2020 · 6–168 giờ · dải tô: bootstrap 95% cho RMSE từng model.</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320040" y="182880"/>
            <a:ext cx="524439" cy="438912"/>
          </a:xfrm>
          <a:prstGeom prst="rect">
            <a:avLst/>
          </a:prstGeom>
        </p:spPr>
      </p:pic>
      <p:sp>
        <p:nvSpPr>
          <p:cNvPr id="3" name="Rectangle 2"/>
          <p:cNvSpPr/>
          <p:nvPr/>
        </p:nvSpPr>
        <p:spPr>
          <a:xfrm>
            <a:off x="292608" y="713232"/>
            <a:ext cx="11594592" cy="41148"/>
          </a:xfrm>
          <a:prstGeom prst="rect">
            <a:avLst/>
          </a:prstGeom>
          <a:solidFill>
            <a:srgbClr val="1976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41832" y="182880"/>
            <a:ext cx="9646920" cy="365760"/>
          </a:xfrm>
          <a:prstGeom prst="rect">
            <a:avLst/>
          </a:prstGeom>
          <a:noFill/>
        </p:spPr>
        <p:txBody>
          <a:bodyPr wrap="none" lIns="36576" rIns="36576" tIns="36576" bIns="36576" anchor="t">
            <a:spAutoFit/>
          </a:bodyPr>
          <a:lstStyle/>
          <a:p>
            <a:pPr algn="l"/>
            <a:r>
              <a:rPr sz="2300" b="1">
                <a:solidFill>
                  <a:srgbClr val="20384F"/>
                </a:solidFill>
                <a:latin typeface="Arial"/>
              </a:rPr>
              <a:t>ACC theo thời hạn dự báo</a:t>
            </a:r>
          </a:p>
        </p:txBody>
      </p:sp>
      <p:sp>
        <p:nvSpPr>
          <p:cNvPr id="5" name="TextBox 4"/>
          <p:cNvSpPr txBox="1"/>
          <p:nvPr/>
        </p:nvSpPr>
        <p:spPr>
          <a:xfrm>
            <a:off x="11228832" y="256032"/>
            <a:ext cx="384048" cy="182880"/>
          </a:xfrm>
          <a:prstGeom prst="rect">
            <a:avLst/>
          </a:prstGeom>
          <a:noFill/>
        </p:spPr>
        <p:txBody>
          <a:bodyPr wrap="none" lIns="36576" rIns="36576" tIns="36576" bIns="36576" anchor="t">
            <a:spAutoFit/>
          </a:bodyPr>
          <a:lstStyle/>
          <a:p>
            <a:pPr algn="r"/>
            <a:r>
              <a:rPr sz="900" b="1">
                <a:solidFill>
                  <a:srgbClr val="1976D2"/>
                </a:solidFill>
                <a:latin typeface="Arial"/>
              </a:rPr>
              <a:t>21</a:t>
            </a:r>
          </a:p>
        </p:txBody>
      </p:sp>
      <p:sp>
        <p:nvSpPr>
          <p:cNvPr id="6" name="TextBox 5"/>
          <p:cNvSpPr txBox="1"/>
          <p:nvPr/>
        </p:nvSpPr>
        <p:spPr>
          <a:xfrm>
            <a:off x="365760" y="6583680"/>
            <a:ext cx="4754880" cy="146304"/>
          </a:xfrm>
          <a:prstGeom prst="rect">
            <a:avLst/>
          </a:prstGeom>
          <a:noFill/>
        </p:spPr>
        <p:txBody>
          <a:bodyPr wrap="none" lIns="36576" rIns="36576" tIns="36576" bIns="36576" anchor="t">
            <a:spAutoFit/>
          </a:bodyPr>
          <a:lstStyle/>
          <a:p>
            <a:pPr algn="l"/>
            <a:r>
              <a:rPr sz="620" b="0">
                <a:solidFill>
                  <a:srgbClr val="8794A1"/>
                </a:solidFill>
                <a:latin typeface="Arial"/>
              </a:rPr>
              <a:t>Lương Nguyễn Thành Hưng · NeuralAtmosphereOperator</a:t>
            </a:r>
          </a:p>
        </p:txBody>
      </p:sp>
      <p:sp>
        <p:nvSpPr>
          <p:cNvPr id="7" name="TextBox 6"/>
          <p:cNvSpPr txBox="1"/>
          <p:nvPr/>
        </p:nvSpPr>
        <p:spPr>
          <a:xfrm>
            <a:off x="10332720" y="6583680"/>
            <a:ext cx="1325880" cy="146304"/>
          </a:xfrm>
          <a:prstGeom prst="rect">
            <a:avLst/>
          </a:prstGeom>
          <a:noFill/>
        </p:spPr>
        <p:txBody>
          <a:bodyPr wrap="none" lIns="36576" rIns="36576" tIns="36576" bIns="36576" anchor="t">
            <a:spAutoFit/>
          </a:bodyPr>
          <a:lstStyle/>
          <a:p>
            <a:pPr algn="r"/>
            <a:r>
              <a:rPr sz="620" b="0">
                <a:solidFill>
                  <a:srgbClr val="8794A1"/>
                </a:solidFill>
                <a:latin typeface="Arial"/>
              </a:rPr>
              <a:t>Stage 1 → Stage 2</a:t>
            </a:r>
          </a:p>
        </p:txBody>
      </p:sp>
      <p:pic>
        <p:nvPicPr>
          <p:cNvPr id="8" name="Picture 7" descr="rollout_acc.png"/>
          <p:cNvPicPr>
            <a:picLocks noChangeAspect="1"/>
          </p:cNvPicPr>
          <p:nvPr/>
        </p:nvPicPr>
        <p:blipFill>
          <a:blip r:embed="rId3"/>
          <a:stretch>
            <a:fillRect/>
          </a:stretch>
        </p:blipFill>
        <p:spPr>
          <a:xfrm>
            <a:off x="1051705" y="1042415"/>
            <a:ext cx="10088284" cy="4892040"/>
          </a:xfrm>
          <a:prstGeom prst="rect">
            <a:avLst/>
          </a:prstGeom>
        </p:spPr>
      </p:pic>
      <p:sp>
        <p:nvSpPr>
          <p:cNvPr id="9" name="TextBox 8"/>
          <p:cNvSpPr txBox="1"/>
          <p:nvPr/>
        </p:nvSpPr>
        <p:spPr>
          <a:xfrm>
            <a:off x="594360" y="6007608"/>
            <a:ext cx="11018520" cy="393192"/>
          </a:xfrm>
          <a:prstGeom prst="rect">
            <a:avLst/>
          </a:prstGeom>
          <a:noFill/>
        </p:spPr>
        <p:txBody>
          <a:bodyPr wrap="none" lIns="36576" rIns="36576" tIns="36576" bIns="36576" anchor="t">
            <a:spAutoFit/>
          </a:bodyPr>
          <a:lstStyle/>
          <a:p>
            <a:pPr algn="ctr"/>
            <a:r>
              <a:rPr sz="1019" b="0">
                <a:solidFill>
                  <a:srgbClr val="5B6773"/>
                </a:solidFill>
                <a:latin typeface="Arial"/>
              </a:rPr>
              <a:t>ACC dùng climatology từ tập train · đường xám: persistence · không đặt một ngưỡng chất lượng chung cho mọi biến.</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320040" y="182880"/>
            <a:ext cx="524439" cy="438912"/>
          </a:xfrm>
          <a:prstGeom prst="rect">
            <a:avLst/>
          </a:prstGeom>
        </p:spPr>
      </p:pic>
      <p:sp>
        <p:nvSpPr>
          <p:cNvPr id="3" name="Rectangle 2"/>
          <p:cNvSpPr/>
          <p:nvPr/>
        </p:nvSpPr>
        <p:spPr>
          <a:xfrm>
            <a:off x="292608" y="713232"/>
            <a:ext cx="11594592" cy="41148"/>
          </a:xfrm>
          <a:prstGeom prst="rect">
            <a:avLst/>
          </a:prstGeom>
          <a:solidFill>
            <a:srgbClr val="1976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41832" y="182880"/>
            <a:ext cx="9646920" cy="365760"/>
          </a:xfrm>
          <a:prstGeom prst="rect">
            <a:avLst/>
          </a:prstGeom>
          <a:noFill/>
        </p:spPr>
        <p:txBody>
          <a:bodyPr wrap="none" lIns="36576" rIns="36576" tIns="36576" bIns="36576" anchor="t">
            <a:spAutoFit/>
          </a:bodyPr>
          <a:lstStyle/>
          <a:p>
            <a:pPr algn="l"/>
            <a:r>
              <a:rPr sz="2300" b="1">
                <a:solidFill>
                  <a:srgbClr val="20384F"/>
                </a:solidFill>
                <a:latin typeface="Arial"/>
              </a:rPr>
              <a:t>Kết quả tại 7 ngày: Stage 1 và Stage 2</a:t>
            </a:r>
          </a:p>
        </p:txBody>
      </p:sp>
      <p:sp>
        <p:nvSpPr>
          <p:cNvPr id="5" name="TextBox 4"/>
          <p:cNvSpPr txBox="1"/>
          <p:nvPr/>
        </p:nvSpPr>
        <p:spPr>
          <a:xfrm>
            <a:off x="11228832" y="256032"/>
            <a:ext cx="384048" cy="182880"/>
          </a:xfrm>
          <a:prstGeom prst="rect">
            <a:avLst/>
          </a:prstGeom>
          <a:noFill/>
        </p:spPr>
        <p:txBody>
          <a:bodyPr wrap="none" lIns="36576" rIns="36576" tIns="36576" bIns="36576" anchor="t">
            <a:spAutoFit/>
          </a:bodyPr>
          <a:lstStyle/>
          <a:p>
            <a:pPr algn="r"/>
            <a:r>
              <a:rPr sz="900" b="1">
                <a:solidFill>
                  <a:srgbClr val="1976D2"/>
                </a:solidFill>
                <a:latin typeface="Arial"/>
              </a:rPr>
              <a:t>22</a:t>
            </a:r>
          </a:p>
        </p:txBody>
      </p:sp>
      <p:sp>
        <p:nvSpPr>
          <p:cNvPr id="6" name="TextBox 5"/>
          <p:cNvSpPr txBox="1"/>
          <p:nvPr/>
        </p:nvSpPr>
        <p:spPr>
          <a:xfrm>
            <a:off x="365760" y="6583680"/>
            <a:ext cx="4754880" cy="146304"/>
          </a:xfrm>
          <a:prstGeom prst="rect">
            <a:avLst/>
          </a:prstGeom>
          <a:noFill/>
        </p:spPr>
        <p:txBody>
          <a:bodyPr wrap="none" lIns="36576" rIns="36576" tIns="36576" bIns="36576" anchor="t">
            <a:spAutoFit/>
          </a:bodyPr>
          <a:lstStyle/>
          <a:p>
            <a:pPr algn="l"/>
            <a:r>
              <a:rPr sz="620" b="0">
                <a:solidFill>
                  <a:srgbClr val="8794A1"/>
                </a:solidFill>
                <a:latin typeface="Arial"/>
              </a:rPr>
              <a:t>Lương Nguyễn Thành Hưng · NeuralAtmosphereOperator</a:t>
            </a:r>
          </a:p>
        </p:txBody>
      </p:sp>
      <p:sp>
        <p:nvSpPr>
          <p:cNvPr id="7" name="TextBox 6"/>
          <p:cNvSpPr txBox="1"/>
          <p:nvPr/>
        </p:nvSpPr>
        <p:spPr>
          <a:xfrm>
            <a:off x="10332720" y="6583680"/>
            <a:ext cx="1325880" cy="146304"/>
          </a:xfrm>
          <a:prstGeom prst="rect">
            <a:avLst/>
          </a:prstGeom>
          <a:noFill/>
        </p:spPr>
        <p:txBody>
          <a:bodyPr wrap="none" lIns="36576" rIns="36576" tIns="36576" bIns="36576" anchor="t">
            <a:spAutoFit/>
          </a:bodyPr>
          <a:lstStyle/>
          <a:p>
            <a:pPr algn="r"/>
            <a:r>
              <a:rPr sz="620" b="0">
                <a:solidFill>
                  <a:srgbClr val="8794A1"/>
                </a:solidFill>
                <a:latin typeface="Arial"/>
              </a:rPr>
              <a:t>Stage 1 → Stage 2</a:t>
            </a:r>
          </a:p>
        </p:txBody>
      </p:sp>
      <p:graphicFrame>
        <p:nvGraphicFramePr>
          <p:cNvPr id="8" name="Table 7"/>
          <p:cNvGraphicFramePr>
            <a:graphicFrameLocks noGrp="1"/>
          </p:cNvGraphicFramePr>
          <p:nvPr/>
        </p:nvGraphicFramePr>
        <p:xfrm>
          <a:off x="731520" y="1417320"/>
          <a:ext cx="10625328" cy="4343400"/>
        </p:xfrm>
        <a:graphic>
          <a:graphicData uri="http://schemas.openxmlformats.org/drawingml/2006/table">
            <a:tbl>
              <a:tblPr firstRow="1" bandRow="1">
                <a:tableStyleId>{5C22544A-7EE6-4342-B048-85BDC9FD1C3A}</a:tableStyleId>
              </a:tblPr>
              <a:tblGrid>
                <a:gridCol w="1024128"/>
                <a:gridCol w="914400"/>
                <a:gridCol w="1965960"/>
                <a:gridCol w="1965960"/>
                <a:gridCol w="2468880"/>
                <a:gridCol w="2286000"/>
              </a:tblGrid>
              <a:tr h="434340">
                <a:tc>
                  <a:txBody>
                    <a:bodyPr/>
                    <a:lstStyle/>
                    <a:p>
                      <a:pPr algn="ctr"/>
                      <a:r>
                        <a:rPr sz="1300" b="1">
                          <a:solidFill>
                            <a:srgbClr val="FFFFFF"/>
                          </a:solidFill>
                          <a:latin typeface="Arial"/>
                        </a:rPr>
                        <a:t>Biến</a:t>
                      </a:r>
                    </a:p>
                  </a:txBody>
                  <a:tcPr marT="82296" marL="64008" marR="64008">
                    <a:solidFill>
                      <a:srgbClr val="20384F"/>
                    </a:solidFill>
                  </a:tcPr>
                </a:tc>
                <a:tc>
                  <a:txBody>
                    <a:bodyPr/>
                    <a:lstStyle/>
                    <a:p>
                      <a:pPr algn="ctr"/>
                      <a:r>
                        <a:rPr sz="1300" b="1">
                          <a:solidFill>
                            <a:srgbClr val="FFFFFF"/>
                          </a:solidFill>
                          <a:latin typeface="Arial"/>
                        </a:rPr>
                        <a:t>Đơn vị</a:t>
                      </a:r>
                    </a:p>
                  </a:txBody>
                  <a:tcPr marT="82296" marL="64008" marR="64008">
                    <a:solidFill>
                      <a:srgbClr val="20384F"/>
                    </a:solidFill>
                  </a:tcPr>
                </a:tc>
                <a:tc>
                  <a:txBody>
                    <a:bodyPr/>
                    <a:lstStyle/>
                    <a:p>
                      <a:pPr algn="ctr"/>
                      <a:r>
                        <a:rPr sz="1300" b="1">
                          <a:solidFill>
                            <a:srgbClr val="FFFFFF"/>
                          </a:solidFill>
                          <a:latin typeface="Arial"/>
                        </a:rPr>
                        <a:t>RMSE Stage 1</a:t>
                      </a:r>
                    </a:p>
                  </a:txBody>
                  <a:tcPr marT="82296" marL="64008" marR="64008">
                    <a:solidFill>
                      <a:srgbClr val="20384F"/>
                    </a:solidFill>
                  </a:tcPr>
                </a:tc>
                <a:tc>
                  <a:txBody>
                    <a:bodyPr/>
                    <a:lstStyle/>
                    <a:p>
                      <a:pPr algn="ctr"/>
                      <a:r>
                        <a:rPr sz="1300" b="1">
                          <a:solidFill>
                            <a:srgbClr val="FFFFFF"/>
                          </a:solidFill>
                          <a:latin typeface="Arial"/>
                        </a:rPr>
                        <a:t>RMSE Stage 2</a:t>
                      </a:r>
                    </a:p>
                  </a:txBody>
                  <a:tcPr marT="82296" marL="64008" marR="64008">
                    <a:solidFill>
                      <a:srgbClr val="20384F"/>
                    </a:solidFill>
                  </a:tcPr>
                </a:tc>
                <a:tc>
                  <a:txBody>
                    <a:bodyPr/>
                    <a:lstStyle/>
                    <a:p>
                      <a:pPr algn="ctr"/>
                      <a:r>
                        <a:rPr sz="1300" b="1">
                          <a:solidFill>
                            <a:srgbClr val="FFFFFF"/>
                          </a:solidFill>
                          <a:latin typeface="Arial"/>
                        </a:rPr>
                        <a:t>RMSE giảm</a:t>
                      </a:r>
                    </a:p>
                  </a:txBody>
                  <a:tcPr marT="82296" marL="64008" marR="64008">
                    <a:solidFill>
                      <a:srgbClr val="20384F"/>
                    </a:solidFill>
                  </a:tcPr>
                </a:tc>
                <a:tc>
                  <a:txBody>
                    <a:bodyPr/>
                    <a:lstStyle/>
                    <a:p>
                      <a:pPr algn="ctr"/>
                      <a:r>
                        <a:rPr sz="1300" b="1">
                          <a:solidFill>
                            <a:srgbClr val="FFFFFF"/>
                          </a:solidFill>
                          <a:latin typeface="Arial"/>
                        </a:rPr>
                        <a:t>ACC Stage 2</a:t>
                      </a:r>
                    </a:p>
                  </a:txBody>
                  <a:tcPr marT="82296" marL="64008" marR="64008">
                    <a:solidFill>
                      <a:srgbClr val="20384F"/>
                    </a:solidFill>
                  </a:tcPr>
                </a:tc>
              </a:tr>
              <a:tr h="434340">
                <a:tc>
                  <a:txBody>
                    <a:bodyPr/>
                    <a:lstStyle/>
                    <a:p>
                      <a:pPr algn="ctr"/>
                      <a:r>
                        <a:rPr sz="1500" b="0">
                          <a:solidFill>
                            <a:srgbClr val="20384F"/>
                          </a:solidFill>
                          <a:latin typeface="Arial"/>
                        </a:rPr>
                        <a:t>Z500</a:t>
                      </a:r>
                    </a:p>
                  </a:txBody>
                  <a:tcPr marT="82296" marL="64008" marR="64008">
                    <a:solidFill>
                      <a:srgbClr val="EEF5FB"/>
                    </a:solidFill>
                  </a:tcPr>
                </a:tc>
                <a:tc>
                  <a:txBody>
                    <a:bodyPr/>
                    <a:lstStyle/>
                    <a:p>
                      <a:pPr algn="ctr"/>
                      <a:r>
                        <a:rPr sz="1500" b="0">
                          <a:solidFill>
                            <a:srgbClr val="20384F"/>
                          </a:solidFill>
                          <a:latin typeface="Arial"/>
                        </a:rPr>
                        <a:t>gpm</a:t>
                      </a:r>
                    </a:p>
                  </a:txBody>
                  <a:tcPr marT="82296" marL="64008" marR="64008">
                    <a:solidFill>
                      <a:srgbClr val="EEF5FB"/>
                    </a:solidFill>
                  </a:tcPr>
                </a:tc>
                <a:tc>
                  <a:txBody>
                    <a:bodyPr/>
                    <a:lstStyle/>
                    <a:p>
                      <a:pPr algn="ctr"/>
                      <a:r>
                        <a:rPr sz="1500" b="0">
                          <a:solidFill>
                            <a:srgbClr val="20384F"/>
                          </a:solidFill>
                          <a:latin typeface="Arial"/>
                        </a:rPr>
                        <a:t>75.012</a:t>
                      </a:r>
                    </a:p>
                  </a:txBody>
                  <a:tcPr marT="82296" marL="64008" marR="64008">
                    <a:solidFill>
                      <a:srgbClr val="EEF5FB"/>
                    </a:solidFill>
                  </a:tcPr>
                </a:tc>
                <a:tc>
                  <a:txBody>
                    <a:bodyPr/>
                    <a:lstStyle/>
                    <a:p>
                      <a:pPr algn="ctr"/>
                      <a:r>
                        <a:rPr sz="1500" b="0">
                          <a:solidFill>
                            <a:srgbClr val="20384F"/>
                          </a:solidFill>
                          <a:latin typeface="Arial"/>
                        </a:rPr>
                        <a:t>72.674</a:t>
                      </a:r>
                    </a:p>
                  </a:txBody>
                  <a:tcPr marT="82296" marL="64008" marR="64008">
                    <a:solidFill>
                      <a:srgbClr val="EEF5FB"/>
                    </a:solidFill>
                  </a:tcPr>
                </a:tc>
                <a:tc>
                  <a:txBody>
                    <a:bodyPr/>
                    <a:lstStyle/>
                    <a:p>
                      <a:pPr algn="ctr"/>
                      <a:r>
                        <a:rPr sz="1500" b="1">
                          <a:solidFill>
                            <a:srgbClr val="2E8B57"/>
                          </a:solidFill>
                          <a:latin typeface="Arial"/>
                        </a:rPr>
                        <a:t>3.12%</a:t>
                      </a:r>
                    </a:p>
                  </a:txBody>
                  <a:tcPr marT="82296" marL="64008" marR="64008">
                    <a:solidFill>
                      <a:srgbClr val="EEF5FB"/>
                    </a:solidFill>
                  </a:tcPr>
                </a:tc>
                <a:tc>
                  <a:txBody>
                    <a:bodyPr/>
                    <a:lstStyle/>
                    <a:p>
                      <a:pPr algn="ctr"/>
                      <a:r>
                        <a:rPr sz="1500" b="0">
                          <a:solidFill>
                            <a:srgbClr val="20384F"/>
                          </a:solidFill>
                          <a:latin typeface="Arial"/>
                        </a:rPr>
                        <a:t>0.7685</a:t>
                      </a:r>
                    </a:p>
                  </a:txBody>
                  <a:tcPr marT="82296" marL="64008" marR="64008">
                    <a:solidFill>
                      <a:srgbClr val="EEF5FB"/>
                    </a:solidFill>
                  </a:tcPr>
                </a:tc>
              </a:tr>
              <a:tr h="434340">
                <a:tc>
                  <a:txBody>
                    <a:bodyPr/>
                    <a:lstStyle/>
                    <a:p>
                      <a:pPr algn="ctr"/>
                      <a:r>
                        <a:rPr sz="1500" b="0">
                          <a:solidFill>
                            <a:srgbClr val="20384F"/>
                          </a:solidFill>
                          <a:latin typeface="Arial"/>
                        </a:rPr>
                        <a:t>T850</a:t>
                      </a:r>
                    </a:p>
                  </a:txBody>
                  <a:tcPr marT="82296" marL="64008" marR="64008">
                    <a:solidFill>
                      <a:srgbClr val="FFFFFF"/>
                    </a:solidFill>
                  </a:tcPr>
                </a:tc>
                <a:tc>
                  <a:txBody>
                    <a:bodyPr/>
                    <a:lstStyle/>
                    <a:p>
                      <a:pPr algn="ctr"/>
                      <a:r>
                        <a:rPr sz="1500" b="0">
                          <a:solidFill>
                            <a:srgbClr val="20384F"/>
                          </a:solidFill>
                          <a:latin typeface="Arial"/>
                        </a:rPr>
                        <a:t>K</a:t>
                      </a:r>
                    </a:p>
                  </a:txBody>
                  <a:tcPr marT="82296" marL="64008" marR="64008">
                    <a:solidFill>
                      <a:srgbClr val="FFFFFF"/>
                    </a:solidFill>
                  </a:tcPr>
                </a:tc>
                <a:tc>
                  <a:txBody>
                    <a:bodyPr/>
                    <a:lstStyle/>
                    <a:p>
                      <a:pPr algn="ctr"/>
                      <a:r>
                        <a:rPr sz="1500" b="0">
                          <a:solidFill>
                            <a:srgbClr val="20384F"/>
                          </a:solidFill>
                          <a:latin typeface="Arial"/>
                        </a:rPr>
                        <a:t>3.480</a:t>
                      </a:r>
                    </a:p>
                  </a:txBody>
                  <a:tcPr marT="82296" marL="64008" marR="64008">
                    <a:solidFill>
                      <a:srgbClr val="FFFFFF"/>
                    </a:solidFill>
                  </a:tcPr>
                </a:tc>
                <a:tc>
                  <a:txBody>
                    <a:bodyPr/>
                    <a:lstStyle/>
                    <a:p>
                      <a:pPr algn="ctr"/>
                      <a:r>
                        <a:rPr sz="1500" b="0">
                          <a:solidFill>
                            <a:srgbClr val="20384F"/>
                          </a:solidFill>
                          <a:latin typeface="Arial"/>
                        </a:rPr>
                        <a:t>3.392</a:t>
                      </a:r>
                    </a:p>
                  </a:txBody>
                  <a:tcPr marT="82296" marL="64008" marR="64008">
                    <a:solidFill>
                      <a:srgbClr val="FFFFFF"/>
                    </a:solidFill>
                  </a:tcPr>
                </a:tc>
                <a:tc>
                  <a:txBody>
                    <a:bodyPr/>
                    <a:lstStyle/>
                    <a:p>
                      <a:pPr algn="ctr"/>
                      <a:r>
                        <a:rPr sz="1500" b="1">
                          <a:solidFill>
                            <a:srgbClr val="2E8B57"/>
                          </a:solidFill>
                          <a:latin typeface="Arial"/>
                        </a:rPr>
                        <a:t>2.53%</a:t>
                      </a:r>
                    </a:p>
                  </a:txBody>
                  <a:tcPr marT="82296" marL="64008" marR="64008">
                    <a:solidFill>
                      <a:srgbClr val="FFFFFF"/>
                    </a:solidFill>
                  </a:tcPr>
                </a:tc>
                <a:tc>
                  <a:txBody>
                    <a:bodyPr/>
                    <a:lstStyle/>
                    <a:p>
                      <a:pPr algn="ctr"/>
                      <a:r>
                        <a:rPr sz="1500" b="0">
                          <a:solidFill>
                            <a:srgbClr val="20384F"/>
                          </a:solidFill>
                          <a:latin typeface="Arial"/>
                        </a:rPr>
                        <a:t>0.7749</a:t>
                      </a:r>
                    </a:p>
                  </a:txBody>
                  <a:tcPr marT="82296" marL="64008" marR="64008">
                    <a:solidFill>
                      <a:srgbClr val="FFFFFF"/>
                    </a:solidFill>
                  </a:tcPr>
                </a:tc>
              </a:tr>
              <a:tr h="434340">
                <a:tc>
                  <a:txBody>
                    <a:bodyPr/>
                    <a:lstStyle/>
                    <a:p>
                      <a:pPr algn="ctr"/>
                      <a:r>
                        <a:rPr sz="1500" b="0">
                          <a:solidFill>
                            <a:srgbClr val="20384F"/>
                          </a:solidFill>
                          <a:latin typeface="Arial"/>
                        </a:rPr>
                        <a:t>T2M</a:t>
                      </a:r>
                    </a:p>
                  </a:txBody>
                  <a:tcPr marT="82296" marL="64008" marR="64008">
                    <a:solidFill>
                      <a:srgbClr val="EEF5FB"/>
                    </a:solidFill>
                  </a:tcPr>
                </a:tc>
                <a:tc>
                  <a:txBody>
                    <a:bodyPr/>
                    <a:lstStyle/>
                    <a:p>
                      <a:pPr algn="ctr"/>
                      <a:r>
                        <a:rPr sz="1500" b="0">
                          <a:solidFill>
                            <a:srgbClr val="20384F"/>
                          </a:solidFill>
                          <a:latin typeface="Arial"/>
                        </a:rPr>
                        <a:t>K</a:t>
                      </a:r>
                    </a:p>
                  </a:txBody>
                  <a:tcPr marT="82296" marL="64008" marR="64008">
                    <a:solidFill>
                      <a:srgbClr val="EEF5FB"/>
                    </a:solidFill>
                  </a:tcPr>
                </a:tc>
                <a:tc>
                  <a:txBody>
                    <a:bodyPr/>
                    <a:lstStyle/>
                    <a:p>
                      <a:pPr algn="ctr"/>
                      <a:r>
                        <a:rPr sz="1500" b="0">
                          <a:solidFill>
                            <a:srgbClr val="20384F"/>
                          </a:solidFill>
                          <a:latin typeface="Arial"/>
                        </a:rPr>
                        <a:t>2.753</a:t>
                      </a:r>
                    </a:p>
                  </a:txBody>
                  <a:tcPr marT="82296" marL="64008" marR="64008">
                    <a:solidFill>
                      <a:srgbClr val="EEF5FB"/>
                    </a:solidFill>
                  </a:tcPr>
                </a:tc>
                <a:tc>
                  <a:txBody>
                    <a:bodyPr/>
                    <a:lstStyle/>
                    <a:p>
                      <a:pPr algn="ctr"/>
                      <a:r>
                        <a:rPr sz="1500" b="0">
                          <a:solidFill>
                            <a:srgbClr val="20384F"/>
                          </a:solidFill>
                          <a:latin typeface="Arial"/>
                        </a:rPr>
                        <a:t>2.663</a:t>
                      </a:r>
                    </a:p>
                  </a:txBody>
                  <a:tcPr marT="82296" marL="64008" marR="64008">
                    <a:solidFill>
                      <a:srgbClr val="EEF5FB"/>
                    </a:solidFill>
                  </a:tcPr>
                </a:tc>
                <a:tc>
                  <a:txBody>
                    <a:bodyPr/>
                    <a:lstStyle/>
                    <a:p>
                      <a:pPr algn="ctr"/>
                      <a:r>
                        <a:rPr sz="1500" b="1">
                          <a:solidFill>
                            <a:srgbClr val="2E8B57"/>
                          </a:solidFill>
                          <a:latin typeface="Arial"/>
                        </a:rPr>
                        <a:t>3.27%</a:t>
                      </a:r>
                    </a:p>
                  </a:txBody>
                  <a:tcPr marT="82296" marL="64008" marR="64008">
                    <a:solidFill>
                      <a:srgbClr val="EEF5FB"/>
                    </a:solidFill>
                  </a:tcPr>
                </a:tc>
                <a:tc>
                  <a:txBody>
                    <a:bodyPr/>
                    <a:lstStyle/>
                    <a:p>
                      <a:pPr algn="ctr"/>
                      <a:r>
                        <a:rPr sz="1500" b="0">
                          <a:solidFill>
                            <a:srgbClr val="20384F"/>
                          </a:solidFill>
                          <a:latin typeface="Arial"/>
                        </a:rPr>
                        <a:t>0.8768</a:t>
                      </a:r>
                    </a:p>
                  </a:txBody>
                  <a:tcPr marT="82296" marL="64008" marR="64008">
                    <a:solidFill>
                      <a:srgbClr val="EEF5FB"/>
                    </a:solidFill>
                  </a:tcPr>
                </a:tc>
              </a:tr>
              <a:tr h="434340">
                <a:tc>
                  <a:txBody>
                    <a:bodyPr/>
                    <a:lstStyle/>
                    <a:p>
                      <a:pPr algn="ctr"/>
                      <a:r>
                        <a:rPr sz="1500" b="0">
                          <a:solidFill>
                            <a:srgbClr val="20384F"/>
                          </a:solidFill>
                          <a:latin typeface="Arial"/>
                        </a:rPr>
                        <a:t>U10</a:t>
                      </a:r>
                    </a:p>
                  </a:txBody>
                  <a:tcPr marT="82296" marL="64008" marR="64008">
                    <a:solidFill>
                      <a:srgbClr val="FFFFFF"/>
                    </a:solidFill>
                  </a:tcPr>
                </a:tc>
                <a:tc>
                  <a:txBody>
                    <a:bodyPr/>
                    <a:lstStyle/>
                    <a:p>
                      <a:pPr algn="ctr"/>
                      <a:r>
                        <a:rPr sz="1500" b="0">
                          <a:solidFill>
                            <a:srgbClr val="20384F"/>
                          </a:solidFill>
                          <a:latin typeface="Arial"/>
                        </a:rPr>
                        <a:t>m/s</a:t>
                      </a:r>
                    </a:p>
                  </a:txBody>
                  <a:tcPr marT="82296" marL="64008" marR="64008">
                    <a:solidFill>
                      <a:srgbClr val="FFFFFF"/>
                    </a:solidFill>
                  </a:tcPr>
                </a:tc>
                <a:tc>
                  <a:txBody>
                    <a:bodyPr/>
                    <a:lstStyle/>
                    <a:p>
                      <a:pPr algn="ctr"/>
                      <a:r>
                        <a:rPr sz="1500" b="0">
                          <a:solidFill>
                            <a:srgbClr val="20384F"/>
                          </a:solidFill>
                          <a:latin typeface="Arial"/>
                        </a:rPr>
                        <a:t>4.364</a:t>
                      </a:r>
                    </a:p>
                  </a:txBody>
                  <a:tcPr marT="82296" marL="64008" marR="64008">
                    <a:solidFill>
                      <a:srgbClr val="FFFFFF"/>
                    </a:solidFill>
                  </a:tcPr>
                </a:tc>
                <a:tc>
                  <a:txBody>
                    <a:bodyPr/>
                    <a:lstStyle/>
                    <a:p>
                      <a:pPr algn="ctr"/>
                      <a:r>
                        <a:rPr sz="1500" b="0">
                          <a:solidFill>
                            <a:srgbClr val="20384F"/>
                          </a:solidFill>
                          <a:latin typeface="Arial"/>
                        </a:rPr>
                        <a:t>4.232</a:t>
                      </a:r>
                    </a:p>
                  </a:txBody>
                  <a:tcPr marT="82296" marL="64008" marR="64008">
                    <a:solidFill>
                      <a:srgbClr val="FFFFFF"/>
                    </a:solidFill>
                  </a:tcPr>
                </a:tc>
                <a:tc>
                  <a:txBody>
                    <a:bodyPr/>
                    <a:lstStyle/>
                    <a:p>
                      <a:pPr algn="ctr"/>
                      <a:r>
                        <a:rPr sz="1500" b="1">
                          <a:solidFill>
                            <a:srgbClr val="2E8B57"/>
                          </a:solidFill>
                          <a:latin typeface="Arial"/>
                        </a:rPr>
                        <a:t>3.02%</a:t>
                      </a:r>
                    </a:p>
                  </a:txBody>
                  <a:tcPr marT="82296" marL="64008" marR="64008">
                    <a:solidFill>
                      <a:srgbClr val="FFFFFF"/>
                    </a:solidFill>
                  </a:tcPr>
                </a:tc>
                <a:tc>
                  <a:txBody>
                    <a:bodyPr/>
                    <a:lstStyle/>
                    <a:p>
                      <a:pPr algn="ctr"/>
                      <a:r>
                        <a:rPr sz="1500" b="0">
                          <a:solidFill>
                            <a:srgbClr val="20384F"/>
                          </a:solidFill>
                          <a:latin typeface="Arial"/>
                        </a:rPr>
                        <a:t>0.4651</a:t>
                      </a:r>
                    </a:p>
                  </a:txBody>
                  <a:tcPr marT="82296" marL="64008" marR="64008">
                    <a:solidFill>
                      <a:srgbClr val="FFFFFF"/>
                    </a:solidFill>
                  </a:tcPr>
                </a:tc>
              </a:tr>
              <a:tr h="434340">
                <a:tc>
                  <a:txBody>
                    <a:bodyPr/>
                    <a:lstStyle/>
                    <a:p>
                      <a:pPr algn="ctr"/>
                      <a:r>
                        <a:rPr sz="1500" b="0">
                          <a:solidFill>
                            <a:srgbClr val="20384F"/>
                          </a:solidFill>
                          <a:latin typeface="Arial"/>
                        </a:rPr>
                        <a:t>V10</a:t>
                      </a:r>
                    </a:p>
                  </a:txBody>
                  <a:tcPr marT="82296" marL="64008" marR="64008">
                    <a:solidFill>
                      <a:srgbClr val="EEF5FB"/>
                    </a:solidFill>
                  </a:tcPr>
                </a:tc>
                <a:tc>
                  <a:txBody>
                    <a:bodyPr/>
                    <a:lstStyle/>
                    <a:p>
                      <a:pPr algn="ctr"/>
                      <a:r>
                        <a:rPr sz="1500" b="0">
                          <a:solidFill>
                            <a:srgbClr val="20384F"/>
                          </a:solidFill>
                          <a:latin typeface="Arial"/>
                        </a:rPr>
                        <a:t>m/s</a:t>
                      </a:r>
                    </a:p>
                  </a:txBody>
                  <a:tcPr marT="82296" marL="64008" marR="64008">
                    <a:solidFill>
                      <a:srgbClr val="EEF5FB"/>
                    </a:solidFill>
                  </a:tcPr>
                </a:tc>
                <a:tc>
                  <a:txBody>
                    <a:bodyPr/>
                    <a:lstStyle/>
                    <a:p>
                      <a:pPr algn="ctr"/>
                      <a:r>
                        <a:rPr sz="1500" b="0">
                          <a:solidFill>
                            <a:srgbClr val="20384F"/>
                          </a:solidFill>
                          <a:latin typeface="Arial"/>
                        </a:rPr>
                        <a:t>4.576</a:t>
                      </a:r>
                    </a:p>
                  </a:txBody>
                  <a:tcPr marT="82296" marL="64008" marR="64008">
                    <a:solidFill>
                      <a:srgbClr val="EEF5FB"/>
                    </a:solidFill>
                  </a:tcPr>
                </a:tc>
                <a:tc>
                  <a:txBody>
                    <a:bodyPr/>
                    <a:lstStyle/>
                    <a:p>
                      <a:pPr algn="ctr"/>
                      <a:r>
                        <a:rPr sz="1500" b="0">
                          <a:solidFill>
                            <a:srgbClr val="20384F"/>
                          </a:solidFill>
                          <a:latin typeface="Arial"/>
                        </a:rPr>
                        <a:t>4.442</a:t>
                      </a:r>
                    </a:p>
                  </a:txBody>
                  <a:tcPr marT="82296" marL="64008" marR="64008">
                    <a:solidFill>
                      <a:srgbClr val="EEF5FB"/>
                    </a:solidFill>
                  </a:tcPr>
                </a:tc>
                <a:tc>
                  <a:txBody>
                    <a:bodyPr/>
                    <a:lstStyle/>
                    <a:p>
                      <a:pPr algn="ctr"/>
                      <a:r>
                        <a:rPr sz="1500" b="1">
                          <a:solidFill>
                            <a:srgbClr val="2E8B57"/>
                          </a:solidFill>
                          <a:latin typeface="Arial"/>
                        </a:rPr>
                        <a:t>2.93%</a:t>
                      </a:r>
                    </a:p>
                  </a:txBody>
                  <a:tcPr marT="82296" marL="64008" marR="64008">
                    <a:solidFill>
                      <a:srgbClr val="EEF5FB"/>
                    </a:solidFill>
                  </a:tcPr>
                </a:tc>
                <a:tc>
                  <a:txBody>
                    <a:bodyPr/>
                    <a:lstStyle/>
                    <a:p>
                      <a:pPr algn="ctr"/>
                      <a:r>
                        <a:rPr sz="1500" b="0">
                          <a:solidFill>
                            <a:srgbClr val="20384F"/>
                          </a:solidFill>
                          <a:latin typeface="Arial"/>
                        </a:rPr>
                        <a:t>0.4253</a:t>
                      </a:r>
                    </a:p>
                  </a:txBody>
                  <a:tcPr marT="82296" marL="64008" marR="64008">
                    <a:solidFill>
                      <a:srgbClr val="EEF5FB"/>
                    </a:solidFill>
                  </a:tcPr>
                </a:tc>
              </a:tr>
              <a:tr h="434340">
                <a:tc>
                  <a:txBody>
                    <a:bodyPr/>
                    <a:lstStyle/>
                    <a:p>
                      <a:pPr algn="ctr"/>
                      <a:r>
                        <a:rPr sz="1500" b="0">
                          <a:solidFill>
                            <a:srgbClr val="20384F"/>
                          </a:solidFill>
                          <a:latin typeface="Arial"/>
                        </a:rPr>
                        <a:t>MSLP</a:t>
                      </a:r>
                    </a:p>
                  </a:txBody>
                  <a:tcPr marT="82296" marL="64008" marR="64008">
                    <a:solidFill>
                      <a:srgbClr val="FFFFFF"/>
                    </a:solidFill>
                  </a:tcPr>
                </a:tc>
                <a:tc>
                  <a:txBody>
                    <a:bodyPr/>
                    <a:lstStyle/>
                    <a:p>
                      <a:pPr algn="ctr"/>
                      <a:r>
                        <a:rPr sz="1500" b="0">
                          <a:solidFill>
                            <a:srgbClr val="20384F"/>
                          </a:solidFill>
                          <a:latin typeface="Arial"/>
                        </a:rPr>
                        <a:t>hPa</a:t>
                      </a:r>
                    </a:p>
                  </a:txBody>
                  <a:tcPr marT="82296" marL="64008" marR="64008">
                    <a:solidFill>
                      <a:srgbClr val="FFFFFF"/>
                    </a:solidFill>
                  </a:tcPr>
                </a:tc>
                <a:tc>
                  <a:txBody>
                    <a:bodyPr/>
                    <a:lstStyle/>
                    <a:p>
                      <a:pPr algn="ctr"/>
                      <a:r>
                        <a:rPr sz="1500" b="0">
                          <a:solidFill>
                            <a:srgbClr val="20384F"/>
                          </a:solidFill>
                          <a:latin typeface="Arial"/>
                        </a:rPr>
                        <a:t>7.035</a:t>
                      </a:r>
                    </a:p>
                  </a:txBody>
                  <a:tcPr marT="82296" marL="64008" marR="64008">
                    <a:solidFill>
                      <a:srgbClr val="FFFFFF"/>
                    </a:solidFill>
                  </a:tcPr>
                </a:tc>
                <a:tc>
                  <a:txBody>
                    <a:bodyPr/>
                    <a:lstStyle/>
                    <a:p>
                      <a:pPr algn="ctr"/>
                      <a:r>
                        <a:rPr sz="1500" b="0">
                          <a:solidFill>
                            <a:srgbClr val="20384F"/>
                          </a:solidFill>
                          <a:latin typeface="Arial"/>
                        </a:rPr>
                        <a:t>6.795</a:t>
                      </a:r>
                    </a:p>
                  </a:txBody>
                  <a:tcPr marT="82296" marL="64008" marR="64008">
                    <a:solidFill>
                      <a:srgbClr val="FFFFFF"/>
                    </a:solidFill>
                  </a:tcPr>
                </a:tc>
                <a:tc>
                  <a:txBody>
                    <a:bodyPr/>
                    <a:lstStyle/>
                    <a:p>
                      <a:pPr algn="ctr"/>
                      <a:r>
                        <a:rPr sz="1500" b="1">
                          <a:solidFill>
                            <a:srgbClr val="2E8B57"/>
                          </a:solidFill>
                          <a:latin typeface="Arial"/>
                        </a:rPr>
                        <a:t>3.41%</a:t>
                      </a:r>
                    </a:p>
                  </a:txBody>
                  <a:tcPr marT="82296" marL="64008" marR="64008">
                    <a:solidFill>
                      <a:srgbClr val="FFFFFF"/>
                    </a:solidFill>
                  </a:tcPr>
                </a:tc>
                <a:tc>
                  <a:txBody>
                    <a:bodyPr/>
                    <a:lstStyle/>
                    <a:p>
                      <a:pPr algn="ctr"/>
                      <a:r>
                        <a:rPr sz="1500" b="0">
                          <a:solidFill>
                            <a:srgbClr val="20384F"/>
                          </a:solidFill>
                          <a:latin typeface="Arial"/>
                        </a:rPr>
                        <a:t>0.6184</a:t>
                      </a:r>
                    </a:p>
                  </a:txBody>
                  <a:tcPr marT="82296" marL="64008" marR="64008">
                    <a:solidFill>
                      <a:srgbClr val="FFFFFF"/>
                    </a:solidFill>
                  </a:tcPr>
                </a:tc>
              </a:tr>
              <a:tr h="434340">
                <a:tc>
                  <a:txBody>
                    <a:bodyPr/>
                    <a:lstStyle/>
                    <a:p>
                      <a:pPr algn="ctr"/>
                      <a:r>
                        <a:rPr sz="1500" b="0">
                          <a:solidFill>
                            <a:srgbClr val="20384F"/>
                          </a:solidFill>
                          <a:latin typeface="Arial"/>
                        </a:rPr>
                        <a:t>Q850</a:t>
                      </a:r>
                    </a:p>
                  </a:txBody>
                  <a:tcPr marT="82296" marL="64008" marR="64008">
                    <a:solidFill>
                      <a:srgbClr val="EEF5FB"/>
                    </a:solidFill>
                  </a:tcPr>
                </a:tc>
                <a:tc>
                  <a:txBody>
                    <a:bodyPr/>
                    <a:lstStyle/>
                    <a:p>
                      <a:pPr algn="ctr"/>
                      <a:r>
                        <a:rPr sz="1500" b="0">
                          <a:solidFill>
                            <a:srgbClr val="20384F"/>
                          </a:solidFill>
                          <a:latin typeface="Arial"/>
                        </a:rPr>
                        <a:t>g/kg</a:t>
                      </a:r>
                    </a:p>
                  </a:txBody>
                  <a:tcPr marT="82296" marL="64008" marR="64008">
                    <a:solidFill>
                      <a:srgbClr val="EEF5FB"/>
                    </a:solidFill>
                  </a:tcPr>
                </a:tc>
                <a:tc>
                  <a:txBody>
                    <a:bodyPr/>
                    <a:lstStyle/>
                    <a:p>
                      <a:pPr algn="ctr"/>
                      <a:r>
                        <a:rPr sz="1500" b="0">
                          <a:solidFill>
                            <a:srgbClr val="20384F"/>
                          </a:solidFill>
                          <a:latin typeface="Arial"/>
                        </a:rPr>
                        <a:t>2.277</a:t>
                      </a:r>
                    </a:p>
                  </a:txBody>
                  <a:tcPr marT="82296" marL="64008" marR="64008">
                    <a:solidFill>
                      <a:srgbClr val="EEF5FB"/>
                    </a:solidFill>
                  </a:tcPr>
                </a:tc>
                <a:tc>
                  <a:txBody>
                    <a:bodyPr/>
                    <a:lstStyle/>
                    <a:p>
                      <a:pPr algn="ctr"/>
                      <a:r>
                        <a:rPr sz="1500" b="0">
                          <a:solidFill>
                            <a:srgbClr val="20384F"/>
                          </a:solidFill>
                          <a:latin typeface="Arial"/>
                        </a:rPr>
                        <a:t>2.180</a:t>
                      </a:r>
                    </a:p>
                  </a:txBody>
                  <a:tcPr marT="82296" marL="64008" marR="64008">
                    <a:solidFill>
                      <a:srgbClr val="EEF5FB"/>
                    </a:solidFill>
                  </a:tcPr>
                </a:tc>
                <a:tc>
                  <a:txBody>
                    <a:bodyPr/>
                    <a:lstStyle/>
                    <a:p>
                      <a:pPr algn="ctr"/>
                      <a:r>
                        <a:rPr sz="1500" b="1">
                          <a:solidFill>
                            <a:srgbClr val="2E8B57"/>
                          </a:solidFill>
                          <a:latin typeface="Arial"/>
                        </a:rPr>
                        <a:t>4.26%</a:t>
                      </a:r>
                    </a:p>
                  </a:txBody>
                  <a:tcPr marT="82296" marL="64008" marR="64008">
                    <a:solidFill>
                      <a:srgbClr val="EEF5FB"/>
                    </a:solidFill>
                  </a:tcPr>
                </a:tc>
                <a:tc>
                  <a:txBody>
                    <a:bodyPr/>
                    <a:lstStyle/>
                    <a:p>
                      <a:pPr algn="ctr"/>
                      <a:r>
                        <a:rPr sz="1500" b="0">
                          <a:solidFill>
                            <a:srgbClr val="20384F"/>
                          </a:solidFill>
                          <a:latin typeface="Arial"/>
                        </a:rPr>
                        <a:t>0.5563</a:t>
                      </a:r>
                    </a:p>
                  </a:txBody>
                  <a:tcPr marT="82296" marL="64008" marR="64008">
                    <a:solidFill>
                      <a:srgbClr val="EEF5FB"/>
                    </a:solidFill>
                  </a:tcPr>
                </a:tc>
              </a:tr>
              <a:tr h="434340">
                <a:tc>
                  <a:txBody>
                    <a:bodyPr/>
                    <a:lstStyle/>
                    <a:p>
                      <a:pPr algn="ctr"/>
                      <a:r>
                        <a:rPr sz="1500" b="0">
                          <a:solidFill>
                            <a:srgbClr val="20384F"/>
                          </a:solidFill>
                          <a:latin typeface="Arial"/>
                        </a:rPr>
                        <a:t>U850</a:t>
                      </a:r>
                    </a:p>
                  </a:txBody>
                  <a:tcPr marT="82296" marL="64008" marR="64008">
                    <a:solidFill>
                      <a:srgbClr val="FFFFFF"/>
                    </a:solidFill>
                  </a:tcPr>
                </a:tc>
                <a:tc>
                  <a:txBody>
                    <a:bodyPr/>
                    <a:lstStyle/>
                    <a:p>
                      <a:pPr algn="ctr"/>
                      <a:r>
                        <a:rPr sz="1500" b="0">
                          <a:solidFill>
                            <a:srgbClr val="20384F"/>
                          </a:solidFill>
                          <a:latin typeface="Arial"/>
                        </a:rPr>
                        <a:t>m/s</a:t>
                      </a:r>
                    </a:p>
                  </a:txBody>
                  <a:tcPr marT="82296" marL="64008" marR="64008">
                    <a:solidFill>
                      <a:srgbClr val="FFFFFF"/>
                    </a:solidFill>
                  </a:tcPr>
                </a:tc>
                <a:tc>
                  <a:txBody>
                    <a:bodyPr/>
                    <a:lstStyle/>
                    <a:p>
                      <a:pPr algn="ctr"/>
                      <a:r>
                        <a:rPr sz="1500" b="0">
                          <a:solidFill>
                            <a:srgbClr val="20384F"/>
                          </a:solidFill>
                          <a:latin typeface="Arial"/>
                        </a:rPr>
                        <a:t>6.292</a:t>
                      </a:r>
                    </a:p>
                  </a:txBody>
                  <a:tcPr marT="82296" marL="64008" marR="64008">
                    <a:solidFill>
                      <a:srgbClr val="FFFFFF"/>
                    </a:solidFill>
                  </a:tcPr>
                </a:tc>
                <a:tc>
                  <a:txBody>
                    <a:bodyPr/>
                    <a:lstStyle/>
                    <a:p>
                      <a:pPr algn="ctr"/>
                      <a:r>
                        <a:rPr sz="1500" b="0">
                          <a:solidFill>
                            <a:srgbClr val="20384F"/>
                          </a:solidFill>
                          <a:latin typeface="Arial"/>
                        </a:rPr>
                        <a:t>6.134</a:t>
                      </a:r>
                    </a:p>
                  </a:txBody>
                  <a:tcPr marT="82296" marL="64008" marR="64008">
                    <a:solidFill>
                      <a:srgbClr val="FFFFFF"/>
                    </a:solidFill>
                  </a:tcPr>
                </a:tc>
                <a:tc>
                  <a:txBody>
                    <a:bodyPr/>
                    <a:lstStyle/>
                    <a:p>
                      <a:pPr algn="ctr"/>
                      <a:r>
                        <a:rPr sz="1500" b="1">
                          <a:solidFill>
                            <a:srgbClr val="2E8B57"/>
                          </a:solidFill>
                          <a:latin typeface="Arial"/>
                        </a:rPr>
                        <a:t>2.51%</a:t>
                      </a:r>
                    </a:p>
                  </a:txBody>
                  <a:tcPr marT="82296" marL="64008" marR="64008">
                    <a:solidFill>
                      <a:srgbClr val="FFFFFF"/>
                    </a:solidFill>
                  </a:tcPr>
                </a:tc>
                <a:tc>
                  <a:txBody>
                    <a:bodyPr/>
                    <a:lstStyle/>
                    <a:p>
                      <a:pPr algn="ctr"/>
                      <a:r>
                        <a:rPr sz="1500" b="0">
                          <a:solidFill>
                            <a:srgbClr val="20384F"/>
                          </a:solidFill>
                          <a:latin typeface="Arial"/>
                        </a:rPr>
                        <a:t>0.4865</a:t>
                      </a:r>
                    </a:p>
                  </a:txBody>
                  <a:tcPr marT="82296" marL="64008" marR="64008">
                    <a:solidFill>
                      <a:srgbClr val="FFFFFF"/>
                    </a:solidFill>
                  </a:tcPr>
                </a:tc>
              </a:tr>
              <a:tr h="434340">
                <a:tc>
                  <a:txBody>
                    <a:bodyPr/>
                    <a:lstStyle/>
                    <a:p>
                      <a:pPr algn="ctr"/>
                      <a:r>
                        <a:rPr sz="1500" b="0">
                          <a:solidFill>
                            <a:srgbClr val="20384F"/>
                          </a:solidFill>
                          <a:latin typeface="Arial"/>
                        </a:rPr>
                        <a:t>V850</a:t>
                      </a:r>
                    </a:p>
                  </a:txBody>
                  <a:tcPr marT="82296" marL="64008" marR="64008">
                    <a:solidFill>
                      <a:srgbClr val="EEF5FB"/>
                    </a:solidFill>
                  </a:tcPr>
                </a:tc>
                <a:tc>
                  <a:txBody>
                    <a:bodyPr/>
                    <a:lstStyle/>
                    <a:p>
                      <a:pPr algn="ctr"/>
                      <a:r>
                        <a:rPr sz="1500" b="0">
                          <a:solidFill>
                            <a:srgbClr val="20384F"/>
                          </a:solidFill>
                          <a:latin typeface="Arial"/>
                        </a:rPr>
                        <a:t>m/s</a:t>
                      </a:r>
                    </a:p>
                  </a:txBody>
                  <a:tcPr marT="82296" marL="64008" marR="64008">
                    <a:solidFill>
                      <a:srgbClr val="EEF5FB"/>
                    </a:solidFill>
                  </a:tcPr>
                </a:tc>
                <a:tc>
                  <a:txBody>
                    <a:bodyPr/>
                    <a:lstStyle/>
                    <a:p>
                      <a:pPr algn="ctr"/>
                      <a:r>
                        <a:rPr sz="1500" b="0">
                          <a:solidFill>
                            <a:srgbClr val="20384F"/>
                          </a:solidFill>
                          <a:latin typeface="Arial"/>
                        </a:rPr>
                        <a:t>6.291</a:t>
                      </a:r>
                    </a:p>
                  </a:txBody>
                  <a:tcPr marT="82296" marL="64008" marR="64008">
                    <a:solidFill>
                      <a:srgbClr val="EEF5FB"/>
                    </a:solidFill>
                  </a:tcPr>
                </a:tc>
                <a:tc>
                  <a:txBody>
                    <a:bodyPr/>
                    <a:lstStyle/>
                    <a:p>
                      <a:pPr algn="ctr"/>
                      <a:r>
                        <a:rPr sz="1500" b="0">
                          <a:solidFill>
                            <a:srgbClr val="20384F"/>
                          </a:solidFill>
                          <a:latin typeface="Arial"/>
                        </a:rPr>
                        <a:t>6.135</a:t>
                      </a:r>
                    </a:p>
                  </a:txBody>
                  <a:tcPr marT="82296" marL="64008" marR="64008">
                    <a:solidFill>
                      <a:srgbClr val="EEF5FB"/>
                    </a:solidFill>
                  </a:tcPr>
                </a:tc>
                <a:tc>
                  <a:txBody>
                    <a:bodyPr/>
                    <a:lstStyle/>
                    <a:p>
                      <a:pPr algn="ctr"/>
                      <a:r>
                        <a:rPr sz="1500" b="1">
                          <a:solidFill>
                            <a:srgbClr val="2E8B57"/>
                          </a:solidFill>
                          <a:latin typeface="Arial"/>
                        </a:rPr>
                        <a:t>2.48%</a:t>
                      </a:r>
                    </a:p>
                  </a:txBody>
                  <a:tcPr marT="82296" marL="64008" marR="64008">
                    <a:solidFill>
                      <a:srgbClr val="EEF5FB"/>
                    </a:solidFill>
                  </a:tcPr>
                </a:tc>
                <a:tc>
                  <a:txBody>
                    <a:bodyPr/>
                    <a:lstStyle/>
                    <a:p>
                      <a:pPr algn="ctr"/>
                      <a:r>
                        <a:rPr sz="1500" b="0">
                          <a:solidFill>
                            <a:srgbClr val="20384F"/>
                          </a:solidFill>
                          <a:latin typeface="Arial"/>
                        </a:rPr>
                        <a:t>0.3971</a:t>
                      </a:r>
                    </a:p>
                  </a:txBody>
                  <a:tcPr marT="82296" marL="64008" marR="64008">
                    <a:solidFill>
                      <a:srgbClr val="EEF5FB"/>
                    </a:solidFill>
                  </a:tcPr>
                </a:tc>
              </a:tr>
            </a:tbl>
          </a:graphicData>
        </a:graphic>
      </p:graphicFrame>
      <p:sp>
        <p:nvSpPr>
          <p:cNvPr id="9" name="TextBox 8"/>
          <p:cNvSpPr txBox="1"/>
          <p:nvPr/>
        </p:nvSpPr>
        <p:spPr>
          <a:xfrm>
            <a:off x="594360" y="6007608"/>
            <a:ext cx="11018520" cy="393192"/>
          </a:xfrm>
          <a:prstGeom prst="rect">
            <a:avLst/>
          </a:prstGeom>
          <a:noFill/>
        </p:spPr>
        <p:txBody>
          <a:bodyPr wrap="none" lIns="36576" rIns="36576" tIns="36576" bIns="36576" anchor="t">
            <a:spAutoFit/>
          </a:bodyPr>
          <a:lstStyle/>
          <a:p>
            <a:pPr algn="ctr"/>
            <a:r>
              <a:rPr sz="1019" b="0">
                <a:solidFill>
                  <a:srgbClr val="5B6773"/>
                </a:solidFill>
                <a:latin typeface="Arial"/>
              </a:rPr>
              <a:t>Z500: độ cao quy đổi từ geopotential tại 500 hPa (gpm) · thời hạn 168 giờ · 60 khởi tạo.</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320040" y="182880"/>
            <a:ext cx="524439" cy="438912"/>
          </a:xfrm>
          <a:prstGeom prst="rect">
            <a:avLst/>
          </a:prstGeom>
        </p:spPr>
      </p:pic>
      <p:sp>
        <p:nvSpPr>
          <p:cNvPr id="3" name="Rectangle 2"/>
          <p:cNvSpPr/>
          <p:nvPr/>
        </p:nvSpPr>
        <p:spPr>
          <a:xfrm>
            <a:off x="292608" y="713232"/>
            <a:ext cx="11594592" cy="41148"/>
          </a:xfrm>
          <a:prstGeom prst="rect">
            <a:avLst/>
          </a:prstGeom>
          <a:solidFill>
            <a:srgbClr val="1976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41832" y="182880"/>
            <a:ext cx="9646920" cy="365760"/>
          </a:xfrm>
          <a:prstGeom prst="rect">
            <a:avLst/>
          </a:prstGeom>
          <a:noFill/>
        </p:spPr>
        <p:txBody>
          <a:bodyPr wrap="none" lIns="36576" rIns="36576" tIns="36576" bIns="36576" anchor="t">
            <a:spAutoFit/>
          </a:bodyPr>
          <a:lstStyle/>
          <a:p>
            <a:pPr algn="l"/>
            <a:r>
              <a:rPr sz="2300" b="1">
                <a:solidFill>
                  <a:srgbClr val="20384F"/>
                </a:solidFill>
                <a:latin typeface="Arial"/>
              </a:rPr>
              <a:t>MSE skill so với persistence và climatology</a:t>
            </a:r>
          </a:p>
        </p:txBody>
      </p:sp>
      <p:sp>
        <p:nvSpPr>
          <p:cNvPr id="5" name="TextBox 4"/>
          <p:cNvSpPr txBox="1"/>
          <p:nvPr/>
        </p:nvSpPr>
        <p:spPr>
          <a:xfrm>
            <a:off x="11228832" y="256032"/>
            <a:ext cx="384048" cy="182880"/>
          </a:xfrm>
          <a:prstGeom prst="rect">
            <a:avLst/>
          </a:prstGeom>
          <a:noFill/>
        </p:spPr>
        <p:txBody>
          <a:bodyPr wrap="none" lIns="36576" rIns="36576" tIns="36576" bIns="36576" anchor="t">
            <a:spAutoFit/>
          </a:bodyPr>
          <a:lstStyle/>
          <a:p>
            <a:pPr algn="r"/>
            <a:r>
              <a:rPr sz="900" b="1">
                <a:solidFill>
                  <a:srgbClr val="1976D2"/>
                </a:solidFill>
                <a:latin typeface="Arial"/>
              </a:rPr>
              <a:t>23</a:t>
            </a:r>
          </a:p>
        </p:txBody>
      </p:sp>
      <p:sp>
        <p:nvSpPr>
          <p:cNvPr id="6" name="TextBox 5"/>
          <p:cNvSpPr txBox="1"/>
          <p:nvPr/>
        </p:nvSpPr>
        <p:spPr>
          <a:xfrm>
            <a:off x="365760" y="6583680"/>
            <a:ext cx="4754880" cy="146304"/>
          </a:xfrm>
          <a:prstGeom prst="rect">
            <a:avLst/>
          </a:prstGeom>
          <a:noFill/>
        </p:spPr>
        <p:txBody>
          <a:bodyPr wrap="none" lIns="36576" rIns="36576" tIns="36576" bIns="36576" anchor="t">
            <a:spAutoFit/>
          </a:bodyPr>
          <a:lstStyle/>
          <a:p>
            <a:pPr algn="l"/>
            <a:r>
              <a:rPr sz="620" b="0">
                <a:solidFill>
                  <a:srgbClr val="8794A1"/>
                </a:solidFill>
                <a:latin typeface="Arial"/>
              </a:rPr>
              <a:t>Lương Nguyễn Thành Hưng · NeuralAtmosphereOperator</a:t>
            </a:r>
          </a:p>
        </p:txBody>
      </p:sp>
      <p:sp>
        <p:nvSpPr>
          <p:cNvPr id="7" name="TextBox 6"/>
          <p:cNvSpPr txBox="1"/>
          <p:nvPr/>
        </p:nvSpPr>
        <p:spPr>
          <a:xfrm>
            <a:off x="10332720" y="6583680"/>
            <a:ext cx="1325880" cy="146304"/>
          </a:xfrm>
          <a:prstGeom prst="rect">
            <a:avLst/>
          </a:prstGeom>
          <a:noFill/>
        </p:spPr>
        <p:txBody>
          <a:bodyPr wrap="none" lIns="36576" rIns="36576" tIns="36576" bIns="36576" anchor="t">
            <a:spAutoFit/>
          </a:bodyPr>
          <a:lstStyle/>
          <a:p>
            <a:pPr algn="r"/>
            <a:r>
              <a:rPr sz="620" b="0">
                <a:solidFill>
                  <a:srgbClr val="8794A1"/>
                </a:solidFill>
                <a:latin typeface="Arial"/>
              </a:rPr>
              <a:t>Stage 1 → Stage 2</a:t>
            </a:r>
          </a:p>
        </p:txBody>
      </p:sp>
      <p:pic>
        <p:nvPicPr>
          <p:cNvPr id="8" name="Picture 7" descr="rollout_baseline_skill.png"/>
          <p:cNvPicPr>
            <a:picLocks noChangeAspect="1"/>
          </p:cNvPicPr>
          <p:nvPr/>
        </p:nvPicPr>
        <p:blipFill>
          <a:blip r:embed="rId3"/>
          <a:stretch>
            <a:fillRect/>
          </a:stretch>
        </p:blipFill>
        <p:spPr>
          <a:xfrm>
            <a:off x="586587" y="1234440"/>
            <a:ext cx="11018520" cy="4177983"/>
          </a:xfrm>
          <a:prstGeom prst="rect">
            <a:avLst/>
          </a:prstGeom>
        </p:spPr>
      </p:pic>
      <p:sp>
        <p:nvSpPr>
          <p:cNvPr id="9" name="TextBox 8"/>
          <p:cNvSpPr txBox="1"/>
          <p:nvPr/>
        </p:nvSpPr>
        <p:spPr>
          <a:xfrm>
            <a:off x="822960" y="5513832"/>
            <a:ext cx="10607040" cy="301752"/>
          </a:xfrm>
          <a:prstGeom prst="rect">
            <a:avLst/>
          </a:prstGeom>
          <a:noFill/>
        </p:spPr>
        <p:txBody>
          <a:bodyPr wrap="none" lIns="36576" rIns="36576" tIns="36576" bIns="36576" anchor="t">
            <a:spAutoFit/>
          </a:bodyPr>
          <a:lstStyle/>
          <a:p>
            <a:pPr algn="ctr"/>
            <a:r>
              <a:rPr sz="1400" b="1">
                <a:solidFill>
                  <a:srgbClr val="D94C4C"/>
                </a:solidFill>
                <a:latin typeface="Arial"/>
              </a:rPr>
              <a:t>U10 tại 7 ngày: Stage 2 tốt hơn persistence, nhưng kém climatology (skill −4,7%).</a:t>
            </a:r>
          </a:p>
        </p:txBody>
      </p:sp>
      <p:sp>
        <p:nvSpPr>
          <p:cNvPr id="10" name="TextBox 9"/>
          <p:cNvSpPr txBox="1"/>
          <p:nvPr/>
        </p:nvSpPr>
        <p:spPr>
          <a:xfrm>
            <a:off x="594360" y="6007608"/>
            <a:ext cx="11018520" cy="393192"/>
          </a:xfrm>
          <a:prstGeom prst="rect">
            <a:avLst/>
          </a:prstGeom>
          <a:noFill/>
        </p:spPr>
        <p:txBody>
          <a:bodyPr wrap="none" lIns="36576" rIns="36576" tIns="36576" bIns="36576" anchor="t">
            <a:spAutoFit/>
          </a:bodyPr>
          <a:lstStyle/>
          <a:p>
            <a:pPr algn="ctr"/>
            <a:r>
              <a:rPr sz="1019" b="0">
                <a:solidFill>
                  <a:srgbClr val="5B6773"/>
                </a:solidFill>
                <a:latin typeface="Arial"/>
              </a:rPr>
              <a:t>Nét liền: so với persistence · nét đứt: so với climatology · dương = MSE thấp hơn baseline.</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320040" y="182880"/>
            <a:ext cx="524439" cy="438912"/>
          </a:xfrm>
          <a:prstGeom prst="rect">
            <a:avLst/>
          </a:prstGeom>
        </p:spPr>
      </p:pic>
      <p:sp>
        <p:nvSpPr>
          <p:cNvPr id="3" name="Rectangle 2"/>
          <p:cNvSpPr/>
          <p:nvPr/>
        </p:nvSpPr>
        <p:spPr>
          <a:xfrm>
            <a:off x="292608" y="713232"/>
            <a:ext cx="11594592" cy="41148"/>
          </a:xfrm>
          <a:prstGeom prst="rect">
            <a:avLst/>
          </a:prstGeom>
          <a:solidFill>
            <a:srgbClr val="1976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41832" y="182880"/>
            <a:ext cx="9646920" cy="365760"/>
          </a:xfrm>
          <a:prstGeom prst="rect">
            <a:avLst/>
          </a:prstGeom>
          <a:noFill/>
        </p:spPr>
        <p:txBody>
          <a:bodyPr wrap="none" lIns="36576" rIns="36576" tIns="36576" bIns="36576" anchor="t">
            <a:spAutoFit/>
          </a:bodyPr>
          <a:lstStyle/>
          <a:p>
            <a:pPr algn="l"/>
            <a:r>
              <a:rPr sz="2300" b="1">
                <a:solidFill>
                  <a:srgbClr val="20384F"/>
                </a:solidFill>
                <a:latin typeface="Arial"/>
              </a:rPr>
              <a:t>Bias khi rollout: sai lệch trung bình có dấu</a:t>
            </a:r>
          </a:p>
        </p:txBody>
      </p:sp>
      <p:sp>
        <p:nvSpPr>
          <p:cNvPr id="5" name="TextBox 4"/>
          <p:cNvSpPr txBox="1"/>
          <p:nvPr/>
        </p:nvSpPr>
        <p:spPr>
          <a:xfrm>
            <a:off x="11228832" y="256032"/>
            <a:ext cx="384048" cy="182880"/>
          </a:xfrm>
          <a:prstGeom prst="rect">
            <a:avLst/>
          </a:prstGeom>
          <a:noFill/>
        </p:spPr>
        <p:txBody>
          <a:bodyPr wrap="none" lIns="36576" rIns="36576" tIns="36576" bIns="36576" anchor="t">
            <a:spAutoFit/>
          </a:bodyPr>
          <a:lstStyle/>
          <a:p>
            <a:pPr algn="r"/>
            <a:r>
              <a:rPr sz="900" b="1">
                <a:solidFill>
                  <a:srgbClr val="1976D2"/>
                </a:solidFill>
                <a:latin typeface="Arial"/>
              </a:rPr>
              <a:t>24</a:t>
            </a:r>
          </a:p>
        </p:txBody>
      </p:sp>
      <p:sp>
        <p:nvSpPr>
          <p:cNvPr id="6" name="TextBox 5"/>
          <p:cNvSpPr txBox="1"/>
          <p:nvPr/>
        </p:nvSpPr>
        <p:spPr>
          <a:xfrm>
            <a:off x="365760" y="6583680"/>
            <a:ext cx="4754880" cy="146304"/>
          </a:xfrm>
          <a:prstGeom prst="rect">
            <a:avLst/>
          </a:prstGeom>
          <a:noFill/>
        </p:spPr>
        <p:txBody>
          <a:bodyPr wrap="none" lIns="36576" rIns="36576" tIns="36576" bIns="36576" anchor="t">
            <a:spAutoFit/>
          </a:bodyPr>
          <a:lstStyle/>
          <a:p>
            <a:pPr algn="l"/>
            <a:r>
              <a:rPr sz="620" b="0">
                <a:solidFill>
                  <a:srgbClr val="8794A1"/>
                </a:solidFill>
                <a:latin typeface="Arial"/>
              </a:rPr>
              <a:t>Lương Nguyễn Thành Hưng · NeuralAtmosphereOperator</a:t>
            </a:r>
          </a:p>
        </p:txBody>
      </p:sp>
      <p:sp>
        <p:nvSpPr>
          <p:cNvPr id="7" name="TextBox 6"/>
          <p:cNvSpPr txBox="1"/>
          <p:nvPr/>
        </p:nvSpPr>
        <p:spPr>
          <a:xfrm>
            <a:off x="10332720" y="6583680"/>
            <a:ext cx="1325880" cy="146304"/>
          </a:xfrm>
          <a:prstGeom prst="rect">
            <a:avLst/>
          </a:prstGeom>
          <a:noFill/>
        </p:spPr>
        <p:txBody>
          <a:bodyPr wrap="none" lIns="36576" rIns="36576" tIns="36576" bIns="36576" anchor="t">
            <a:spAutoFit/>
          </a:bodyPr>
          <a:lstStyle/>
          <a:p>
            <a:pPr algn="r"/>
            <a:r>
              <a:rPr sz="620" b="0">
                <a:solidFill>
                  <a:srgbClr val="8794A1"/>
                </a:solidFill>
                <a:latin typeface="Arial"/>
              </a:rPr>
              <a:t>Stage 1 → Stage 2</a:t>
            </a:r>
          </a:p>
        </p:txBody>
      </p:sp>
      <p:pic>
        <p:nvPicPr>
          <p:cNvPr id="8" name="Picture 7" descr="rollout_bias.png"/>
          <p:cNvPicPr>
            <a:picLocks noChangeAspect="1"/>
          </p:cNvPicPr>
          <p:nvPr/>
        </p:nvPicPr>
        <p:blipFill>
          <a:blip r:embed="rId3"/>
          <a:stretch>
            <a:fillRect/>
          </a:stretch>
        </p:blipFill>
        <p:spPr>
          <a:xfrm>
            <a:off x="956198" y="1042415"/>
            <a:ext cx="10279297" cy="4892040"/>
          </a:xfrm>
          <a:prstGeom prst="rect">
            <a:avLst/>
          </a:prstGeom>
        </p:spPr>
      </p:pic>
      <p:sp>
        <p:nvSpPr>
          <p:cNvPr id="9" name="TextBox 8"/>
          <p:cNvSpPr txBox="1"/>
          <p:nvPr/>
        </p:nvSpPr>
        <p:spPr>
          <a:xfrm>
            <a:off x="594360" y="6007608"/>
            <a:ext cx="11018520" cy="393192"/>
          </a:xfrm>
          <a:prstGeom prst="rect">
            <a:avLst/>
          </a:prstGeom>
          <a:noFill/>
        </p:spPr>
        <p:txBody>
          <a:bodyPr wrap="none" lIns="36576" rIns="36576" tIns="36576" bIns="36576" anchor="t">
            <a:spAutoFit/>
          </a:bodyPr>
          <a:lstStyle/>
          <a:p>
            <a:pPr algn="ctr"/>
            <a:r>
              <a:rPr sz="1019" b="0">
                <a:solidFill>
                  <a:srgbClr val="5B6773"/>
                </a:solidFill>
                <a:latin typeface="Arial"/>
              </a:rPr>
              <a:t>Bias = trung bình có trọng số của dự báo − thực tế · mỗi ô có đơn vị riêng · gần 0 không đồng nghĩa RMSE thấp.</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320040" y="182880"/>
            <a:ext cx="524439" cy="438912"/>
          </a:xfrm>
          <a:prstGeom prst="rect">
            <a:avLst/>
          </a:prstGeom>
        </p:spPr>
      </p:pic>
      <p:sp>
        <p:nvSpPr>
          <p:cNvPr id="3" name="Rectangle 2"/>
          <p:cNvSpPr/>
          <p:nvPr/>
        </p:nvSpPr>
        <p:spPr>
          <a:xfrm>
            <a:off x="292608" y="713232"/>
            <a:ext cx="11594592" cy="41148"/>
          </a:xfrm>
          <a:prstGeom prst="rect">
            <a:avLst/>
          </a:prstGeom>
          <a:solidFill>
            <a:srgbClr val="1976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41832" y="182880"/>
            <a:ext cx="9646920" cy="365760"/>
          </a:xfrm>
          <a:prstGeom prst="rect">
            <a:avLst/>
          </a:prstGeom>
          <a:noFill/>
        </p:spPr>
        <p:txBody>
          <a:bodyPr wrap="none" lIns="36576" rIns="36576" tIns="36576" bIns="36576" anchor="t">
            <a:spAutoFit/>
          </a:bodyPr>
          <a:lstStyle/>
          <a:p>
            <a:pPr algn="l"/>
            <a:r>
              <a:rPr sz="2300" b="1">
                <a:solidFill>
                  <a:srgbClr val="20384F"/>
                </a:solidFill>
                <a:latin typeface="Arial"/>
              </a:rPr>
              <a:t>Phổ Z500: năng lượng không được giữ đồng đều</a:t>
            </a:r>
          </a:p>
        </p:txBody>
      </p:sp>
      <p:sp>
        <p:nvSpPr>
          <p:cNvPr id="5" name="TextBox 4"/>
          <p:cNvSpPr txBox="1"/>
          <p:nvPr/>
        </p:nvSpPr>
        <p:spPr>
          <a:xfrm>
            <a:off x="11228832" y="256032"/>
            <a:ext cx="384048" cy="182880"/>
          </a:xfrm>
          <a:prstGeom prst="rect">
            <a:avLst/>
          </a:prstGeom>
          <a:noFill/>
        </p:spPr>
        <p:txBody>
          <a:bodyPr wrap="none" lIns="36576" rIns="36576" tIns="36576" bIns="36576" anchor="t">
            <a:spAutoFit/>
          </a:bodyPr>
          <a:lstStyle/>
          <a:p>
            <a:pPr algn="r"/>
            <a:r>
              <a:rPr sz="900" b="1">
                <a:solidFill>
                  <a:srgbClr val="1976D2"/>
                </a:solidFill>
                <a:latin typeface="Arial"/>
              </a:rPr>
              <a:t>25</a:t>
            </a:r>
          </a:p>
        </p:txBody>
      </p:sp>
      <p:sp>
        <p:nvSpPr>
          <p:cNvPr id="6" name="TextBox 5"/>
          <p:cNvSpPr txBox="1"/>
          <p:nvPr/>
        </p:nvSpPr>
        <p:spPr>
          <a:xfrm>
            <a:off x="365760" y="6583680"/>
            <a:ext cx="4754880" cy="146304"/>
          </a:xfrm>
          <a:prstGeom prst="rect">
            <a:avLst/>
          </a:prstGeom>
          <a:noFill/>
        </p:spPr>
        <p:txBody>
          <a:bodyPr wrap="none" lIns="36576" rIns="36576" tIns="36576" bIns="36576" anchor="t">
            <a:spAutoFit/>
          </a:bodyPr>
          <a:lstStyle/>
          <a:p>
            <a:pPr algn="l"/>
            <a:r>
              <a:rPr sz="620" b="0">
                <a:solidFill>
                  <a:srgbClr val="8794A1"/>
                </a:solidFill>
                <a:latin typeface="Arial"/>
              </a:rPr>
              <a:t>Lương Nguyễn Thành Hưng · NeuralAtmosphereOperator</a:t>
            </a:r>
          </a:p>
        </p:txBody>
      </p:sp>
      <p:sp>
        <p:nvSpPr>
          <p:cNvPr id="7" name="TextBox 6"/>
          <p:cNvSpPr txBox="1"/>
          <p:nvPr/>
        </p:nvSpPr>
        <p:spPr>
          <a:xfrm>
            <a:off x="10332720" y="6583680"/>
            <a:ext cx="1325880" cy="146304"/>
          </a:xfrm>
          <a:prstGeom prst="rect">
            <a:avLst/>
          </a:prstGeom>
          <a:noFill/>
        </p:spPr>
        <p:txBody>
          <a:bodyPr wrap="none" lIns="36576" rIns="36576" tIns="36576" bIns="36576" anchor="t">
            <a:spAutoFit/>
          </a:bodyPr>
          <a:lstStyle/>
          <a:p>
            <a:pPr algn="r"/>
            <a:r>
              <a:rPr sz="620" b="0">
                <a:solidFill>
                  <a:srgbClr val="8794A1"/>
                </a:solidFill>
                <a:latin typeface="Arial"/>
              </a:rPr>
              <a:t>Stage 1 → Stage 2</a:t>
            </a:r>
          </a:p>
        </p:txBody>
      </p:sp>
      <p:pic>
        <p:nvPicPr>
          <p:cNvPr id="8" name="Picture 7" descr="rollout_z500_spectral_ratio.png"/>
          <p:cNvPicPr>
            <a:picLocks noChangeAspect="1"/>
          </p:cNvPicPr>
          <p:nvPr/>
        </p:nvPicPr>
        <p:blipFill>
          <a:blip r:embed="rId3"/>
          <a:stretch>
            <a:fillRect/>
          </a:stretch>
        </p:blipFill>
        <p:spPr>
          <a:xfrm>
            <a:off x="586587" y="1280160"/>
            <a:ext cx="11018520" cy="3697842"/>
          </a:xfrm>
          <a:prstGeom prst="rect">
            <a:avLst/>
          </a:prstGeom>
        </p:spPr>
      </p:pic>
      <p:sp>
        <p:nvSpPr>
          <p:cNvPr id="9" name="TextBox 8"/>
          <p:cNvSpPr txBox="1"/>
          <p:nvPr/>
        </p:nvSpPr>
        <p:spPr>
          <a:xfrm>
            <a:off x="594360" y="6007608"/>
            <a:ext cx="11018520" cy="393192"/>
          </a:xfrm>
          <a:prstGeom prst="rect">
            <a:avLst/>
          </a:prstGeom>
          <a:noFill/>
        </p:spPr>
        <p:txBody>
          <a:bodyPr wrap="none" lIns="36576" rIns="36576" tIns="36576" bIns="36576" anchor="t">
            <a:spAutoFit/>
          </a:bodyPr>
          <a:lstStyle/>
          <a:p>
            <a:pPr algn="ctr"/>
            <a:r>
              <a:rPr sz="1019" b="0">
                <a:solidFill>
                  <a:srgbClr val="5B6773"/>
                </a:solidFill>
                <a:latin typeface="Arial"/>
              </a:rPr>
              <a:t>Z500 · Rℓ = Pmodel / PERA5 · trục log · chỉ ℓ=1…179; không suy rộng sang toàn bộ 71 biến hoặc mọi tần số.</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320040" y="182880"/>
            <a:ext cx="524439" cy="438912"/>
          </a:xfrm>
          <a:prstGeom prst="rect">
            <a:avLst/>
          </a:prstGeom>
        </p:spPr>
      </p:pic>
      <p:sp>
        <p:nvSpPr>
          <p:cNvPr id="3" name="Rectangle 2"/>
          <p:cNvSpPr/>
          <p:nvPr/>
        </p:nvSpPr>
        <p:spPr>
          <a:xfrm>
            <a:off x="292608" y="713232"/>
            <a:ext cx="11594592" cy="41148"/>
          </a:xfrm>
          <a:prstGeom prst="rect">
            <a:avLst/>
          </a:prstGeom>
          <a:solidFill>
            <a:srgbClr val="1976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41832" y="182880"/>
            <a:ext cx="9646920" cy="365760"/>
          </a:xfrm>
          <a:prstGeom prst="rect">
            <a:avLst/>
          </a:prstGeom>
          <a:noFill/>
        </p:spPr>
        <p:txBody>
          <a:bodyPr wrap="none" lIns="36576" rIns="36576" tIns="36576" bIns="36576" anchor="t">
            <a:spAutoFit/>
          </a:bodyPr>
          <a:lstStyle/>
          <a:p>
            <a:pPr algn="l"/>
            <a:r>
              <a:rPr sz="2300" b="1">
                <a:solidFill>
                  <a:srgbClr val="20384F"/>
                </a:solidFill>
                <a:latin typeface="Arial"/>
              </a:rPr>
              <a:t>Kiểm tra trên toàn bộ 71 kênh</a:t>
            </a:r>
          </a:p>
        </p:txBody>
      </p:sp>
      <p:sp>
        <p:nvSpPr>
          <p:cNvPr id="5" name="TextBox 4"/>
          <p:cNvSpPr txBox="1"/>
          <p:nvPr/>
        </p:nvSpPr>
        <p:spPr>
          <a:xfrm>
            <a:off x="11228832" y="256032"/>
            <a:ext cx="384048" cy="182880"/>
          </a:xfrm>
          <a:prstGeom prst="rect">
            <a:avLst/>
          </a:prstGeom>
          <a:noFill/>
        </p:spPr>
        <p:txBody>
          <a:bodyPr wrap="none" lIns="36576" rIns="36576" tIns="36576" bIns="36576" anchor="t">
            <a:spAutoFit/>
          </a:bodyPr>
          <a:lstStyle/>
          <a:p>
            <a:pPr algn="r"/>
            <a:r>
              <a:rPr sz="900" b="1">
                <a:solidFill>
                  <a:srgbClr val="1976D2"/>
                </a:solidFill>
                <a:latin typeface="Arial"/>
              </a:rPr>
              <a:t>26</a:t>
            </a:r>
          </a:p>
        </p:txBody>
      </p:sp>
      <p:sp>
        <p:nvSpPr>
          <p:cNvPr id="6" name="TextBox 5"/>
          <p:cNvSpPr txBox="1"/>
          <p:nvPr/>
        </p:nvSpPr>
        <p:spPr>
          <a:xfrm>
            <a:off x="365760" y="6583680"/>
            <a:ext cx="4754880" cy="146304"/>
          </a:xfrm>
          <a:prstGeom prst="rect">
            <a:avLst/>
          </a:prstGeom>
          <a:noFill/>
        </p:spPr>
        <p:txBody>
          <a:bodyPr wrap="none" lIns="36576" rIns="36576" tIns="36576" bIns="36576" anchor="t">
            <a:spAutoFit/>
          </a:bodyPr>
          <a:lstStyle/>
          <a:p>
            <a:pPr algn="l"/>
            <a:r>
              <a:rPr sz="620" b="0">
                <a:solidFill>
                  <a:srgbClr val="8794A1"/>
                </a:solidFill>
                <a:latin typeface="Arial"/>
              </a:rPr>
              <a:t>Lương Nguyễn Thành Hưng · NeuralAtmosphereOperator</a:t>
            </a:r>
          </a:p>
        </p:txBody>
      </p:sp>
      <p:sp>
        <p:nvSpPr>
          <p:cNvPr id="7" name="TextBox 6"/>
          <p:cNvSpPr txBox="1"/>
          <p:nvPr/>
        </p:nvSpPr>
        <p:spPr>
          <a:xfrm>
            <a:off x="10332720" y="6583680"/>
            <a:ext cx="1325880" cy="146304"/>
          </a:xfrm>
          <a:prstGeom prst="rect">
            <a:avLst/>
          </a:prstGeom>
          <a:noFill/>
        </p:spPr>
        <p:txBody>
          <a:bodyPr wrap="none" lIns="36576" rIns="36576" tIns="36576" bIns="36576" anchor="t">
            <a:spAutoFit/>
          </a:bodyPr>
          <a:lstStyle/>
          <a:p>
            <a:pPr algn="r"/>
            <a:r>
              <a:rPr sz="620" b="0">
                <a:solidFill>
                  <a:srgbClr val="8794A1"/>
                </a:solidFill>
                <a:latin typeface="Arial"/>
              </a:rPr>
              <a:t>Stage 1 → Stage 2</a:t>
            </a:r>
          </a:p>
        </p:txBody>
      </p:sp>
      <p:pic>
        <p:nvPicPr>
          <p:cNvPr id="8" name="Picture 7" descr="rollout_all71.png"/>
          <p:cNvPicPr>
            <a:picLocks noChangeAspect="1"/>
          </p:cNvPicPr>
          <p:nvPr/>
        </p:nvPicPr>
        <p:blipFill>
          <a:blip r:embed="rId3"/>
          <a:stretch>
            <a:fillRect/>
          </a:stretch>
        </p:blipFill>
        <p:spPr>
          <a:xfrm>
            <a:off x="586587" y="1280160"/>
            <a:ext cx="11018520" cy="3429579"/>
          </a:xfrm>
          <a:prstGeom prst="rect">
            <a:avLst/>
          </a:prstGeom>
        </p:spPr>
      </p:pic>
      <p:sp>
        <p:nvSpPr>
          <p:cNvPr id="9" name="TextBox 8"/>
          <p:cNvSpPr txBox="1"/>
          <p:nvPr/>
        </p:nvSpPr>
        <p:spPr>
          <a:xfrm>
            <a:off x="594360" y="6007608"/>
            <a:ext cx="11018520" cy="393192"/>
          </a:xfrm>
          <a:prstGeom prst="rect">
            <a:avLst/>
          </a:prstGeom>
          <a:noFill/>
        </p:spPr>
        <p:txBody>
          <a:bodyPr wrap="none" lIns="36576" rIns="36576" tIns="36576" bIns="36576" anchor="t">
            <a:spAutoFit/>
          </a:bodyPr>
          <a:lstStyle/>
          <a:p>
            <a:pPr algn="ctr"/>
            <a:r>
              <a:rPr sz="1019" b="0">
                <a:solidFill>
                  <a:srgbClr val="5B6773"/>
                </a:solidFill>
                <a:latin typeface="Arial"/>
              </a:rPr>
              <a:t>60 khởi tạo · trung vị 6 giờ bỏ Q50 vì RMSE làm tròn bằng 0 (70 kênh); các mốc còn lại: 71 kênh.</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320040" y="182880"/>
            <a:ext cx="524439" cy="438912"/>
          </a:xfrm>
          <a:prstGeom prst="rect">
            <a:avLst/>
          </a:prstGeom>
        </p:spPr>
      </p:pic>
      <p:sp>
        <p:nvSpPr>
          <p:cNvPr id="3" name="Rectangle 2"/>
          <p:cNvSpPr/>
          <p:nvPr/>
        </p:nvSpPr>
        <p:spPr>
          <a:xfrm>
            <a:off x="292608" y="713232"/>
            <a:ext cx="11594592" cy="41148"/>
          </a:xfrm>
          <a:prstGeom prst="rect">
            <a:avLst/>
          </a:prstGeom>
          <a:solidFill>
            <a:srgbClr val="1976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41832" y="182880"/>
            <a:ext cx="9646920" cy="365760"/>
          </a:xfrm>
          <a:prstGeom prst="rect">
            <a:avLst/>
          </a:prstGeom>
          <a:noFill/>
        </p:spPr>
        <p:txBody>
          <a:bodyPr wrap="none" lIns="36576" rIns="36576" tIns="36576" bIns="36576" anchor="t">
            <a:spAutoFit/>
          </a:bodyPr>
          <a:lstStyle/>
          <a:p>
            <a:pPr algn="l"/>
            <a:r>
              <a:rPr sz="2300" b="1">
                <a:solidFill>
                  <a:srgbClr val="20384F"/>
                </a:solidFill>
                <a:latin typeface="Arial"/>
              </a:rPr>
              <a:t>Giới hạn và phạm vi kết luận</a:t>
            </a:r>
          </a:p>
        </p:txBody>
      </p:sp>
      <p:sp>
        <p:nvSpPr>
          <p:cNvPr id="5" name="TextBox 4"/>
          <p:cNvSpPr txBox="1"/>
          <p:nvPr/>
        </p:nvSpPr>
        <p:spPr>
          <a:xfrm>
            <a:off x="11228832" y="256032"/>
            <a:ext cx="384048" cy="182880"/>
          </a:xfrm>
          <a:prstGeom prst="rect">
            <a:avLst/>
          </a:prstGeom>
          <a:noFill/>
        </p:spPr>
        <p:txBody>
          <a:bodyPr wrap="none" lIns="36576" rIns="36576" tIns="36576" bIns="36576" anchor="t">
            <a:spAutoFit/>
          </a:bodyPr>
          <a:lstStyle/>
          <a:p>
            <a:pPr algn="r"/>
            <a:r>
              <a:rPr sz="900" b="1">
                <a:solidFill>
                  <a:srgbClr val="1976D2"/>
                </a:solidFill>
                <a:latin typeface="Arial"/>
              </a:rPr>
              <a:t>27</a:t>
            </a:r>
          </a:p>
        </p:txBody>
      </p:sp>
      <p:sp>
        <p:nvSpPr>
          <p:cNvPr id="6" name="TextBox 5"/>
          <p:cNvSpPr txBox="1"/>
          <p:nvPr/>
        </p:nvSpPr>
        <p:spPr>
          <a:xfrm>
            <a:off x="365760" y="6583680"/>
            <a:ext cx="4754880" cy="146304"/>
          </a:xfrm>
          <a:prstGeom prst="rect">
            <a:avLst/>
          </a:prstGeom>
          <a:noFill/>
        </p:spPr>
        <p:txBody>
          <a:bodyPr wrap="none" lIns="36576" rIns="36576" tIns="36576" bIns="36576" anchor="t">
            <a:spAutoFit/>
          </a:bodyPr>
          <a:lstStyle/>
          <a:p>
            <a:pPr algn="l"/>
            <a:r>
              <a:rPr sz="620" b="0">
                <a:solidFill>
                  <a:srgbClr val="8794A1"/>
                </a:solidFill>
                <a:latin typeface="Arial"/>
              </a:rPr>
              <a:t>Lương Nguyễn Thành Hưng · NeuralAtmosphereOperator</a:t>
            </a:r>
          </a:p>
        </p:txBody>
      </p:sp>
      <p:sp>
        <p:nvSpPr>
          <p:cNvPr id="7" name="TextBox 6"/>
          <p:cNvSpPr txBox="1"/>
          <p:nvPr/>
        </p:nvSpPr>
        <p:spPr>
          <a:xfrm>
            <a:off x="10332720" y="6583680"/>
            <a:ext cx="1325880" cy="146304"/>
          </a:xfrm>
          <a:prstGeom prst="rect">
            <a:avLst/>
          </a:prstGeom>
          <a:noFill/>
        </p:spPr>
        <p:txBody>
          <a:bodyPr wrap="none" lIns="36576" rIns="36576" tIns="36576" bIns="36576" anchor="t">
            <a:spAutoFit/>
          </a:bodyPr>
          <a:lstStyle/>
          <a:p>
            <a:pPr algn="r"/>
            <a:r>
              <a:rPr sz="620" b="0">
                <a:solidFill>
                  <a:srgbClr val="8794A1"/>
                </a:solidFill>
                <a:latin typeface="Arial"/>
              </a:rPr>
              <a:t>Stage 1 → Stage 2</a:t>
            </a:r>
          </a:p>
        </p:txBody>
      </p:sp>
      <p:sp>
        <p:nvSpPr>
          <p:cNvPr id="8" name="TextBox 7"/>
          <p:cNvSpPr txBox="1"/>
          <p:nvPr/>
        </p:nvSpPr>
        <p:spPr>
          <a:xfrm>
            <a:off x="777240" y="1280160"/>
            <a:ext cx="10698480" cy="4389120"/>
          </a:xfrm>
          <a:prstGeom prst="rect">
            <a:avLst/>
          </a:prstGeom>
          <a:noFill/>
        </p:spPr>
        <p:txBody>
          <a:bodyPr wrap="none" lIns="73152" rIns="36576" tIns="27432">
            <a:spAutoFit/>
          </a:bodyPr>
          <a:lstStyle/>
          <a:p>
            <a:pPr>
              <a:spcAft>
                <a:spcPts val="1700"/>
              </a:spcAft>
              <a:defRPr sz="1800">
                <a:solidFill>
                  <a:srgbClr val="20384F"/>
                </a:solidFill>
                <a:latin typeface="Arial"/>
              </a:defRPr>
            </a:pPr>
            <a:r>
              <a:t>•  Đã rollout đến 7 ngày; train K=1 không có nghĩa là chỉ test K=1</a:t>
            </a:r>
          </a:p>
          <a:p>
            <a:pPr>
              <a:spcAft>
                <a:spcPts val="1700"/>
              </a:spcAft>
              <a:defRPr sz="1800">
                <a:solidFill>
                  <a:srgbClr val="20384F"/>
                </a:solidFill>
                <a:latin typeface="Arial"/>
              </a:defRPr>
            </a:pPr>
            <a:r>
              <a:t>•  60 khởi tạo; chưa đánh giá riêng bão, cực trị và tính đại diện theo mùa</a:t>
            </a:r>
          </a:p>
          <a:p>
            <a:pPr>
              <a:spcAft>
                <a:spcPts val="1700"/>
              </a:spcAft>
              <a:defRPr sz="1800">
                <a:solidFill>
                  <a:srgbClr val="20384F"/>
                </a:solidFill>
                <a:latin typeface="Arial"/>
              </a:defRPr>
            </a:pPr>
            <a:r>
              <a:t>•  Chưa có ablation study hoặc khoảng tin cậy cho chênh lệch ghép cặp</a:t>
            </a:r>
          </a:p>
          <a:p>
            <a:pPr>
              <a:spcAft>
                <a:spcPts val="1700"/>
              </a:spcAft>
              <a:defRPr sz="1800">
                <a:solidFill>
                  <a:srgbClr val="20384F"/>
                </a:solidFill>
                <a:latin typeface="Arial"/>
              </a:defRPr>
            </a:pPr>
            <a:r>
              <a:t>•  Benchmark JSON chưa lưu đầy đủ timestamp khởi tạo và hash checkpoint</a:t>
            </a:r>
          </a:p>
          <a:p>
            <a:pPr>
              <a:spcAft>
                <a:spcPts val="1700"/>
              </a:spcAft>
              <a:defRPr sz="1800">
                <a:solidFill>
                  <a:srgbClr val="20384F"/>
                </a:solidFill>
                <a:latin typeface="Arial"/>
              </a:defRPr>
            </a:pPr>
            <a:r>
              <a:t>•  Phổ lưu trữ chỉ có Z500, ℓ≤179; chưa xác nhận chất lượng toàn dải</a:t>
            </a:r>
          </a:p>
          <a:p>
            <a:pPr>
              <a:spcAft>
                <a:spcPts val="1700"/>
              </a:spcAft>
              <a:defRPr sz="1800">
                <a:solidFill>
                  <a:srgbClr val="20384F"/>
                </a:solidFill>
                <a:latin typeface="Arial"/>
              </a:defRPr>
            </a:pPr>
            <a:r>
              <a:t>•  Không so trực tiếp với paper dùng năm test, lưới hoặc climatology khác</a:t>
            </a:r>
          </a:p>
        </p:txBody>
      </p:sp>
      <p:sp>
        <p:nvSpPr>
          <p:cNvPr id="9" name="TextBox 8"/>
          <p:cNvSpPr txBox="1"/>
          <p:nvPr/>
        </p:nvSpPr>
        <p:spPr>
          <a:xfrm>
            <a:off x="594360" y="6007608"/>
            <a:ext cx="11018520" cy="393192"/>
          </a:xfrm>
          <a:prstGeom prst="rect">
            <a:avLst/>
          </a:prstGeom>
          <a:noFill/>
        </p:spPr>
        <p:txBody>
          <a:bodyPr wrap="none" lIns="36576" rIns="36576" tIns="36576" bIns="36576" anchor="t">
            <a:spAutoFit/>
          </a:bodyPr>
          <a:lstStyle/>
          <a:p>
            <a:pPr algn="ctr"/>
            <a:r>
              <a:rPr sz="1019" b="0">
                <a:solidFill>
                  <a:srgbClr val="5B6773"/>
                </a:solidFill>
                <a:latin typeface="Arial"/>
              </a:rPr>
              <a:t>Kết quả lưu trữ là bằng chứng thực nghiệm; không thay thế một lượt đánh giá được kiểm chứng lại đầy đủ.</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320040" y="182880"/>
            <a:ext cx="524439" cy="438912"/>
          </a:xfrm>
          <a:prstGeom prst="rect">
            <a:avLst/>
          </a:prstGeom>
        </p:spPr>
      </p:pic>
      <p:sp>
        <p:nvSpPr>
          <p:cNvPr id="3" name="Rectangle 2"/>
          <p:cNvSpPr/>
          <p:nvPr/>
        </p:nvSpPr>
        <p:spPr>
          <a:xfrm>
            <a:off x="292608" y="713232"/>
            <a:ext cx="11594592" cy="41148"/>
          </a:xfrm>
          <a:prstGeom prst="rect">
            <a:avLst/>
          </a:prstGeom>
          <a:solidFill>
            <a:srgbClr val="1976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41832" y="182880"/>
            <a:ext cx="9646920" cy="365760"/>
          </a:xfrm>
          <a:prstGeom prst="rect">
            <a:avLst/>
          </a:prstGeom>
          <a:noFill/>
        </p:spPr>
        <p:txBody>
          <a:bodyPr wrap="none" lIns="36576" rIns="36576" tIns="36576" bIns="36576" anchor="t">
            <a:spAutoFit/>
          </a:bodyPr>
          <a:lstStyle/>
          <a:p>
            <a:pPr algn="l"/>
            <a:r>
              <a:rPr sz="2300" b="1">
                <a:solidFill>
                  <a:srgbClr val="20384F"/>
                </a:solidFill>
                <a:latin typeface="Arial"/>
              </a:rPr>
              <a:t>Thí nghiệm tiếp theo: ưu tiên kiểm chứng</a:t>
            </a:r>
          </a:p>
        </p:txBody>
      </p:sp>
      <p:sp>
        <p:nvSpPr>
          <p:cNvPr id="5" name="TextBox 4"/>
          <p:cNvSpPr txBox="1"/>
          <p:nvPr/>
        </p:nvSpPr>
        <p:spPr>
          <a:xfrm>
            <a:off x="11228832" y="256032"/>
            <a:ext cx="384048" cy="182880"/>
          </a:xfrm>
          <a:prstGeom prst="rect">
            <a:avLst/>
          </a:prstGeom>
          <a:noFill/>
        </p:spPr>
        <p:txBody>
          <a:bodyPr wrap="none" lIns="36576" rIns="36576" tIns="36576" bIns="36576" anchor="t">
            <a:spAutoFit/>
          </a:bodyPr>
          <a:lstStyle/>
          <a:p>
            <a:pPr algn="r"/>
            <a:r>
              <a:rPr sz="900" b="1">
                <a:solidFill>
                  <a:srgbClr val="1976D2"/>
                </a:solidFill>
                <a:latin typeface="Arial"/>
              </a:rPr>
              <a:t>28</a:t>
            </a:r>
          </a:p>
        </p:txBody>
      </p:sp>
      <p:sp>
        <p:nvSpPr>
          <p:cNvPr id="6" name="TextBox 5"/>
          <p:cNvSpPr txBox="1"/>
          <p:nvPr/>
        </p:nvSpPr>
        <p:spPr>
          <a:xfrm>
            <a:off x="365760" y="6583680"/>
            <a:ext cx="4754880" cy="146304"/>
          </a:xfrm>
          <a:prstGeom prst="rect">
            <a:avLst/>
          </a:prstGeom>
          <a:noFill/>
        </p:spPr>
        <p:txBody>
          <a:bodyPr wrap="none" lIns="36576" rIns="36576" tIns="36576" bIns="36576" anchor="t">
            <a:spAutoFit/>
          </a:bodyPr>
          <a:lstStyle/>
          <a:p>
            <a:pPr algn="l"/>
            <a:r>
              <a:rPr sz="620" b="0">
                <a:solidFill>
                  <a:srgbClr val="8794A1"/>
                </a:solidFill>
                <a:latin typeface="Arial"/>
              </a:rPr>
              <a:t>Lương Nguyễn Thành Hưng · NeuralAtmosphereOperator</a:t>
            </a:r>
          </a:p>
        </p:txBody>
      </p:sp>
      <p:sp>
        <p:nvSpPr>
          <p:cNvPr id="7" name="TextBox 6"/>
          <p:cNvSpPr txBox="1"/>
          <p:nvPr/>
        </p:nvSpPr>
        <p:spPr>
          <a:xfrm>
            <a:off x="10332720" y="6583680"/>
            <a:ext cx="1325880" cy="146304"/>
          </a:xfrm>
          <a:prstGeom prst="rect">
            <a:avLst/>
          </a:prstGeom>
          <a:noFill/>
        </p:spPr>
        <p:txBody>
          <a:bodyPr wrap="none" lIns="36576" rIns="36576" tIns="36576" bIns="36576" anchor="t">
            <a:spAutoFit/>
          </a:bodyPr>
          <a:lstStyle/>
          <a:p>
            <a:pPr algn="r"/>
            <a:r>
              <a:rPr sz="620" b="0">
                <a:solidFill>
                  <a:srgbClr val="8794A1"/>
                </a:solidFill>
                <a:latin typeface="Arial"/>
              </a:rPr>
              <a:t>Stage 1 → Stage 2</a:t>
            </a:r>
          </a:p>
        </p:txBody>
      </p:sp>
      <p:sp>
        <p:nvSpPr>
          <p:cNvPr id="8" name="Rounded Rectangle 7"/>
          <p:cNvSpPr/>
          <p:nvPr/>
        </p:nvSpPr>
        <p:spPr>
          <a:xfrm>
            <a:off x="594360" y="1554480"/>
            <a:ext cx="3291840" cy="3566160"/>
          </a:xfrm>
          <a:prstGeom prst="roundRect">
            <a:avLst>
              <a:gd name="adj" fmla="val 12000"/>
            </a:avLst>
          </a:prstGeom>
          <a:solidFill>
            <a:srgbClr val="EEF5FB"/>
          </a:solidFill>
          <a:ln w="12700">
            <a:solidFill>
              <a:srgbClr val="1976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58952" y="1819656"/>
            <a:ext cx="2926080" cy="365760"/>
          </a:xfrm>
          <a:prstGeom prst="rect">
            <a:avLst/>
          </a:prstGeom>
          <a:noFill/>
        </p:spPr>
        <p:txBody>
          <a:bodyPr wrap="none" lIns="36576" rIns="36576" tIns="36576" bIns="36576" anchor="t">
            <a:spAutoFit/>
          </a:bodyPr>
          <a:lstStyle/>
          <a:p>
            <a:pPr algn="l"/>
            <a:r>
              <a:rPr sz="2100" b="1">
                <a:solidFill>
                  <a:srgbClr val="1976D2"/>
                </a:solidFill>
                <a:latin typeface="Arial"/>
              </a:rPr>
              <a:t>1. Đánh giá</a:t>
            </a:r>
          </a:p>
        </p:txBody>
      </p:sp>
      <p:sp>
        <p:nvSpPr>
          <p:cNvPr id="10" name="TextBox 9"/>
          <p:cNvSpPr txBox="1"/>
          <p:nvPr/>
        </p:nvSpPr>
        <p:spPr>
          <a:xfrm>
            <a:off x="758952" y="2624328"/>
            <a:ext cx="2944368" cy="2103120"/>
          </a:xfrm>
          <a:prstGeom prst="rect">
            <a:avLst/>
          </a:prstGeom>
          <a:noFill/>
        </p:spPr>
        <p:txBody>
          <a:bodyPr wrap="none" lIns="36576" rIns="36576" tIns="36576" bIns="36576" anchor="t">
            <a:spAutoFit/>
          </a:bodyPr>
          <a:lstStyle/>
          <a:p>
            <a:pPr algn="l"/>
            <a:r>
              <a:rPr sz="1700" b="0">
                <a:solidFill>
                  <a:srgbClr val="20384F"/>
                </a:solidFill>
                <a:latin typeface="Arial"/>
              </a:rPr>
              <a:t>Cùng khởi tạo, hash checkpoint
Phân tích theo mùa và sự kiện
Sai số + khoảng tin cậy</a:t>
            </a:r>
          </a:p>
        </p:txBody>
      </p:sp>
      <p:sp>
        <p:nvSpPr>
          <p:cNvPr id="11" name="Rounded Rectangle 10"/>
          <p:cNvSpPr/>
          <p:nvPr/>
        </p:nvSpPr>
        <p:spPr>
          <a:xfrm>
            <a:off x="4434840" y="1554480"/>
            <a:ext cx="3291840" cy="3566160"/>
          </a:xfrm>
          <a:prstGeom prst="roundRect">
            <a:avLst>
              <a:gd name="adj" fmla="val 12000"/>
            </a:avLst>
          </a:prstGeom>
          <a:solidFill>
            <a:srgbClr val="EEF5FB"/>
          </a:solidFill>
          <a:ln w="12700">
            <a:solidFill>
              <a:srgbClr val="1976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9431" y="1819656"/>
            <a:ext cx="2926080" cy="365760"/>
          </a:xfrm>
          <a:prstGeom prst="rect">
            <a:avLst/>
          </a:prstGeom>
          <a:noFill/>
        </p:spPr>
        <p:txBody>
          <a:bodyPr wrap="none" lIns="36576" rIns="36576" tIns="36576" bIns="36576" anchor="t">
            <a:spAutoFit/>
          </a:bodyPr>
          <a:lstStyle/>
          <a:p>
            <a:pPr algn="l"/>
            <a:r>
              <a:rPr sz="2100" b="1">
                <a:solidFill>
                  <a:srgbClr val="1976D2"/>
                </a:solidFill>
                <a:latin typeface="Arial"/>
              </a:rPr>
              <a:t>2. Ablation</a:t>
            </a:r>
          </a:p>
        </p:txBody>
      </p:sp>
      <p:sp>
        <p:nvSpPr>
          <p:cNvPr id="13" name="TextBox 12"/>
          <p:cNvSpPr txBox="1"/>
          <p:nvPr/>
        </p:nvSpPr>
        <p:spPr>
          <a:xfrm>
            <a:off x="4599431" y="2624328"/>
            <a:ext cx="2944368" cy="2103120"/>
          </a:xfrm>
          <a:prstGeom prst="rect">
            <a:avLst/>
          </a:prstGeom>
          <a:noFill/>
        </p:spPr>
        <p:txBody>
          <a:bodyPr wrap="none" lIns="36576" rIns="36576" tIns="36576" bIns="36576" anchor="t">
            <a:spAutoFit/>
          </a:bodyPr>
          <a:lstStyle/>
          <a:p>
            <a:pPr algn="l"/>
            <a:r>
              <a:rPr sz="1700" b="0">
                <a:solidFill>
                  <a:srgbClr val="20384F"/>
                </a:solidFill>
                <a:latin typeface="Arial"/>
              </a:rPr>
              <a:t>Bỏ history / forcing
Corrector lưới gốc / giảm lưới
Backbone cố định / mở khóa</a:t>
            </a:r>
          </a:p>
        </p:txBody>
      </p:sp>
      <p:sp>
        <p:nvSpPr>
          <p:cNvPr id="14" name="Rounded Rectangle 13"/>
          <p:cNvSpPr/>
          <p:nvPr/>
        </p:nvSpPr>
        <p:spPr>
          <a:xfrm>
            <a:off x="8275320" y="1554480"/>
            <a:ext cx="3291840" cy="3566160"/>
          </a:xfrm>
          <a:prstGeom prst="roundRect">
            <a:avLst>
              <a:gd name="adj" fmla="val 12000"/>
            </a:avLst>
          </a:prstGeom>
          <a:solidFill>
            <a:srgbClr val="EEF5FB"/>
          </a:solidFill>
          <a:ln w="12700">
            <a:solidFill>
              <a:srgbClr val="1976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439912" y="1819656"/>
            <a:ext cx="2926080" cy="365760"/>
          </a:xfrm>
          <a:prstGeom prst="rect">
            <a:avLst/>
          </a:prstGeom>
          <a:noFill/>
        </p:spPr>
        <p:txBody>
          <a:bodyPr wrap="none" lIns="36576" rIns="36576" tIns="36576" bIns="36576" anchor="t">
            <a:spAutoFit/>
          </a:bodyPr>
          <a:lstStyle/>
          <a:p>
            <a:pPr algn="l"/>
            <a:r>
              <a:rPr sz="2100" b="1">
                <a:solidFill>
                  <a:srgbClr val="1976D2"/>
                </a:solidFill>
                <a:latin typeface="Arial"/>
              </a:rPr>
              <a:t>3. Loss và train</a:t>
            </a:r>
          </a:p>
        </p:txBody>
      </p:sp>
      <p:sp>
        <p:nvSpPr>
          <p:cNvPr id="16" name="TextBox 15"/>
          <p:cNvSpPr txBox="1"/>
          <p:nvPr/>
        </p:nvSpPr>
        <p:spPr>
          <a:xfrm>
            <a:off x="8439912" y="2624328"/>
            <a:ext cx="2944368" cy="2103120"/>
          </a:xfrm>
          <a:prstGeom prst="rect">
            <a:avLst/>
          </a:prstGeom>
          <a:noFill/>
        </p:spPr>
        <p:txBody>
          <a:bodyPr wrap="none" lIns="36576" rIns="36576" tIns="36576" bIns="36576" anchor="t">
            <a:spAutoFit/>
          </a:bodyPr>
          <a:lstStyle/>
          <a:p>
            <a:pPr algn="l"/>
            <a:r>
              <a:rPr sz="1700" b="0">
                <a:solidFill>
                  <a:srgbClr val="20384F"/>
                </a:solidFill>
                <a:latin typeface="Arial"/>
              </a:rPr>
              <a:t>Multi-step training
Spectral / gradient loss
Sampling và trọng số cực trị</a:t>
            </a:r>
          </a:p>
        </p:txBody>
      </p:sp>
      <p:sp>
        <p:nvSpPr>
          <p:cNvPr id="17" name="TextBox 16"/>
          <p:cNvSpPr txBox="1"/>
          <p:nvPr/>
        </p:nvSpPr>
        <p:spPr>
          <a:xfrm>
            <a:off x="594360" y="6007608"/>
            <a:ext cx="11018520" cy="393192"/>
          </a:xfrm>
          <a:prstGeom prst="rect">
            <a:avLst/>
          </a:prstGeom>
          <a:noFill/>
        </p:spPr>
        <p:txBody>
          <a:bodyPr wrap="none" lIns="36576" rIns="36576" tIns="36576" bIns="36576" anchor="t">
            <a:spAutoFit/>
          </a:bodyPr>
          <a:lstStyle/>
          <a:p>
            <a:pPr algn="ctr"/>
            <a:r>
              <a:rPr sz="1019" b="0">
                <a:solidFill>
                  <a:srgbClr val="5B6773"/>
                </a:solidFill>
                <a:latin typeface="Arial"/>
              </a:rPr>
              <a:t>Đổi từng yếu tố; ghi rõ chi phí và mục tiêu đo; không mặc định tần số cao là nhiễu.</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320040" y="182880"/>
            <a:ext cx="524439" cy="438912"/>
          </a:xfrm>
          <a:prstGeom prst="rect">
            <a:avLst/>
          </a:prstGeom>
        </p:spPr>
      </p:pic>
      <p:sp>
        <p:nvSpPr>
          <p:cNvPr id="3" name="Rectangle 2"/>
          <p:cNvSpPr/>
          <p:nvPr/>
        </p:nvSpPr>
        <p:spPr>
          <a:xfrm>
            <a:off x="292608" y="713232"/>
            <a:ext cx="11594592" cy="41148"/>
          </a:xfrm>
          <a:prstGeom prst="rect">
            <a:avLst/>
          </a:prstGeom>
          <a:solidFill>
            <a:srgbClr val="1976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41832" y="182880"/>
            <a:ext cx="9646920" cy="365760"/>
          </a:xfrm>
          <a:prstGeom prst="rect">
            <a:avLst/>
          </a:prstGeom>
          <a:noFill/>
        </p:spPr>
        <p:txBody>
          <a:bodyPr wrap="none" lIns="36576" rIns="36576" tIns="36576" bIns="36576" anchor="t">
            <a:spAutoFit/>
          </a:bodyPr>
          <a:lstStyle/>
          <a:p>
            <a:pPr algn="l"/>
            <a:r>
              <a:rPr sz="2300" b="1">
                <a:solidFill>
                  <a:srgbClr val="20384F"/>
                </a:solidFill>
                <a:latin typeface="Arial"/>
              </a:rPr>
              <a:t>Kết luận</a:t>
            </a:r>
          </a:p>
        </p:txBody>
      </p:sp>
      <p:sp>
        <p:nvSpPr>
          <p:cNvPr id="5" name="TextBox 4"/>
          <p:cNvSpPr txBox="1"/>
          <p:nvPr/>
        </p:nvSpPr>
        <p:spPr>
          <a:xfrm>
            <a:off x="11228832" y="256032"/>
            <a:ext cx="384048" cy="182880"/>
          </a:xfrm>
          <a:prstGeom prst="rect">
            <a:avLst/>
          </a:prstGeom>
          <a:noFill/>
        </p:spPr>
        <p:txBody>
          <a:bodyPr wrap="none" lIns="36576" rIns="36576" tIns="36576" bIns="36576" anchor="t">
            <a:spAutoFit/>
          </a:bodyPr>
          <a:lstStyle/>
          <a:p>
            <a:pPr algn="r"/>
            <a:r>
              <a:rPr sz="900" b="1">
                <a:solidFill>
                  <a:srgbClr val="1976D2"/>
                </a:solidFill>
                <a:latin typeface="Arial"/>
              </a:rPr>
              <a:t>29</a:t>
            </a:r>
          </a:p>
        </p:txBody>
      </p:sp>
      <p:sp>
        <p:nvSpPr>
          <p:cNvPr id="6" name="TextBox 5"/>
          <p:cNvSpPr txBox="1"/>
          <p:nvPr/>
        </p:nvSpPr>
        <p:spPr>
          <a:xfrm>
            <a:off x="365760" y="6583680"/>
            <a:ext cx="4754880" cy="146304"/>
          </a:xfrm>
          <a:prstGeom prst="rect">
            <a:avLst/>
          </a:prstGeom>
          <a:noFill/>
        </p:spPr>
        <p:txBody>
          <a:bodyPr wrap="none" lIns="36576" rIns="36576" tIns="36576" bIns="36576" anchor="t">
            <a:spAutoFit/>
          </a:bodyPr>
          <a:lstStyle/>
          <a:p>
            <a:pPr algn="l"/>
            <a:r>
              <a:rPr sz="620" b="0">
                <a:solidFill>
                  <a:srgbClr val="8794A1"/>
                </a:solidFill>
                <a:latin typeface="Arial"/>
              </a:rPr>
              <a:t>Lương Nguyễn Thành Hưng · NeuralAtmosphereOperator</a:t>
            </a:r>
          </a:p>
        </p:txBody>
      </p:sp>
      <p:sp>
        <p:nvSpPr>
          <p:cNvPr id="7" name="TextBox 6"/>
          <p:cNvSpPr txBox="1"/>
          <p:nvPr/>
        </p:nvSpPr>
        <p:spPr>
          <a:xfrm>
            <a:off x="10332720" y="6583680"/>
            <a:ext cx="1325880" cy="146304"/>
          </a:xfrm>
          <a:prstGeom prst="rect">
            <a:avLst/>
          </a:prstGeom>
          <a:noFill/>
        </p:spPr>
        <p:txBody>
          <a:bodyPr wrap="none" lIns="36576" rIns="36576" tIns="36576" bIns="36576" anchor="t">
            <a:spAutoFit/>
          </a:bodyPr>
          <a:lstStyle/>
          <a:p>
            <a:pPr algn="r"/>
            <a:r>
              <a:rPr sz="620" b="0">
                <a:solidFill>
                  <a:srgbClr val="8794A1"/>
                </a:solidFill>
                <a:latin typeface="Arial"/>
              </a:rPr>
              <a:t>Stage 1 → Stage 2</a:t>
            </a:r>
          </a:p>
        </p:txBody>
      </p:sp>
      <p:sp>
        <p:nvSpPr>
          <p:cNvPr id="8" name="Rounded Rectangle 7"/>
          <p:cNvSpPr/>
          <p:nvPr/>
        </p:nvSpPr>
        <p:spPr>
          <a:xfrm>
            <a:off x="594360" y="1463040"/>
            <a:ext cx="3291840" cy="2240280"/>
          </a:xfrm>
          <a:prstGeom prst="roundRect">
            <a:avLst>
              <a:gd name="adj" fmla="val 12000"/>
            </a:avLst>
          </a:prstGeom>
          <a:solidFill>
            <a:srgbClr val="EEF5FB"/>
          </a:solidFill>
          <a:ln w="12700">
            <a:solidFill>
              <a:srgbClr val="1976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58952" y="1728216"/>
            <a:ext cx="2926080" cy="594360"/>
          </a:xfrm>
          <a:prstGeom prst="rect">
            <a:avLst/>
          </a:prstGeom>
          <a:noFill/>
        </p:spPr>
        <p:txBody>
          <a:bodyPr wrap="none" lIns="36576" rIns="36576" tIns="36576" bIns="36576" anchor="t">
            <a:spAutoFit/>
          </a:bodyPr>
          <a:lstStyle/>
          <a:p>
            <a:pPr algn="l"/>
            <a:r>
              <a:rPr sz="1700" b="1">
                <a:solidFill>
                  <a:srgbClr val="1976D2"/>
                </a:solidFill>
                <a:latin typeface="Arial"/>
              </a:rPr>
              <a:t>Validation loss</a:t>
            </a:r>
          </a:p>
        </p:txBody>
      </p:sp>
      <p:sp>
        <p:nvSpPr>
          <p:cNvPr id="10" name="TextBox 9"/>
          <p:cNvSpPr txBox="1"/>
          <p:nvPr/>
        </p:nvSpPr>
        <p:spPr>
          <a:xfrm>
            <a:off x="758952" y="2377440"/>
            <a:ext cx="2926080" cy="548640"/>
          </a:xfrm>
          <a:prstGeom prst="rect">
            <a:avLst/>
          </a:prstGeom>
          <a:noFill/>
        </p:spPr>
        <p:txBody>
          <a:bodyPr wrap="none" lIns="36576" rIns="36576" tIns="36576" bIns="36576" anchor="t">
            <a:spAutoFit/>
          </a:bodyPr>
          <a:lstStyle/>
          <a:p>
            <a:pPr algn="l"/>
            <a:r>
              <a:rPr sz="3200" b="1">
                <a:solidFill>
                  <a:srgbClr val="2E8B57"/>
                </a:solidFill>
                <a:latin typeface="Arial"/>
              </a:rPr>
              <a:t>−6,74%</a:t>
            </a:r>
          </a:p>
        </p:txBody>
      </p:sp>
      <p:sp>
        <p:nvSpPr>
          <p:cNvPr id="11" name="TextBox 10"/>
          <p:cNvSpPr txBox="1"/>
          <p:nvPr/>
        </p:nvSpPr>
        <p:spPr>
          <a:xfrm>
            <a:off x="758952" y="3108960"/>
            <a:ext cx="2926080" cy="384048"/>
          </a:xfrm>
          <a:prstGeom prst="rect">
            <a:avLst/>
          </a:prstGeom>
          <a:noFill/>
        </p:spPr>
        <p:txBody>
          <a:bodyPr wrap="none" lIns="36576" rIns="36576" tIns="36576" bIns="36576" anchor="t">
            <a:spAutoFit/>
          </a:bodyPr>
          <a:lstStyle/>
          <a:p>
            <a:pPr algn="l"/>
            <a:r>
              <a:rPr sz="1250" b="0">
                <a:solidFill>
                  <a:srgbClr val="5B6773"/>
                </a:solidFill>
                <a:latin typeface="Arial"/>
              </a:rPr>
              <a:t>Checkpoint Stage 2 so với Stage 1</a:t>
            </a:r>
          </a:p>
        </p:txBody>
      </p:sp>
      <p:sp>
        <p:nvSpPr>
          <p:cNvPr id="12" name="Rounded Rectangle 11"/>
          <p:cNvSpPr/>
          <p:nvPr/>
        </p:nvSpPr>
        <p:spPr>
          <a:xfrm>
            <a:off x="4434840" y="1463040"/>
            <a:ext cx="3291840" cy="2240280"/>
          </a:xfrm>
          <a:prstGeom prst="roundRect">
            <a:avLst>
              <a:gd name="adj" fmla="val 12000"/>
            </a:avLst>
          </a:prstGeom>
          <a:solidFill>
            <a:srgbClr val="EEF5FB"/>
          </a:solidFill>
          <a:ln w="12700">
            <a:solidFill>
              <a:srgbClr val="1976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9432" y="1728216"/>
            <a:ext cx="2926080" cy="594360"/>
          </a:xfrm>
          <a:prstGeom prst="rect">
            <a:avLst/>
          </a:prstGeom>
          <a:noFill/>
        </p:spPr>
        <p:txBody>
          <a:bodyPr wrap="none" lIns="36576" rIns="36576" tIns="36576" bIns="36576" anchor="t">
            <a:spAutoFit/>
          </a:bodyPr>
          <a:lstStyle/>
          <a:p>
            <a:pPr algn="l"/>
            <a:r>
              <a:rPr sz="1700" b="1">
                <a:solidFill>
                  <a:srgbClr val="1976D2"/>
                </a:solidFill>
                <a:latin typeface="Arial"/>
              </a:rPr>
              <a:t>Z500 RMSE · 7 ngày</a:t>
            </a:r>
          </a:p>
        </p:txBody>
      </p:sp>
      <p:sp>
        <p:nvSpPr>
          <p:cNvPr id="14" name="TextBox 13"/>
          <p:cNvSpPr txBox="1"/>
          <p:nvPr/>
        </p:nvSpPr>
        <p:spPr>
          <a:xfrm>
            <a:off x="4599432" y="2377440"/>
            <a:ext cx="2926080" cy="548640"/>
          </a:xfrm>
          <a:prstGeom prst="rect">
            <a:avLst/>
          </a:prstGeom>
          <a:noFill/>
        </p:spPr>
        <p:txBody>
          <a:bodyPr wrap="none" lIns="36576" rIns="36576" tIns="36576" bIns="36576" anchor="t">
            <a:spAutoFit/>
          </a:bodyPr>
          <a:lstStyle/>
          <a:p>
            <a:pPr algn="l"/>
            <a:r>
              <a:rPr sz="3200" b="1">
                <a:solidFill>
                  <a:srgbClr val="2E8B57"/>
                </a:solidFill>
                <a:latin typeface="Arial"/>
              </a:rPr>
              <a:t>−3,12%</a:t>
            </a:r>
          </a:p>
        </p:txBody>
      </p:sp>
      <p:sp>
        <p:nvSpPr>
          <p:cNvPr id="15" name="TextBox 14"/>
          <p:cNvSpPr txBox="1"/>
          <p:nvPr/>
        </p:nvSpPr>
        <p:spPr>
          <a:xfrm>
            <a:off x="4599432" y="3108960"/>
            <a:ext cx="2926080" cy="384048"/>
          </a:xfrm>
          <a:prstGeom prst="rect">
            <a:avLst/>
          </a:prstGeom>
          <a:noFill/>
        </p:spPr>
        <p:txBody>
          <a:bodyPr wrap="none" lIns="36576" rIns="36576" tIns="36576" bIns="36576" anchor="t">
            <a:spAutoFit/>
          </a:bodyPr>
          <a:lstStyle/>
          <a:p>
            <a:pPr algn="l"/>
            <a:r>
              <a:rPr sz="1250" b="0">
                <a:solidFill>
                  <a:srgbClr val="5B6773"/>
                </a:solidFill>
                <a:latin typeface="Arial"/>
              </a:rPr>
              <a:t>75,012 → 72,674 gpm</a:t>
            </a:r>
          </a:p>
        </p:txBody>
      </p:sp>
      <p:sp>
        <p:nvSpPr>
          <p:cNvPr id="16" name="Rounded Rectangle 15"/>
          <p:cNvSpPr/>
          <p:nvPr/>
        </p:nvSpPr>
        <p:spPr>
          <a:xfrm>
            <a:off x="8275320" y="1463040"/>
            <a:ext cx="3291840" cy="2240280"/>
          </a:xfrm>
          <a:prstGeom prst="roundRect">
            <a:avLst>
              <a:gd name="adj" fmla="val 12000"/>
            </a:avLst>
          </a:prstGeom>
          <a:solidFill>
            <a:srgbClr val="EEF5FB"/>
          </a:solidFill>
          <a:ln w="12700">
            <a:solidFill>
              <a:srgbClr val="1976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439912" y="1728216"/>
            <a:ext cx="2926080" cy="594360"/>
          </a:xfrm>
          <a:prstGeom prst="rect">
            <a:avLst/>
          </a:prstGeom>
          <a:noFill/>
        </p:spPr>
        <p:txBody>
          <a:bodyPr wrap="none" lIns="36576" rIns="36576" tIns="36576" bIns="36576" anchor="t">
            <a:spAutoFit/>
          </a:bodyPr>
          <a:lstStyle/>
          <a:p>
            <a:pPr algn="l"/>
            <a:r>
              <a:rPr sz="1700" b="1">
                <a:solidFill>
                  <a:srgbClr val="1976D2"/>
                </a:solidFill>
                <a:latin typeface="Arial"/>
              </a:rPr>
              <a:t>Kênh RMSE giảm · 7 ngày</a:t>
            </a:r>
          </a:p>
        </p:txBody>
      </p:sp>
      <p:sp>
        <p:nvSpPr>
          <p:cNvPr id="18" name="TextBox 17"/>
          <p:cNvSpPr txBox="1"/>
          <p:nvPr/>
        </p:nvSpPr>
        <p:spPr>
          <a:xfrm>
            <a:off x="8439912" y="2377440"/>
            <a:ext cx="2926080" cy="548640"/>
          </a:xfrm>
          <a:prstGeom prst="rect">
            <a:avLst/>
          </a:prstGeom>
          <a:noFill/>
        </p:spPr>
        <p:txBody>
          <a:bodyPr wrap="none" lIns="36576" rIns="36576" tIns="36576" bIns="36576" anchor="t">
            <a:spAutoFit/>
          </a:bodyPr>
          <a:lstStyle/>
          <a:p>
            <a:pPr algn="l"/>
            <a:r>
              <a:rPr sz="3200" b="1">
                <a:solidFill>
                  <a:srgbClr val="2E8B57"/>
                </a:solidFill>
                <a:latin typeface="Arial"/>
              </a:rPr>
              <a:t>65 / 71</a:t>
            </a:r>
          </a:p>
        </p:txBody>
      </p:sp>
      <p:sp>
        <p:nvSpPr>
          <p:cNvPr id="19" name="TextBox 18"/>
          <p:cNvSpPr txBox="1"/>
          <p:nvPr/>
        </p:nvSpPr>
        <p:spPr>
          <a:xfrm>
            <a:off x="8439912" y="3108960"/>
            <a:ext cx="2926080" cy="384048"/>
          </a:xfrm>
          <a:prstGeom prst="rect">
            <a:avLst/>
          </a:prstGeom>
          <a:noFill/>
        </p:spPr>
        <p:txBody>
          <a:bodyPr wrap="none" lIns="36576" rIns="36576" tIns="36576" bIns="36576" anchor="t">
            <a:spAutoFit/>
          </a:bodyPr>
          <a:lstStyle/>
          <a:p>
            <a:pPr algn="l"/>
            <a:r>
              <a:rPr sz="1250" b="0">
                <a:solidFill>
                  <a:srgbClr val="5B6773"/>
                </a:solidFill>
                <a:latin typeface="Arial"/>
              </a:rPr>
              <a:t>Benchmark gốc · 60 khởi tạo</a:t>
            </a:r>
          </a:p>
        </p:txBody>
      </p:sp>
      <p:sp>
        <p:nvSpPr>
          <p:cNvPr id="20" name="TextBox 19"/>
          <p:cNvSpPr txBox="1"/>
          <p:nvPr/>
        </p:nvSpPr>
        <p:spPr>
          <a:xfrm>
            <a:off x="868680" y="4297680"/>
            <a:ext cx="10515600" cy="1554480"/>
          </a:xfrm>
          <a:prstGeom prst="rect">
            <a:avLst/>
          </a:prstGeom>
          <a:noFill/>
        </p:spPr>
        <p:txBody>
          <a:bodyPr wrap="none" lIns="73152" rIns="36576" tIns="27432">
            <a:spAutoFit/>
          </a:bodyPr>
          <a:lstStyle/>
          <a:p>
            <a:pPr>
              <a:spcAft>
                <a:spcPts val="1400"/>
              </a:spcAft>
              <a:defRPr sz="1800">
                <a:solidFill>
                  <a:srgbClr val="20384F"/>
                </a:solidFill>
                <a:latin typeface="Arial"/>
              </a:defRPr>
            </a:pPr>
            <a:r>
              <a:t>•  Cải thiện không đồng đều; RMSE giảm không chứng minh phổ được phục hồi</a:t>
            </a:r>
          </a:p>
          <a:p>
            <a:pPr>
              <a:spcAft>
                <a:spcPts val="1400"/>
              </a:spcAft>
              <a:defRPr sz="1800">
                <a:solidFill>
                  <a:srgbClr val="20384F"/>
                </a:solidFill>
                <a:latin typeface="Arial"/>
              </a:defRPr>
            </a:pPr>
            <a:r>
              <a:t>•  Đã test đến 7 ngày, nhưng chưa đánh giá riêng các sự kiện cực đoan</a:t>
            </a:r>
          </a:p>
          <a:p>
            <a:pPr>
              <a:spcAft>
                <a:spcPts val="1400"/>
              </a:spcAft>
              <a:defRPr sz="1800">
                <a:solidFill>
                  <a:srgbClr val="20384F"/>
                </a:solidFill>
                <a:latin typeface="Arial"/>
              </a:defRPr>
            </a:pPr>
            <a:r>
              <a:t>•  Cần ablation study và provenance đầy đủ cho lượt đánh giá tiếp theo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Nhận dạng hoạt động thường nhật từ PPG và gia tốc kế cổ tay</dc:title>
  <dc:subject>Trí tuệ nhân tạo cho IoT</dc:subject>
  <dc:creator>Lương Nguyễn Thành Hưng</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